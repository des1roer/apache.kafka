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9"/>
  </p:notesMasterIdLst>
  <p:sldIdLst>
    <p:sldId id="582" r:id="rId2"/>
    <p:sldId id="483" r:id="rId3"/>
    <p:sldId id="541" r:id="rId4"/>
    <p:sldId id="495" r:id="rId5"/>
    <p:sldId id="498" r:id="rId6"/>
    <p:sldId id="497" r:id="rId7"/>
    <p:sldId id="496" r:id="rId8"/>
    <p:sldId id="569" r:id="rId9"/>
    <p:sldId id="499" r:id="rId10"/>
    <p:sldId id="500" r:id="rId11"/>
    <p:sldId id="501" r:id="rId12"/>
    <p:sldId id="502" r:id="rId13"/>
    <p:sldId id="503" r:id="rId14"/>
    <p:sldId id="504" r:id="rId15"/>
    <p:sldId id="505" r:id="rId16"/>
    <p:sldId id="506" r:id="rId17"/>
    <p:sldId id="515" r:id="rId18"/>
    <p:sldId id="508" r:id="rId19"/>
    <p:sldId id="507" r:id="rId20"/>
    <p:sldId id="512" r:id="rId21"/>
    <p:sldId id="509" r:id="rId22"/>
    <p:sldId id="511" r:id="rId23"/>
    <p:sldId id="510" r:id="rId24"/>
    <p:sldId id="513" r:id="rId25"/>
    <p:sldId id="514" r:id="rId26"/>
    <p:sldId id="516" r:id="rId27"/>
    <p:sldId id="517" r:id="rId28"/>
    <p:sldId id="518" r:id="rId29"/>
    <p:sldId id="519" r:id="rId30"/>
    <p:sldId id="520" r:id="rId31"/>
    <p:sldId id="521" r:id="rId32"/>
    <p:sldId id="522" r:id="rId33"/>
    <p:sldId id="523" r:id="rId34"/>
    <p:sldId id="524" r:id="rId35"/>
    <p:sldId id="487" r:id="rId36"/>
    <p:sldId id="492" r:id="rId37"/>
    <p:sldId id="491" r:id="rId38"/>
    <p:sldId id="493" r:id="rId39"/>
    <p:sldId id="525" r:id="rId40"/>
    <p:sldId id="488" r:id="rId41"/>
    <p:sldId id="494" r:id="rId42"/>
    <p:sldId id="526" r:id="rId43"/>
    <p:sldId id="527" r:id="rId44"/>
    <p:sldId id="528" r:id="rId45"/>
    <p:sldId id="529" r:id="rId46"/>
    <p:sldId id="489" r:id="rId47"/>
    <p:sldId id="490" r:id="rId48"/>
    <p:sldId id="530" r:id="rId49"/>
    <p:sldId id="531" r:id="rId50"/>
    <p:sldId id="570" r:id="rId51"/>
    <p:sldId id="571" r:id="rId52"/>
    <p:sldId id="572" r:id="rId53"/>
    <p:sldId id="573" r:id="rId54"/>
    <p:sldId id="532" r:id="rId55"/>
    <p:sldId id="533" r:id="rId56"/>
    <p:sldId id="534" r:id="rId57"/>
    <p:sldId id="535" r:id="rId58"/>
    <p:sldId id="536" r:id="rId59"/>
    <p:sldId id="537" r:id="rId60"/>
    <p:sldId id="538" r:id="rId61"/>
    <p:sldId id="539" r:id="rId62"/>
    <p:sldId id="540" r:id="rId63"/>
    <p:sldId id="574" r:id="rId64"/>
    <p:sldId id="576" r:id="rId65"/>
    <p:sldId id="575" r:id="rId66"/>
    <p:sldId id="568" r:id="rId67"/>
    <p:sldId id="542" r:id="rId68"/>
    <p:sldId id="543" r:id="rId69"/>
    <p:sldId id="544" r:id="rId70"/>
    <p:sldId id="545" r:id="rId71"/>
    <p:sldId id="546" r:id="rId72"/>
    <p:sldId id="547" r:id="rId73"/>
    <p:sldId id="548" r:id="rId74"/>
    <p:sldId id="549" r:id="rId75"/>
    <p:sldId id="550" r:id="rId76"/>
    <p:sldId id="551" r:id="rId77"/>
    <p:sldId id="552" r:id="rId78"/>
    <p:sldId id="553" r:id="rId79"/>
    <p:sldId id="554" r:id="rId80"/>
    <p:sldId id="555" r:id="rId81"/>
    <p:sldId id="556" r:id="rId82"/>
    <p:sldId id="557" r:id="rId83"/>
    <p:sldId id="577" r:id="rId84"/>
    <p:sldId id="578" r:id="rId85"/>
    <p:sldId id="558" r:id="rId86"/>
    <p:sldId id="560" r:id="rId87"/>
    <p:sldId id="559" r:id="rId88"/>
    <p:sldId id="561" r:id="rId89"/>
    <p:sldId id="562" r:id="rId90"/>
    <p:sldId id="563" r:id="rId91"/>
    <p:sldId id="564" r:id="rId92"/>
    <p:sldId id="565" r:id="rId93"/>
    <p:sldId id="566" r:id="rId94"/>
    <p:sldId id="567" r:id="rId95"/>
    <p:sldId id="580" r:id="rId96"/>
    <p:sldId id="581" r:id="rId97"/>
    <p:sldId id="579" r:id="rId98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90"/>
    <p:restoredTop sz="96189"/>
  </p:normalViewPr>
  <p:slideViewPr>
    <p:cSldViewPr snapToGrid="0">
      <p:cViewPr varScale="1">
        <p:scale>
          <a:sx n="126" d="100"/>
          <a:sy n="126" d="100"/>
        </p:scale>
        <p:origin x="23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45E35-86FA-064D-8EEE-2E631EDDA7AF}" type="datetimeFigureOut">
              <a:rPr lang="en-RU" smtClean="0"/>
              <a:t>11/18/25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25A73-5D88-3D4C-89F0-62E33B533BC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57690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6BE56-ADB8-C9C9-70E3-ACA149B13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D35DF-D5CF-41B4-5838-B8365BB86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265EAB-39D0-0BFB-4A2B-CEB7D0F73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C677F-12E4-55BE-1612-570A47CDC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51276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91A8D-6DAD-387A-E6E8-1BDDEFC18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625C0-4C9F-339B-09CE-28D81A8A1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CF022-E432-49CC-477C-1E043DC1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11/18/25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0E8A2-8A28-EB75-A42B-CA01B13E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158AF-E39C-B044-4348-0ED7400B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8993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8E9A-087B-311E-80E8-97E4ABA10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73376-5F0B-E3F7-7090-3610CF519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6C346-3888-DA43-52E0-0E7DDC127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11/18/25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9016B-E3A9-FD88-3F17-EBBCD3B7B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37128-28B1-B80C-FBEB-179FC037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5645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97EE-06BB-0B11-5B8A-D6AB85AFC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27FD9-7E2F-A1A1-9B34-108B01086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BF58A-9311-6663-B43F-5DE86692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11/18/25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D69C6-3CA9-E4C6-9293-BF8D070E4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B87E4-9242-0503-2FCD-162EA6F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2149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EFD8-1771-879F-A49B-DADDC5DA7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FB115-432F-961F-329E-EB82F10EF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8DF4F-B795-48BD-E798-C7405781F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5ADA-0810-6A41-8A99-71A47FB8F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11/18/25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A1227-A6EB-112D-089C-4982A4AD8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A4A92-D329-DD30-45D2-39C4D990A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9938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33D2-DBB5-8227-6DD8-2284705A9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FB92D-6FE4-399F-C0F4-F7C921A04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5F1A6-A7D4-29AE-948C-1A4A9D8C0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C67B6-C373-89A9-C875-762110872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DF5696-48F8-0F50-BEB7-867680143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3DC270-C59B-51F7-E94D-AB3E7E278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11/18/25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5343C-A508-1538-159F-82D8AFF89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B9904-C1CC-D3A5-85AA-BA4317400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93277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7335-1B19-E9B7-5496-8458B31D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3BA2E-23B1-CA0C-A073-D7D6C2044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11/18/25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8DDEC-B8F3-703C-157E-BC0BD084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136B6A-9353-1D5C-E84C-69A9BDE05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7149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041677-5CBA-11E4-D65D-0F1D722C5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11/18/25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2ED06-7036-E547-B92D-A13B8544C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92113-B086-B43C-1A39-2F993E34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043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C0E30-0569-4019-1488-F52F1AC12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38E7C-783D-0F15-528F-DB136067E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7C2AE-2CD0-75A4-62C7-3BEB470B6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A0B93-D43C-21B2-FFC2-B7E85D427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11/18/25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20B0A-79EC-B98F-320F-9BB9CC8FC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7218C-682D-DC1A-8F4A-B08A44FA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71402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3756A-BAB4-99BB-2A88-99733C76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08B7A5-729E-E9DC-1740-2963ABD2D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D5E14-8951-7271-CB20-2CFB4D5DC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D9A54-4DC4-08B0-7903-6DA90E74F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11/18/25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C7743-4C84-3D8A-F054-F25845540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77ACE-4D4E-4735-13BD-D9908C80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55005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74FCB-3855-E45A-4600-27A8B33EF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E6DCB-AB09-D879-DFCC-6437C21E3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CF157-A4E1-CCD6-F23F-4CC8806B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11/18/25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5F280-0B75-9C29-1D21-E4DFA67D3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6C54E-4685-78FC-112C-002D6D08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5466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3B30AF-76E1-DA3C-BA28-4D80FE86AA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44EB4-A296-3510-7022-CCCB6F3EB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ACCA9-4A52-7AA6-1BB4-A47183312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11/18/25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9FCF3-1928-BDAC-DB14-00AFD3C20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A7BD9-66C9-AB20-40D5-9EDE59402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80582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B0CE64-2860-89AA-B54B-4E159ECC2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3E02E-64EB-3911-6F83-82A5FB0E9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CF7C2-A80E-11C7-A7E3-022F610E88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361C5-4659-EA48-BFE1-D8CA88959CE5}" type="datetimeFigureOut">
              <a:rPr lang="en-RU" smtClean="0"/>
              <a:t>11/18/25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E3758-E7DC-5CE6-2AF9-70D5B82E6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CF840-BE64-D021-4B97-258CDD067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97965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710E-66B5-D045-AB89-1BE9AB2D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03C680-59B2-4960-AE5A-1900BA5ADE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4" b="694"/>
          <a:stretch/>
        </p:blipFill>
        <p:spPr>
          <a:xfrm>
            <a:off x="6979024" y="0"/>
            <a:ext cx="5212976" cy="68541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BE14054-DCC9-435E-8837-CB4131E05F1B}"/>
              </a:ext>
            </a:extLst>
          </p:cNvPr>
          <p:cNvSpPr txBox="1">
            <a:spLocks/>
          </p:cNvSpPr>
          <p:nvPr/>
        </p:nvSpPr>
        <p:spPr>
          <a:xfrm>
            <a:off x="640977" y="1861951"/>
            <a:ext cx="6338047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RU"/>
              <a:t>Queues Crash Course</a:t>
            </a:r>
            <a:endParaRPr lang="en-RU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6953C8D-FB77-61AF-0EF7-8A42B654AD78}"/>
              </a:ext>
            </a:extLst>
          </p:cNvPr>
          <p:cNvSpPr txBox="1">
            <a:spLocks/>
          </p:cNvSpPr>
          <p:nvPr/>
        </p:nvSpPr>
        <p:spPr>
          <a:xfrm>
            <a:off x="640977" y="4341626"/>
            <a:ext cx="6338047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Apache Kafka: Ecosystem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456726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346F-8DD9-67F9-AE71-EE5A426CD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In the Part II: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336D0-0FBE-F757-5502-540D73C0F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RU" dirty="0"/>
              <a:t>Stream processing and EventSourcing with Kafka Streams</a:t>
            </a:r>
          </a:p>
          <a:p>
            <a:r>
              <a:rPr lang="en-GB" dirty="0"/>
              <a:t>Kafka Connect</a:t>
            </a:r>
          </a:p>
          <a:p>
            <a:r>
              <a:rPr lang="en-GB" dirty="0"/>
              <a:t>Schema Registry</a:t>
            </a:r>
            <a:endParaRPr lang="en-RU" dirty="0"/>
          </a:p>
          <a:p>
            <a:r>
              <a:rPr lang="en-GB" dirty="0"/>
              <a:t>Cross-Cluster Data Replication with </a:t>
            </a:r>
            <a:r>
              <a:rPr lang="en-GB" dirty="0" err="1"/>
              <a:t>MirrorMaker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72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7339F-D6AC-E738-594C-365935FE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Kafka Streams and KSQL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C31C8-5BA8-FC27-4902-91706F872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RU" dirty="0"/>
              <a:t>Stream processing and EventSourcing</a:t>
            </a:r>
          </a:p>
        </p:txBody>
      </p:sp>
    </p:spTree>
    <p:extLst>
      <p:ext uri="{BB962C8B-B14F-4D97-AF65-F5344CB8AC3E}">
        <p14:creationId xmlns:p14="http://schemas.microsoft.com/office/powerpoint/2010/main" val="1730588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22E258-2B3F-D701-85B8-3F07E5ED8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Processor Topology Overview</a:t>
            </a:r>
            <a:endParaRPr lang="en-RU" dirty="0"/>
          </a:p>
        </p:txBody>
      </p:sp>
      <p:sp>
        <p:nvSpPr>
          <p:cNvPr id="55" name="Content Placeholder 54">
            <a:extLst>
              <a:ext uri="{FF2B5EF4-FFF2-40B4-BE49-F238E27FC236}">
                <a16:creationId xmlns:a16="http://schemas.microsoft.com/office/drawing/2014/main" id="{1B4DD0F5-FFC9-0E65-2FA6-F70434463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Directed Acyclic Graph</a:t>
            </a:r>
          </a:p>
          <a:p>
            <a:r>
              <a:rPr lang="en-GB" dirty="0"/>
              <a:t>Defines the flow of data through stream processing nodes.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896713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523574-6C5B-72E8-2DF5-E36519AD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Processor Topology Overview</a:t>
            </a:r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61658-7EE4-E91E-CCD2-082A72CD6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Components</a:t>
            </a:r>
          </a:p>
          <a:p>
            <a:pPr lvl="1"/>
            <a:r>
              <a:rPr lang="en-GB" sz="2800" b="1" dirty="0"/>
              <a:t>Sources:</a:t>
            </a:r>
            <a:r>
              <a:rPr lang="en-GB" sz="2800" dirty="0"/>
              <a:t> Nodes that read data from Kafka topics.</a:t>
            </a:r>
          </a:p>
          <a:p>
            <a:pPr lvl="1"/>
            <a:r>
              <a:rPr lang="en-GB" sz="2800" b="1" dirty="0"/>
              <a:t>Processors:</a:t>
            </a:r>
            <a:r>
              <a:rPr lang="en-GB" sz="2800" dirty="0"/>
              <a:t> Nodes that apply operations to transform the data.</a:t>
            </a:r>
          </a:p>
          <a:p>
            <a:pPr lvl="1"/>
            <a:r>
              <a:rPr lang="en-GB" sz="2800" b="1" dirty="0"/>
              <a:t>Sinks:</a:t>
            </a:r>
            <a:r>
              <a:rPr lang="en-GB" sz="2800" dirty="0"/>
              <a:t> Nodes that write the processed data back to Kafka topics.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Example</a:t>
            </a:r>
          </a:p>
          <a:p>
            <a:pPr lvl="1"/>
            <a:r>
              <a:rPr lang="en-GB" sz="2800" dirty="0"/>
              <a:t>A source reads data from the "input" topic.</a:t>
            </a:r>
          </a:p>
          <a:p>
            <a:pPr lvl="1"/>
            <a:r>
              <a:rPr lang="en-GB" sz="2800" dirty="0"/>
              <a:t>A processor filters and transforms the data.</a:t>
            </a:r>
          </a:p>
          <a:p>
            <a:pPr lvl="1"/>
            <a:r>
              <a:rPr lang="en-GB" sz="2800" dirty="0"/>
              <a:t>A sink writes the transformed data to the "output" topic.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283099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22E258-2B3F-D701-85B8-3F07E5ED8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Processor Topology</a:t>
            </a:r>
            <a:endParaRPr lang="en-R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77536C8-B892-6012-FE07-FD93419C2674}"/>
              </a:ext>
            </a:extLst>
          </p:cNvPr>
          <p:cNvSpPr/>
          <p:nvPr/>
        </p:nvSpPr>
        <p:spPr>
          <a:xfrm>
            <a:off x="1181748" y="1974960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Source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9F8563-2E87-76B0-6E63-509DEA881BAB}"/>
              </a:ext>
            </a:extLst>
          </p:cNvPr>
          <p:cNvSpPr/>
          <p:nvPr/>
        </p:nvSpPr>
        <p:spPr>
          <a:xfrm>
            <a:off x="1181748" y="4041885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Source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FB93A62-DDCF-2BAF-A5A0-5E982FC40739}"/>
              </a:ext>
            </a:extLst>
          </p:cNvPr>
          <p:cNvSpPr/>
          <p:nvPr/>
        </p:nvSpPr>
        <p:spPr>
          <a:xfrm>
            <a:off x="9535052" y="1357377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Sink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113F80-E948-ED9A-18D1-99228CE52238}"/>
              </a:ext>
            </a:extLst>
          </p:cNvPr>
          <p:cNvSpPr/>
          <p:nvPr/>
        </p:nvSpPr>
        <p:spPr>
          <a:xfrm>
            <a:off x="9535052" y="3270190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Sink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5BDF7D7-F34B-11A1-2682-55A06B6955CF}"/>
              </a:ext>
            </a:extLst>
          </p:cNvPr>
          <p:cNvSpPr/>
          <p:nvPr/>
        </p:nvSpPr>
        <p:spPr>
          <a:xfrm>
            <a:off x="3486150" y="1974960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Processor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A2AF718-E4C2-0422-3B38-96EBBCFD2822}"/>
              </a:ext>
            </a:extLst>
          </p:cNvPr>
          <p:cNvSpPr/>
          <p:nvPr/>
        </p:nvSpPr>
        <p:spPr>
          <a:xfrm>
            <a:off x="7035247" y="3270190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Processor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2D15E1D-39FD-7DF1-73C3-093227D1F5B3}"/>
              </a:ext>
            </a:extLst>
          </p:cNvPr>
          <p:cNvSpPr/>
          <p:nvPr/>
        </p:nvSpPr>
        <p:spPr>
          <a:xfrm>
            <a:off x="4315353" y="3691473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Processor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3A73B9-F4E3-1695-2056-BBA2AE99B7DE}"/>
              </a:ext>
            </a:extLst>
          </p:cNvPr>
          <p:cNvSpPr/>
          <p:nvPr/>
        </p:nvSpPr>
        <p:spPr>
          <a:xfrm>
            <a:off x="6401448" y="4883041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Processor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196A036-AD8D-8529-7B4B-A58F900B80AC}"/>
              </a:ext>
            </a:extLst>
          </p:cNvPr>
          <p:cNvSpPr/>
          <p:nvPr/>
        </p:nvSpPr>
        <p:spPr>
          <a:xfrm>
            <a:off x="6660325" y="1390060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Processor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A04436-5E23-1F3C-6964-5716C33BAB2E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656948" y="2570744"/>
            <a:ext cx="82920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6DC955A-5A1B-11F2-9885-CB85B7DB4521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 flipV="1">
            <a:off x="2656948" y="4287257"/>
            <a:ext cx="1658405" cy="35041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B822CD-4D33-4576-C560-4E5D9563AC9E}"/>
              </a:ext>
            </a:extLst>
          </p:cNvPr>
          <p:cNvCxnSpPr>
            <a:cxnSpLocks/>
            <a:stCxn id="11" idx="5"/>
            <a:endCxn id="12" idx="2"/>
          </p:cNvCxnSpPr>
          <p:nvPr/>
        </p:nvCxnSpPr>
        <p:spPr>
          <a:xfrm>
            <a:off x="5574515" y="4708540"/>
            <a:ext cx="826933" cy="77028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F408E43-1840-1054-66CC-9D56D1B90D36}"/>
              </a:ext>
            </a:extLst>
          </p:cNvPr>
          <p:cNvCxnSpPr>
            <a:cxnSpLocks/>
            <a:stCxn id="9" idx="5"/>
            <a:endCxn id="11" idx="0"/>
          </p:cNvCxnSpPr>
          <p:nvPr/>
        </p:nvCxnSpPr>
        <p:spPr>
          <a:xfrm>
            <a:off x="4745312" y="2992027"/>
            <a:ext cx="307641" cy="69944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E9F686B-98EF-4DA8-5EE3-B1ACA85B433F}"/>
              </a:ext>
            </a:extLst>
          </p:cNvPr>
          <p:cNvCxnSpPr>
            <a:cxnSpLocks/>
            <a:stCxn id="11" idx="7"/>
            <a:endCxn id="13" idx="3"/>
          </p:cNvCxnSpPr>
          <p:nvPr/>
        </p:nvCxnSpPr>
        <p:spPr>
          <a:xfrm flipV="1">
            <a:off x="5574515" y="2407127"/>
            <a:ext cx="1301848" cy="145884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9DD4F83-E94B-6143-2617-E41FE1162F79}"/>
              </a:ext>
            </a:extLst>
          </p:cNvPr>
          <p:cNvCxnSpPr>
            <a:cxnSpLocks/>
            <a:stCxn id="13" idx="6"/>
            <a:endCxn id="7" idx="2"/>
          </p:cNvCxnSpPr>
          <p:nvPr/>
        </p:nvCxnSpPr>
        <p:spPr>
          <a:xfrm flipV="1">
            <a:off x="8135525" y="1953161"/>
            <a:ext cx="1399527" cy="3268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34C6C5D-A0D9-867A-C3AF-6D4B49144FD8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 flipV="1">
            <a:off x="5790553" y="3865974"/>
            <a:ext cx="1244694" cy="42128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B40F9E7-C29B-11D6-8F35-0CEE68530A31}"/>
              </a:ext>
            </a:extLst>
          </p:cNvPr>
          <p:cNvCxnSpPr>
            <a:cxnSpLocks/>
            <a:stCxn id="10" idx="6"/>
            <a:endCxn id="8" idx="2"/>
          </p:cNvCxnSpPr>
          <p:nvPr/>
        </p:nvCxnSpPr>
        <p:spPr>
          <a:xfrm>
            <a:off x="8510447" y="3865974"/>
            <a:ext cx="102460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D05694D-1BAD-95E5-BAE1-9A2B9CF903E8}"/>
              </a:ext>
            </a:extLst>
          </p:cNvPr>
          <p:cNvSpPr/>
          <p:nvPr/>
        </p:nvSpPr>
        <p:spPr>
          <a:xfrm>
            <a:off x="9535053" y="4885464"/>
            <a:ext cx="1475199" cy="11915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Table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C956914-9B8C-BE89-580B-FCFF3AD64181}"/>
              </a:ext>
            </a:extLst>
          </p:cNvPr>
          <p:cNvCxnSpPr>
            <a:cxnSpLocks/>
            <a:stCxn id="12" idx="6"/>
            <a:endCxn id="50" idx="1"/>
          </p:cNvCxnSpPr>
          <p:nvPr/>
        </p:nvCxnSpPr>
        <p:spPr>
          <a:xfrm>
            <a:off x="7876648" y="5478825"/>
            <a:ext cx="1658405" cy="242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399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22E258-2B3F-D701-85B8-3F07E5ED8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Processor Topology</a:t>
            </a:r>
            <a:endParaRPr lang="en-R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77536C8-B892-6012-FE07-FD93419C2674}"/>
              </a:ext>
            </a:extLst>
          </p:cNvPr>
          <p:cNvSpPr/>
          <p:nvPr/>
        </p:nvSpPr>
        <p:spPr>
          <a:xfrm>
            <a:off x="1181748" y="1974960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9F8563-2E87-76B0-6E63-509DEA881BAB}"/>
              </a:ext>
            </a:extLst>
          </p:cNvPr>
          <p:cNvSpPr/>
          <p:nvPr/>
        </p:nvSpPr>
        <p:spPr>
          <a:xfrm>
            <a:off x="1181748" y="4041885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FB93A62-DDCF-2BAF-A5A0-5E982FC40739}"/>
              </a:ext>
            </a:extLst>
          </p:cNvPr>
          <p:cNvSpPr/>
          <p:nvPr/>
        </p:nvSpPr>
        <p:spPr>
          <a:xfrm>
            <a:off x="9535052" y="1357377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Producer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113F80-E948-ED9A-18D1-99228CE52238}"/>
              </a:ext>
            </a:extLst>
          </p:cNvPr>
          <p:cNvSpPr/>
          <p:nvPr/>
        </p:nvSpPr>
        <p:spPr>
          <a:xfrm>
            <a:off x="9535052" y="3270190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Producer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5BDF7D7-F34B-11A1-2682-55A06B6955CF}"/>
              </a:ext>
            </a:extLst>
          </p:cNvPr>
          <p:cNvSpPr/>
          <p:nvPr/>
        </p:nvSpPr>
        <p:spPr>
          <a:xfrm>
            <a:off x="3486150" y="1974960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Processor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A2AF718-E4C2-0422-3B38-96EBBCFD2822}"/>
              </a:ext>
            </a:extLst>
          </p:cNvPr>
          <p:cNvSpPr/>
          <p:nvPr/>
        </p:nvSpPr>
        <p:spPr>
          <a:xfrm>
            <a:off x="7035247" y="3270190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Processor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2D15E1D-39FD-7DF1-73C3-093227D1F5B3}"/>
              </a:ext>
            </a:extLst>
          </p:cNvPr>
          <p:cNvSpPr/>
          <p:nvPr/>
        </p:nvSpPr>
        <p:spPr>
          <a:xfrm>
            <a:off x="4315353" y="3691473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Processor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3A73B9-F4E3-1695-2056-BBA2AE99B7DE}"/>
              </a:ext>
            </a:extLst>
          </p:cNvPr>
          <p:cNvSpPr/>
          <p:nvPr/>
        </p:nvSpPr>
        <p:spPr>
          <a:xfrm>
            <a:off x="6401448" y="4883041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Processor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196A036-AD8D-8529-7B4B-A58F900B80AC}"/>
              </a:ext>
            </a:extLst>
          </p:cNvPr>
          <p:cNvSpPr/>
          <p:nvPr/>
        </p:nvSpPr>
        <p:spPr>
          <a:xfrm>
            <a:off x="6660325" y="1390060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Processor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A04436-5E23-1F3C-6964-5716C33BAB2E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656948" y="2570744"/>
            <a:ext cx="82920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6DC955A-5A1B-11F2-9885-CB85B7DB4521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 flipV="1">
            <a:off x="2656948" y="4287257"/>
            <a:ext cx="1658405" cy="35041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B822CD-4D33-4576-C560-4E5D9563AC9E}"/>
              </a:ext>
            </a:extLst>
          </p:cNvPr>
          <p:cNvCxnSpPr>
            <a:cxnSpLocks/>
            <a:stCxn id="11" idx="5"/>
            <a:endCxn id="12" idx="2"/>
          </p:cNvCxnSpPr>
          <p:nvPr/>
        </p:nvCxnSpPr>
        <p:spPr>
          <a:xfrm>
            <a:off x="5574515" y="4708540"/>
            <a:ext cx="826933" cy="77028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F408E43-1840-1054-66CC-9D56D1B90D36}"/>
              </a:ext>
            </a:extLst>
          </p:cNvPr>
          <p:cNvCxnSpPr>
            <a:cxnSpLocks/>
            <a:stCxn id="9" idx="5"/>
            <a:endCxn id="11" idx="0"/>
          </p:cNvCxnSpPr>
          <p:nvPr/>
        </p:nvCxnSpPr>
        <p:spPr>
          <a:xfrm>
            <a:off x="4745312" y="2992027"/>
            <a:ext cx="307641" cy="69944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E9F686B-98EF-4DA8-5EE3-B1ACA85B433F}"/>
              </a:ext>
            </a:extLst>
          </p:cNvPr>
          <p:cNvCxnSpPr>
            <a:cxnSpLocks/>
            <a:stCxn id="11" idx="7"/>
            <a:endCxn id="13" idx="3"/>
          </p:cNvCxnSpPr>
          <p:nvPr/>
        </p:nvCxnSpPr>
        <p:spPr>
          <a:xfrm flipV="1">
            <a:off x="5574515" y="2407127"/>
            <a:ext cx="1301848" cy="145884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9DD4F83-E94B-6143-2617-E41FE1162F79}"/>
              </a:ext>
            </a:extLst>
          </p:cNvPr>
          <p:cNvCxnSpPr>
            <a:cxnSpLocks/>
            <a:stCxn id="13" idx="6"/>
            <a:endCxn id="7" idx="2"/>
          </p:cNvCxnSpPr>
          <p:nvPr/>
        </p:nvCxnSpPr>
        <p:spPr>
          <a:xfrm flipV="1">
            <a:off x="8135525" y="1953161"/>
            <a:ext cx="1399527" cy="3268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34C6C5D-A0D9-867A-C3AF-6D4B49144FD8}"/>
              </a:ext>
            </a:extLst>
          </p:cNvPr>
          <p:cNvCxnSpPr>
            <a:cxnSpLocks/>
            <a:stCxn id="11" idx="6"/>
            <a:endCxn id="10" idx="2"/>
          </p:cNvCxnSpPr>
          <p:nvPr/>
        </p:nvCxnSpPr>
        <p:spPr>
          <a:xfrm flipV="1">
            <a:off x="5790553" y="3865974"/>
            <a:ext cx="1244694" cy="42128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B40F9E7-C29B-11D6-8F35-0CEE68530A31}"/>
              </a:ext>
            </a:extLst>
          </p:cNvPr>
          <p:cNvCxnSpPr>
            <a:cxnSpLocks/>
            <a:stCxn id="10" idx="6"/>
            <a:endCxn id="8" idx="2"/>
          </p:cNvCxnSpPr>
          <p:nvPr/>
        </p:nvCxnSpPr>
        <p:spPr>
          <a:xfrm>
            <a:off x="8510447" y="3865974"/>
            <a:ext cx="102460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D05694D-1BAD-95E5-BAE1-9A2B9CF903E8}"/>
              </a:ext>
            </a:extLst>
          </p:cNvPr>
          <p:cNvSpPr/>
          <p:nvPr/>
        </p:nvSpPr>
        <p:spPr>
          <a:xfrm>
            <a:off x="9535053" y="4885464"/>
            <a:ext cx="1475199" cy="11915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Table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C956914-9B8C-BE89-580B-FCFF3AD64181}"/>
              </a:ext>
            </a:extLst>
          </p:cNvPr>
          <p:cNvCxnSpPr>
            <a:cxnSpLocks/>
            <a:stCxn id="12" idx="6"/>
            <a:endCxn id="50" idx="1"/>
          </p:cNvCxnSpPr>
          <p:nvPr/>
        </p:nvCxnSpPr>
        <p:spPr>
          <a:xfrm>
            <a:off x="7876648" y="5478825"/>
            <a:ext cx="1658405" cy="242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106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AE01B8-1021-18A8-6A4F-7FADF50C2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Streams is Java App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60F22B-9535-9266-602B-905ADF32E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Implementing source + processor + sink</a:t>
            </a:r>
          </a:p>
        </p:txBody>
      </p:sp>
    </p:spTree>
    <p:extLst>
      <p:ext uri="{BB962C8B-B14F-4D97-AF65-F5344CB8AC3E}">
        <p14:creationId xmlns:p14="http://schemas.microsoft.com/office/powerpoint/2010/main" val="2704475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F596-F4B4-BFB5-1375-43B60C183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Topology Code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E211A-3780-FDCF-5CCF-614315E59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builder = new </a:t>
            </a:r>
            <a:r>
              <a:rPr lang="en-GB" dirty="0" err="1"/>
              <a:t>StreamsBuilder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 err="1"/>
              <a:t>sourceStream</a:t>
            </a:r>
            <a:r>
              <a:rPr lang="en-GB" dirty="0"/>
              <a:t> = </a:t>
            </a:r>
            <a:r>
              <a:rPr lang="en-GB" dirty="0" err="1"/>
              <a:t>builder.stream</a:t>
            </a:r>
            <a:r>
              <a:rPr lang="en-GB" dirty="0"/>
              <a:t>(</a:t>
            </a:r>
            <a:r>
              <a:rPr lang="en-GB" dirty="0">
                <a:solidFill>
                  <a:schemeClr val="accent3"/>
                </a:solidFill>
              </a:rPr>
              <a:t>"input-topic"</a:t>
            </a:r>
            <a:r>
              <a:rPr lang="en-GB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82276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F596-F4B4-BFB5-1375-43B60C183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Topology Code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E211A-3780-FDCF-5CCF-614315E59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builder = new </a:t>
            </a:r>
            <a:r>
              <a:rPr lang="en-GB" dirty="0" err="1"/>
              <a:t>StreamsBuilder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 err="1"/>
              <a:t>sourceStream</a:t>
            </a:r>
            <a:r>
              <a:rPr lang="en-GB" dirty="0"/>
              <a:t> = </a:t>
            </a:r>
            <a:r>
              <a:rPr lang="en-GB" dirty="0" err="1"/>
              <a:t>builder.stream</a:t>
            </a:r>
            <a:r>
              <a:rPr lang="en-GB" dirty="0"/>
              <a:t>("input-topic");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/>
              <a:t>sourceStream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>
                <a:solidFill>
                  <a:schemeClr val="accent3"/>
                </a:solidFill>
              </a:rPr>
              <a:t>.filter</a:t>
            </a:r>
            <a:r>
              <a:rPr lang="en-GB" dirty="0"/>
              <a:t>((key, value) -&gt; </a:t>
            </a:r>
            <a:r>
              <a:rPr lang="en-GB" dirty="0" err="1"/>
              <a:t>value.contains</a:t>
            </a:r>
            <a:r>
              <a:rPr lang="en-GB" dirty="0"/>
              <a:t>("filter"))</a:t>
            </a:r>
          </a:p>
        </p:txBody>
      </p:sp>
    </p:spTree>
    <p:extLst>
      <p:ext uri="{BB962C8B-B14F-4D97-AF65-F5344CB8AC3E}">
        <p14:creationId xmlns:p14="http://schemas.microsoft.com/office/powerpoint/2010/main" val="3026287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F596-F4B4-BFB5-1375-43B60C183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Topology Code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E211A-3780-FDCF-5CCF-614315E59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builder = new </a:t>
            </a:r>
            <a:r>
              <a:rPr lang="en-GB" dirty="0" err="1"/>
              <a:t>StreamsBuilder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 err="1"/>
              <a:t>sourceStream</a:t>
            </a:r>
            <a:r>
              <a:rPr lang="en-GB" dirty="0"/>
              <a:t> = </a:t>
            </a:r>
            <a:r>
              <a:rPr lang="en-GB" dirty="0" err="1"/>
              <a:t>builder.stream</a:t>
            </a:r>
            <a:r>
              <a:rPr lang="en-GB" dirty="0"/>
              <a:t>("input-topic");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/>
              <a:t>sourceStream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.filter((key, value) -&gt; </a:t>
            </a:r>
            <a:r>
              <a:rPr lang="en-GB" dirty="0" err="1"/>
              <a:t>value.contains</a:t>
            </a:r>
            <a:r>
              <a:rPr lang="en-GB" dirty="0"/>
              <a:t>("filter"))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>
                <a:solidFill>
                  <a:schemeClr val="accent3"/>
                </a:solidFill>
              </a:rPr>
              <a:t>.</a:t>
            </a:r>
            <a:r>
              <a:rPr lang="en-GB" dirty="0" err="1">
                <a:solidFill>
                  <a:schemeClr val="accent3"/>
                </a:solidFill>
              </a:rPr>
              <a:t>mapValues</a:t>
            </a:r>
            <a:r>
              <a:rPr lang="en-GB" dirty="0"/>
              <a:t>(value -&gt; </a:t>
            </a:r>
            <a:r>
              <a:rPr lang="en-GB" dirty="0" err="1"/>
              <a:t>value.toUpperCase</a:t>
            </a:r>
            <a:r>
              <a:rPr lang="en-GB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621727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F596-F4B4-BFB5-1375-43B60C183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Topology Code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E211A-3780-FDCF-5CCF-614315E59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builder = new </a:t>
            </a:r>
            <a:r>
              <a:rPr lang="en-GB" dirty="0" err="1"/>
              <a:t>StreamsBuilder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 err="1"/>
              <a:t>sourceStream</a:t>
            </a:r>
            <a:r>
              <a:rPr lang="en-GB" dirty="0"/>
              <a:t> = </a:t>
            </a:r>
            <a:r>
              <a:rPr lang="en-GB" dirty="0" err="1"/>
              <a:t>builder.stream</a:t>
            </a:r>
            <a:r>
              <a:rPr lang="en-GB" dirty="0"/>
              <a:t>("input-topic");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/>
              <a:t>sourceStream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.filter((key, value) -&gt; </a:t>
            </a:r>
            <a:r>
              <a:rPr lang="en-GB" dirty="0" err="1"/>
              <a:t>value.contains</a:t>
            </a:r>
            <a:r>
              <a:rPr lang="en-GB" dirty="0"/>
              <a:t>("filter"))</a:t>
            </a:r>
          </a:p>
          <a:p>
            <a:pPr marL="0" indent="0">
              <a:buNone/>
            </a:pPr>
            <a:r>
              <a:rPr lang="en-GB" dirty="0"/>
              <a:t>	.</a:t>
            </a:r>
            <a:r>
              <a:rPr lang="en-GB" dirty="0" err="1"/>
              <a:t>mapValues</a:t>
            </a:r>
            <a:r>
              <a:rPr lang="en-GB" dirty="0"/>
              <a:t>(value -&gt; </a:t>
            </a:r>
            <a:r>
              <a:rPr lang="en-GB" dirty="0" err="1"/>
              <a:t>value.toUpperCase</a:t>
            </a:r>
            <a:r>
              <a:rPr lang="en-GB" dirty="0"/>
              <a:t>())</a:t>
            </a:r>
          </a:p>
          <a:p>
            <a:pPr marL="0" indent="0">
              <a:buNone/>
            </a:pPr>
            <a:r>
              <a:rPr lang="en-GB" dirty="0"/>
              <a:t>	.to(</a:t>
            </a:r>
            <a:r>
              <a:rPr lang="en-GB" dirty="0">
                <a:solidFill>
                  <a:schemeClr val="accent3"/>
                </a:solidFill>
              </a:rPr>
              <a:t>"output-topic"</a:t>
            </a:r>
            <a:r>
              <a:rPr lang="en-GB" dirty="0"/>
              <a:t>);</a:t>
            </a:r>
            <a:endParaRPr lang="en-RU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843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0E516-614E-3175-14CF-B66E7E511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B46EE-F381-B46D-F378-7201943DD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Abstraction for a continuous stream of records.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record is a key-value pair.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Represents an unbounded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Supports stateless and stateful operations.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KStream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&lt;String, String&gt; stream =</a:t>
            </a:r>
          </a:p>
          <a:p>
            <a:pPr marL="0" indent="0">
              <a:buNone/>
            </a:pP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builder.stream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("topic");</a:t>
            </a:r>
            <a:endParaRPr lang="en-GB" dirty="0"/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77139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E793-3875-66E8-EACB-CEA14A71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Operations on </a:t>
            </a:r>
            <a:r>
              <a:rPr lang="en-GB" dirty="0" err="1"/>
              <a:t>KStream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11818-3857-671C-4C46-72035B673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Peek</a:t>
            </a:r>
          </a:p>
          <a:p>
            <a:pPr lvl="1"/>
            <a:r>
              <a:rPr lang="en-GB" dirty="0"/>
              <a:t>Peeking at the records as they pass through the stream.</a:t>
            </a:r>
          </a:p>
          <a:p>
            <a:r>
              <a:rPr lang="en-GB" dirty="0"/>
              <a:t>Map and </a:t>
            </a:r>
            <a:r>
              <a:rPr lang="en-GB" dirty="0" err="1"/>
              <a:t>MapValues</a:t>
            </a:r>
            <a:r>
              <a:rPr lang="en-GB" dirty="0"/>
              <a:t> (transform)</a:t>
            </a:r>
          </a:p>
          <a:p>
            <a:pPr lvl="1"/>
            <a:r>
              <a:rPr lang="en-GB" i="1" dirty="0"/>
              <a:t>map</a:t>
            </a:r>
            <a:r>
              <a:rPr lang="en-GB" dirty="0"/>
              <a:t>: transforms each record into a new record with potentially different key and value.</a:t>
            </a:r>
          </a:p>
          <a:p>
            <a:pPr lvl="1"/>
            <a:r>
              <a:rPr lang="en-GB" i="1" dirty="0" err="1"/>
              <a:t>mapValues</a:t>
            </a:r>
            <a:r>
              <a:rPr lang="en-GB" dirty="0"/>
              <a:t>: transforms only values.</a:t>
            </a:r>
          </a:p>
          <a:p>
            <a:r>
              <a:rPr lang="en-GB" dirty="0"/>
              <a:t>Filter</a:t>
            </a:r>
          </a:p>
          <a:p>
            <a:pPr lvl="1"/>
            <a:r>
              <a:rPr lang="en-GB" dirty="0"/>
              <a:t>Removes records from stream by condition.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594770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3CC8E-283D-1CFB-288F-35ED3CAC3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Operations on </a:t>
            </a:r>
            <a:r>
              <a:rPr lang="en-GB" dirty="0" err="1"/>
              <a:t>KStream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832CA-EE9E-1E34-43BB-732534BCE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kstream.peek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((key, value) -&gt;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println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(key, value))</a:t>
            </a:r>
          </a:p>
          <a:p>
            <a:pPr marL="0" indent="0">
              <a:buNone/>
            </a:pP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kstream.map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((key, value) -&gt;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KeyValue.pair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key.toUpperCase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(),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value.toUpperCase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()))</a:t>
            </a:r>
          </a:p>
          <a:p>
            <a:pPr marL="0" indent="0">
              <a:buNone/>
            </a:pP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kstream.mapValues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(value -&gt;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value.toUpperCase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())</a:t>
            </a:r>
          </a:p>
          <a:p>
            <a:pPr marL="0" indent="0">
              <a:buNone/>
            </a:pP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kstream.filter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((key, value) -&gt;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value.contains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("filter"))</a:t>
            </a:r>
          </a:p>
        </p:txBody>
      </p:sp>
    </p:spTree>
    <p:extLst>
      <p:ext uri="{BB962C8B-B14F-4D97-AF65-F5344CB8AC3E}">
        <p14:creationId xmlns:p14="http://schemas.microsoft.com/office/powerpoint/2010/main" val="139005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241F-1818-E7A6-F55E-32F85D3B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76FE4-C537-F791-8E6D-D88A27BE7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Abstraction of a changelog stream, where each record represents an update.</a:t>
            </a:r>
          </a:p>
          <a:p>
            <a:r>
              <a:rPr lang="en-GB" dirty="0"/>
              <a:t>Represents a snapshot of data at a given time.</a:t>
            </a:r>
          </a:p>
          <a:p>
            <a:r>
              <a:rPr lang="en-GB" dirty="0"/>
              <a:t>Supports stateful operations.</a:t>
            </a:r>
          </a:p>
          <a:p>
            <a:r>
              <a:rPr lang="en-GB" dirty="0"/>
              <a:t>Uses local storage for maintaining state.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KTable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&lt;String, String&gt; table =</a:t>
            </a:r>
          </a:p>
          <a:p>
            <a:pPr marL="0" indent="0">
              <a:buNone/>
            </a:pP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builder.table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("input-topic");</a:t>
            </a:r>
          </a:p>
        </p:txBody>
      </p:sp>
    </p:spTree>
    <p:extLst>
      <p:ext uri="{BB962C8B-B14F-4D97-AF65-F5344CB8AC3E}">
        <p14:creationId xmlns:p14="http://schemas.microsoft.com/office/powerpoint/2010/main" val="615739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241F-1818-E7A6-F55E-32F85D3B6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RU" dirty="0"/>
              <a:t>KTable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76FE4-C537-F791-8E6D-D88A27BE7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Consumes single topic</a:t>
            </a:r>
          </a:p>
          <a:p>
            <a:r>
              <a:rPr lang="en-GB" dirty="0"/>
              <a:t>Do not stream results</a:t>
            </a:r>
          </a:p>
          <a:p>
            <a:r>
              <a:rPr lang="en-GB" dirty="0"/>
              <a:t>Needs materialized state store</a:t>
            </a:r>
          </a:p>
          <a:p>
            <a:r>
              <a:rPr lang="en-GB" dirty="0"/>
              <a:t>The cache inside: flush every 30s</a:t>
            </a:r>
          </a:p>
          <a:p>
            <a:endParaRPr lang="en-GB" dirty="0"/>
          </a:p>
          <a:p>
            <a:r>
              <a:rPr lang="en-GB" dirty="0" err="1"/>
              <a:t>KTable</a:t>
            </a:r>
            <a:r>
              <a:rPr lang="en-GB" dirty="0"/>
              <a:t>: works on topic partition</a:t>
            </a:r>
          </a:p>
          <a:p>
            <a:r>
              <a:rPr lang="en-GB" dirty="0" err="1"/>
              <a:t>GlobalKTable</a:t>
            </a:r>
            <a:r>
              <a:rPr lang="en-GB" dirty="0"/>
              <a:t>: works on the whole topic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9528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43D851-A480-4D87-0D69-B3ADADEC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KTable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5FAEE2-8FE4-D057-76DF-E759D8A099E8}"/>
              </a:ext>
            </a:extLst>
          </p:cNvPr>
          <p:cNvSpPr/>
          <p:nvPr/>
        </p:nvSpPr>
        <p:spPr>
          <a:xfrm>
            <a:off x="775448" y="3086608"/>
            <a:ext cx="6495392" cy="1074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A14EC6-19EC-93B2-C96B-A3159CAC14F0}"/>
              </a:ext>
            </a:extLst>
          </p:cNvPr>
          <p:cNvSpPr/>
          <p:nvPr/>
        </p:nvSpPr>
        <p:spPr>
          <a:xfrm>
            <a:off x="1057735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  <a:p>
            <a:pPr algn="ctr"/>
            <a:r>
              <a:rPr lang="en-RU" dirty="0"/>
              <a:t>1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DF185B1-187E-F605-13ED-DB247866FB04}"/>
              </a:ext>
            </a:extLst>
          </p:cNvPr>
          <p:cNvSpPr/>
          <p:nvPr/>
        </p:nvSpPr>
        <p:spPr>
          <a:xfrm>
            <a:off x="9036422" y="2662519"/>
            <a:ext cx="2528049" cy="1909482"/>
          </a:xfrm>
          <a:prstGeom prst="roundRect">
            <a:avLst>
              <a:gd name="adj" fmla="val 54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B11DEAB-B9FF-5FB9-AA92-8B0544B6EC53}"/>
              </a:ext>
            </a:extLst>
          </p:cNvPr>
          <p:cNvSpPr/>
          <p:nvPr/>
        </p:nvSpPr>
        <p:spPr>
          <a:xfrm>
            <a:off x="9182331" y="2816365"/>
            <a:ext cx="566786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F1DA110-0A9C-5864-B5E9-FE30BBF92C2C}"/>
              </a:ext>
            </a:extLst>
          </p:cNvPr>
          <p:cNvSpPr/>
          <p:nvPr/>
        </p:nvSpPr>
        <p:spPr>
          <a:xfrm>
            <a:off x="9903989" y="2816365"/>
            <a:ext cx="1485669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40A391D-A829-0695-1190-3A649329F628}"/>
              </a:ext>
            </a:extLst>
          </p:cNvPr>
          <p:cNvCxnSpPr>
            <a:stCxn id="6" idx="3"/>
            <a:endCxn id="19" idx="1"/>
          </p:cNvCxnSpPr>
          <p:nvPr/>
        </p:nvCxnSpPr>
        <p:spPr>
          <a:xfrm flipV="1">
            <a:off x="7270840" y="3617260"/>
            <a:ext cx="1765582" cy="65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097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43D851-A480-4D87-0D69-B3ADADEC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KTable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5FAEE2-8FE4-D057-76DF-E759D8A099E8}"/>
              </a:ext>
            </a:extLst>
          </p:cNvPr>
          <p:cNvSpPr/>
          <p:nvPr/>
        </p:nvSpPr>
        <p:spPr>
          <a:xfrm>
            <a:off x="775448" y="3086608"/>
            <a:ext cx="6495392" cy="1074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A14EC6-19EC-93B2-C96B-A3159CAC14F0}"/>
              </a:ext>
            </a:extLst>
          </p:cNvPr>
          <p:cNvSpPr/>
          <p:nvPr/>
        </p:nvSpPr>
        <p:spPr>
          <a:xfrm>
            <a:off x="1057735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  <a:p>
            <a:pPr algn="ctr"/>
            <a:r>
              <a:rPr lang="en-RU" dirty="0"/>
              <a:t>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5D6A0D4-B487-69E2-81E5-C0FA1879E61E}"/>
              </a:ext>
            </a:extLst>
          </p:cNvPr>
          <p:cNvSpPr/>
          <p:nvPr/>
        </p:nvSpPr>
        <p:spPr>
          <a:xfrm>
            <a:off x="1562616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y</a:t>
            </a:r>
          </a:p>
          <a:p>
            <a:pPr algn="ctr"/>
            <a:r>
              <a:rPr lang="en-RU" dirty="0"/>
              <a:t>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DF185B1-187E-F605-13ED-DB247866FB04}"/>
              </a:ext>
            </a:extLst>
          </p:cNvPr>
          <p:cNvSpPr/>
          <p:nvPr/>
        </p:nvSpPr>
        <p:spPr>
          <a:xfrm>
            <a:off x="9036422" y="2662519"/>
            <a:ext cx="2528049" cy="1909482"/>
          </a:xfrm>
          <a:prstGeom prst="roundRect">
            <a:avLst>
              <a:gd name="adj" fmla="val 54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B11DEAB-B9FF-5FB9-AA92-8B0544B6EC53}"/>
              </a:ext>
            </a:extLst>
          </p:cNvPr>
          <p:cNvSpPr/>
          <p:nvPr/>
        </p:nvSpPr>
        <p:spPr>
          <a:xfrm>
            <a:off x="9182331" y="2816365"/>
            <a:ext cx="566786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F1DA110-0A9C-5864-B5E9-FE30BBF92C2C}"/>
              </a:ext>
            </a:extLst>
          </p:cNvPr>
          <p:cNvSpPr/>
          <p:nvPr/>
        </p:nvSpPr>
        <p:spPr>
          <a:xfrm>
            <a:off x="9903989" y="2816365"/>
            <a:ext cx="1485669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8E97928-5196-CD3A-E187-8F6D6BF9EAA4}"/>
              </a:ext>
            </a:extLst>
          </p:cNvPr>
          <p:cNvSpPr/>
          <p:nvPr/>
        </p:nvSpPr>
        <p:spPr>
          <a:xfrm>
            <a:off x="9182331" y="3394588"/>
            <a:ext cx="566786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8291161-BE66-FD4B-F36C-A8C3034132EB}"/>
              </a:ext>
            </a:extLst>
          </p:cNvPr>
          <p:cNvSpPr/>
          <p:nvPr/>
        </p:nvSpPr>
        <p:spPr>
          <a:xfrm>
            <a:off x="9903989" y="3394588"/>
            <a:ext cx="1485669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40A391D-A829-0695-1190-3A649329F628}"/>
              </a:ext>
            </a:extLst>
          </p:cNvPr>
          <p:cNvCxnSpPr>
            <a:stCxn id="6" idx="3"/>
            <a:endCxn id="19" idx="1"/>
          </p:cNvCxnSpPr>
          <p:nvPr/>
        </p:nvCxnSpPr>
        <p:spPr>
          <a:xfrm flipV="1">
            <a:off x="7270840" y="3617260"/>
            <a:ext cx="1765582" cy="65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036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43D851-A480-4D87-0D69-B3ADADEC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KTable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5FAEE2-8FE4-D057-76DF-E759D8A099E8}"/>
              </a:ext>
            </a:extLst>
          </p:cNvPr>
          <p:cNvSpPr/>
          <p:nvPr/>
        </p:nvSpPr>
        <p:spPr>
          <a:xfrm>
            <a:off x="775448" y="3086608"/>
            <a:ext cx="6495392" cy="1074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A14EC6-19EC-93B2-C96B-A3159CAC14F0}"/>
              </a:ext>
            </a:extLst>
          </p:cNvPr>
          <p:cNvSpPr/>
          <p:nvPr/>
        </p:nvSpPr>
        <p:spPr>
          <a:xfrm>
            <a:off x="1057735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  <a:p>
            <a:pPr algn="ctr"/>
            <a:r>
              <a:rPr lang="en-RU" dirty="0"/>
              <a:t>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5D6A0D4-B487-69E2-81E5-C0FA1879E61E}"/>
              </a:ext>
            </a:extLst>
          </p:cNvPr>
          <p:cNvSpPr/>
          <p:nvPr/>
        </p:nvSpPr>
        <p:spPr>
          <a:xfrm>
            <a:off x="1562616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y</a:t>
            </a:r>
          </a:p>
          <a:p>
            <a:pPr algn="ctr"/>
            <a:r>
              <a:rPr lang="en-RU" dirty="0"/>
              <a:t>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060C277-3776-BAC2-2390-6A210484F1A1}"/>
              </a:ext>
            </a:extLst>
          </p:cNvPr>
          <p:cNvSpPr/>
          <p:nvPr/>
        </p:nvSpPr>
        <p:spPr>
          <a:xfrm>
            <a:off x="2067497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  <a:p>
            <a:pPr algn="ctr"/>
            <a:r>
              <a:rPr lang="en-RU" dirty="0"/>
              <a:t>3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DF185B1-187E-F605-13ED-DB247866FB04}"/>
              </a:ext>
            </a:extLst>
          </p:cNvPr>
          <p:cNvSpPr/>
          <p:nvPr/>
        </p:nvSpPr>
        <p:spPr>
          <a:xfrm>
            <a:off x="9036422" y="2662519"/>
            <a:ext cx="2528049" cy="1909482"/>
          </a:xfrm>
          <a:prstGeom prst="roundRect">
            <a:avLst>
              <a:gd name="adj" fmla="val 54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B11DEAB-B9FF-5FB9-AA92-8B0544B6EC53}"/>
              </a:ext>
            </a:extLst>
          </p:cNvPr>
          <p:cNvSpPr/>
          <p:nvPr/>
        </p:nvSpPr>
        <p:spPr>
          <a:xfrm>
            <a:off x="9182331" y="2816365"/>
            <a:ext cx="566786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F1DA110-0A9C-5864-B5E9-FE30BBF92C2C}"/>
              </a:ext>
            </a:extLst>
          </p:cNvPr>
          <p:cNvSpPr/>
          <p:nvPr/>
        </p:nvSpPr>
        <p:spPr>
          <a:xfrm>
            <a:off x="9903989" y="2816365"/>
            <a:ext cx="1485669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8E97928-5196-CD3A-E187-8F6D6BF9EAA4}"/>
              </a:ext>
            </a:extLst>
          </p:cNvPr>
          <p:cNvSpPr/>
          <p:nvPr/>
        </p:nvSpPr>
        <p:spPr>
          <a:xfrm>
            <a:off x="9182331" y="3394588"/>
            <a:ext cx="566786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8291161-BE66-FD4B-F36C-A8C3034132EB}"/>
              </a:ext>
            </a:extLst>
          </p:cNvPr>
          <p:cNvSpPr/>
          <p:nvPr/>
        </p:nvSpPr>
        <p:spPr>
          <a:xfrm>
            <a:off x="9903989" y="3394588"/>
            <a:ext cx="1485669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40A391D-A829-0695-1190-3A649329F628}"/>
              </a:ext>
            </a:extLst>
          </p:cNvPr>
          <p:cNvCxnSpPr>
            <a:stCxn id="6" idx="3"/>
            <a:endCxn id="19" idx="1"/>
          </p:cNvCxnSpPr>
          <p:nvPr/>
        </p:nvCxnSpPr>
        <p:spPr>
          <a:xfrm flipV="1">
            <a:off x="7270840" y="3617260"/>
            <a:ext cx="1765582" cy="65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024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43D851-A480-4D87-0D69-B3ADADEC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KTable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5FAEE2-8FE4-D057-76DF-E759D8A099E8}"/>
              </a:ext>
            </a:extLst>
          </p:cNvPr>
          <p:cNvSpPr/>
          <p:nvPr/>
        </p:nvSpPr>
        <p:spPr>
          <a:xfrm>
            <a:off x="775448" y="3086608"/>
            <a:ext cx="6495392" cy="1074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A14EC6-19EC-93B2-C96B-A3159CAC14F0}"/>
              </a:ext>
            </a:extLst>
          </p:cNvPr>
          <p:cNvSpPr/>
          <p:nvPr/>
        </p:nvSpPr>
        <p:spPr>
          <a:xfrm>
            <a:off x="1057735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  <a:p>
            <a:pPr algn="ctr"/>
            <a:r>
              <a:rPr lang="en-RU" dirty="0"/>
              <a:t>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5D6A0D4-B487-69E2-81E5-C0FA1879E61E}"/>
              </a:ext>
            </a:extLst>
          </p:cNvPr>
          <p:cNvSpPr/>
          <p:nvPr/>
        </p:nvSpPr>
        <p:spPr>
          <a:xfrm>
            <a:off x="1562616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y</a:t>
            </a:r>
          </a:p>
          <a:p>
            <a:pPr algn="ctr"/>
            <a:r>
              <a:rPr lang="en-RU" dirty="0"/>
              <a:t>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060C277-3776-BAC2-2390-6A210484F1A1}"/>
              </a:ext>
            </a:extLst>
          </p:cNvPr>
          <p:cNvSpPr/>
          <p:nvPr/>
        </p:nvSpPr>
        <p:spPr>
          <a:xfrm>
            <a:off x="2067497" y="3258439"/>
            <a:ext cx="337809" cy="72680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  <a:p>
            <a:pPr algn="ctr"/>
            <a:r>
              <a:rPr lang="en-RU" dirty="0"/>
              <a:t>3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DF185B1-187E-F605-13ED-DB247866FB04}"/>
              </a:ext>
            </a:extLst>
          </p:cNvPr>
          <p:cNvSpPr/>
          <p:nvPr/>
        </p:nvSpPr>
        <p:spPr>
          <a:xfrm>
            <a:off x="9036422" y="2662519"/>
            <a:ext cx="2528049" cy="1909482"/>
          </a:xfrm>
          <a:prstGeom prst="roundRect">
            <a:avLst>
              <a:gd name="adj" fmla="val 54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B11DEAB-B9FF-5FB9-AA92-8B0544B6EC53}"/>
              </a:ext>
            </a:extLst>
          </p:cNvPr>
          <p:cNvSpPr/>
          <p:nvPr/>
        </p:nvSpPr>
        <p:spPr>
          <a:xfrm>
            <a:off x="9182331" y="2816365"/>
            <a:ext cx="566786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F1DA110-0A9C-5864-B5E9-FE30BBF92C2C}"/>
              </a:ext>
            </a:extLst>
          </p:cNvPr>
          <p:cNvSpPr/>
          <p:nvPr/>
        </p:nvSpPr>
        <p:spPr>
          <a:xfrm>
            <a:off x="9903989" y="2816365"/>
            <a:ext cx="1485669" cy="42437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8E97928-5196-CD3A-E187-8F6D6BF9EAA4}"/>
              </a:ext>
            </a:extLst>
          </p:cNvPr>
          <p:cNvSpPr/>
          <p:nvPr/>
        </p:nvSpPr>
        <p:spPr>
          <a:xfrm>
            <a:off x="9182331" y="3394588"/>
            <a:ext cx="566786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8291161-BE66-FD4B-F36C-A8C3034132EB}"/>
              </a:ext>
            </a:extLst>
          </p:cNvPr>
          <p:cNvSpPr/>
          <p:nvPr/>
        </p:nvSpPr>
        <p:spPr>
          <a:xfrm>
            <a:off x="9903989" y="3394588"/>
            <a:ext cx="1485669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40A391D-A829-0695-1190-3A649329F628}"/>
              </a:ext>
            </a:extLst>
          </p:cNvPr>
          <p:cNvCxnSpPr>
            <a:stCxn id="6" idx="3"/>
            <a:endCxn id="19" idx="1"/>
          </p:cNvCxnSpPr>
          <p:nvPr/>
        </p:nvCxnSpPr>
        <p:spPr>
          <a:xfrm flipV="1">
            <a:off x="7270840" y="3617260"/>
            <a:ext cx="1765582" cy="65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249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43D851-A480-4D87-0D69-B3ADADEC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KTable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5FAEE2-8FE4-D057-76DF-E759D8A099E8}"/>
              </a:ext>
            </a:extLst>
          </p:cNvPr>
          <p:cNvSpPr/>
          <p:nvPr/>
        </p:nvSpPr>
        <p:spPr>
          <a:xfrm>
            <a:off x="775448" y="3086608"/>
            <a:ext cx="6495392" cy="1074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A14EC6-19EC-93B2-C96B-A3159CAC14F0}"/>
              </a:ext>
            </a:extLst>
          </p:cNvPr>
          <p:cNvSpPr/>
          <p:nvPr/>
        </p:nvSpPr>
        <p:spPr>
          <a:xfrm>
            <a:off x="1057735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  <a:p>
            <a:pPr algn="ctr"/>
            <a:r>
              <a:rPr lang="en-RU" dirty="0"/>
              <a:t>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5D6A0D4-B487-69E2-81E5-C0FA1879E61E}"/>
              </a:ext>
            </a:extLst>
          </p:cNvPr>
          <p:cNvSpPr/>
          <p:nvPr/>
        </p:nvSpPr>
        <p:spPr>
          <a:xfrm>
            <a:off x="1562616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y</a:t>
            </a:r>
          </a:p>
          <a:p>
            <a:pPr algn="ctr"/>
            <a:r>
              <a:rPr lang="en-RU" dirty="0"/>
              <a:t>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060C277-3776-BAC2-2390-6A210484F1A1}"/>
              </a:ext>
            </a:extLst>
          </p:cNvPr>
          <p:cNvSpPr/>
          <p:nvPr/>
        </p:nvSpPr>
        <p:spPr>
          <a:xfrm>
            <a:off x="2067497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  <a:p>
            <a:pPr algn="ctr"/>
            <a:r>
              <a:rPr lang="en-RU" dirty="0"/>
              <a:t>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380CC1-2056-79DD-17AC-00FDF58564BD}"/>
              </a:ext>
            </a:extLst>
          </p:cNvPr>
          <p:cNvSpPr/>
          <p:nvPr/>
        </p:nvSpPr>
        <p:spPr>
          <a:xfrm>
            <a:off x="2572378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z</a:t>
            </a:r>
          </a:p>
          <a:p>
            <a:pPr algn="ctr"/>
            <a:r>
              <a:rPr lang="en-RU" dirty="0"/>
              <a:t>4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DF185B1-187E-F605-13ED-DB247866FB04}"/>
              </a:ext>
            </a:extLst>
          </p:cNvPr>
          <p:cNvSpPr/>
          <p:nvPr/>
        </p:nvSpPr>
        <p:spPr>
          <a:xfrm>
            <a:off x="9036422" y="2662519"/>
            <a:ext cx="2528049" cy="1909482"/>
          </a:xfrm>
          <a:prstGeom prst="roundRect">
            <a:avLst>
              <a:gd name="adj" fmla="val 54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B11DEAB-B9FF-5FB9-AA92-8B0544B6EC53}"/>
              </a:ext>
            </a:extLst>
          </p:cNvPr>
          <p:cNvSpPr/>
          <p:nvPr/>
        </p:nvSpPr>
        <p:spPr>
          <a:xfrm>
            <a:off x="9182331" y="2816365"/>
            <a:ext cx="566786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F1DA110-0A9C-5864-B5E9-FE30BBF92C2C}"/>
              </a:ext>
            </a:extLst>
          </p:cNvPr>
          <p:cNvSpPr/>
          <p:nvPr/>
        </p:nvSpPr>
        <p:spPr>
          <a:xfrm>
            <a:off x="9903989" y="2816365"/>
            <a:ext cx="1485669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8E97928-5196-CD3A-E187-8F6D6BF9EAA4}"/>
              </a:ext>
            </a:extLst>
          </p:cNvPr>
          <p:cNvSpPr/>
          <p:nvPr/>
        </p:nvSpPr>
        <p:spPr>
          <a:xfrm>
            <a:off x="9182331" y="3394588"/>
            <a:ext cx="566786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8291161-BE66-FD4B-F36C-A8C3034132EB}"/>
              </a:ext>
            </a:extLst>
          </p:cNvPr>
          <p:cNvSpPr/>
          <p:nvPr/>
        </p:nvSpPr>
        <p:spPr>
          <a:xfrm>
            <a:off x="9903989" y="3394588"/>
            <a:ext cx="1485669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BFA59A3-CFB7-CDCA-1F31-6A75D62F468E}"/>
              </a:ext>
            </a:extLst>
          </p:cNvPr>
          <p:cNvSpPr/>
          <p:nvPr/>
        </p:nvSpPr>
        <p:spPr>
          <a:xfrm>
            <a:off x="9182331" y="3972811"/>
            <a:ext cx="566786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z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644FED4-D0BC-DE7F-FA62-17858B96A62D}"/>
              </a:ext>
            </a:extLst>
          </p:cNvPr>
          <p:cNvSpPr/>
          <p:nvPr/>
        </p:nvSpPr>
        <p:spPr>
          <a:xfrm>
            <a:off x="9903989" y="3972811"/>
            <a:ext cx="1485669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40A391D-A829-0695-1190-3A649329F628}"/>
              </a:ext>
            </a:extLst>
          </p:cNvPr>
          <p:cNvCxnSpPr>
            <a:stCxn id="6" idx="3"/>
            <a:endCxn id="19" idx="1"/>
          </p:cNvCxnSpPr>
          <p:nvPr/>
        </p:nvCxnSpPr>
        <p:spPr>
          <a:xfrm flipV="1">
            <a:off x="7270840" y="3617260"/>
            <a:ext cx="1765582" cy="65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873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43D851-A480-4D87-0D69-B3ADADEC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KTable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5FAEE2-8FE4-D057-76DF-E759D8A099E8}"/>
              </a:ext>
            </a:extLst>
          </p:cNvPr>
          <p:cNvSpPr/>
          <p:nvPr/>
        </p:nvSpPr>
        <p:spPr>
          <a:xfrm>
            <a:off x="775448" y="3086608"/>
            <a:ext cx="6495392" cy="1074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A14EC6-19EC-93B2-C96B-A3159CAC14F0}"/>
              </a:ext>
            </a:extLst>
          </p:cNvPr>
          <p:cNvSpPr/>
          <p:nvPr/>
        </p:nvSpPr>
        <p:spPr>
          <a:xfrm>
            <a:off x="1057735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  <a:p>
            <a:pPr algn="ctr"/>
            <a:r>
              <a:rPr lang="en-RU" dirty="0"/>
              <a:t>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5D6A0D4-B487-69E2-81E5-C0FA1879E61E}"/>
              </a:ext>
            </a:extLst>
          </p:cNvPr>
          <p:cNvSpPr/>
          <p:nvPr/>
        </p:nvSpPr>
        <p:spPr>
          <a:xfrm>
            <a:off x="1562616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y</a:t>
            </a:r>
          </a:p>
          <a:p>
            <a:pPr algn="ctr"/>
            <a:r>
              <a:rPr lang="en-RU" dirty="0"/>
              <a:t>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060C277-3776-BAC2-2390-6A210484F1A1}"/>
              </a:ext>
            </a:extLst>
          </p:cNvPr>
          <p:cNvSpPr/>
          <p:nvPr/>
        </p:nvSpPr>
        <p:spPr>
          <a:xfrm>
            <a:off x="2067497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  <a:p>
            <a:pPr algn="ctr"/>
            <a:r>
              <a:rPr lang="en-RU" dirty="0"/>
              <a:t>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380CC1-2056-79DD-17AC-00FDF58564BD}"/>
              </a:ext>
            </a:extLst>
          </p:cNvPr>
          <p:cNvSpPr/>
          <p:nvPr/>
        </p:nvSpPr>
        <p:spPr>
          <a:xfrm>
            <a:off x="2572378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z</a:t>
            </a:r>
          </a:p>
          <a:p>
            <a:pPr algn="ctr"/>
            <a:r>
              <a:rPr lang="en-RU" dirty="0"/>
              <a:t>4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BD09C7F-9923-FBE1-C819-1B54497359E3}"/>
              </a:ext>
            </a:extLst>
          </p:cNvPr>
          <p:cNvSpPr/>
          <p:nvPr/>
        </p:nvSpPr>
        <p:spPr>
          <a:xfrm>
            <a:off x="3077259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  <a:p>
            <a:pPr algn="ctr"/>
            <a:r>
              <a:rPr lang="en-RU" dirty="0"/>
              <a:t>5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9836BDD-2967-6CC6-8109-E22D20951E2B}"/>
              </a:ext>
            </a:extLst>
          </p:cNvPr>
          <p:cNvSpPr/>
          <p:nvPr/>
        </p:nvSpPr>
        <p:spPr>
          <a:xfrm>
            <a:off x="3582140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  <a:br>
              <a:rPr lang="en-RU" dirty="0"/>
            </a:br>
            <a:r>
              <a:rPr lang="en-RU" dirty="0"/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70097C1-3A4B-AED3-B787-473735C02919}"/>
              </a:ext>
            </a:extLst>
          </p:cNvPr>
          <p:cNvSpPr/>
          <p:nvPr/>
        </p:nvSpPr>
        <p:spPr>
          <a:xfrm>
            <a:off x="4087021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z7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2756B8C-6B87-B0C2-0205-9CC30ABD648C}"/>
              </a:ext>
            </a:extLst>
          </p:cNvPr>
          <p:cNvSpPr/>
          <p:nvPr/>
        </p:nvSpPr>
        <p:spPr>
          <a:xfrm>
            <a:off x="4591902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y8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DF185B1-187E-F605-13ED-DB247866FB04}"/>
              </a:ext>
            </a:extLst>
          </p:cNvPr>
          <p:cNvSpPr/>
          <p:nvPr/>
        </p:nvSpPr>
        <p:spPr>
          <a:xfrm>
            <a:off x="9036422" y="2662519"/>
            <a:ext cx="2528049" cy="1909482"/>
          </a:xfrm>
          <a:prstGeom prst="roundRect">
            <a:avLst>
              <a:gd name="adj" fmla="val 54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B11DEAB-B9FF-5FB9-AA92-8B0544B6EC53}"/>
              </a:ext>
            </a:extLst>
          </p:cNvPr>
          <p:cNvSpPr/>
          <p:nvPr/>
        </p:nvSpPr>
        <p:spPr>
          <a:xfrm>
            <a:off x="9182331" y="2816365"/>
            <a:ext cx="566786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F1DA110-0A9C-5864-B5E9-FE30BBF92C2C}"/>
              </a:ext>
            </a:extLst>
          </p:cNvPr>
          <p:cNvSpPr/>
          <p:nvPr/>
        </p:nvSpPr>
        <p:spPr>
          <a:xfrm>
            <a:off x="9903989" y="2816365"/>
            <a:ext cx="1485669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8E97928-5196-CD3A-E187-8F6D6BF9EAA4}"/>
              </a:ext>
            </a:extLst>
          </p:cNvPr>
          <p:cNvSpPr/>
          <p:nvPr/>
        </p:nvSpPr>
        <p:spPr>
          <a:xfrm>
            <a:off x="9182331" y="3394588"/>
            <a:ext cx="566786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8291161-BE66-FD4B-F36C-A8C3034132EB}"/>
              </a:ext>
            </a:extLst>
          </p:cNvPr>
          <p:cNvSpPr/>
          <p:nvPr/>
        </p:nvSpPr>
        <p:spPr>
          <a:xfrm>
            <a:off x="9903989" y="3394588"/>
            <a:ext cx="1485669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BFA59A3-CFB7-CDCA-1F31-6A75D62F468E}"/>
              </a:ext>
            </a:extLst>
          </p:cNvPr>
          <p:cNvSpPr/>
          <p:nvPr/>
        </p:nvSpPr>
        <p:spPr>
          <a:xfrm>
            <a:off x="9182331" y="3972811"/>
            <a:ext cx="566786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z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644FED4-D0BC-DE7F-FA62-17858B96A62D}"/>
              </a:ext>
            </a:extLst>
          </p:cNvPr>
          <p:cNvSpPr/>
          <p:nvPr/>
        </p:nvSpPr>
        <p:spPr>
          <a:xfrm>
            <a:off x="9903989" y="3972811"/>
            <a:ext cx="1485669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40A391D-A829-0695-1190-3A649329F628}"/>
              </a:ext>
            </a:extLst>
          </p:cNvPr>
          <p:cNvCxnSpPr>
            <a:stCxn id="6" idx="3"/>
            <a:endCxn id="19" idx="1"/>
          </p:cNvCxnSpPr>
          <p:nvPr/>
        </p:nvCxnSpPr>
        <p:spPr>
          <a:xfrm flipV="1">
            <a:off x="7270840" y="3617260"/>
            <a:ext cx="1765582" cy="65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6321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43D851-A480-4D87-0D69-B3ADADEC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KTable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5FAEE2-8FE4-D057-76DF-E759D8A099E8}"/>
              </a:ext>
            </a:extLst>
          </p:cNvPr>
          <p:cNvSpPr/>
          <p:nvPr/>
        </p:nvSpPr>
        <p:spPr>
          <a:xfrm>
            <a:off x="775448" y="3086608"/>
            <a:ext cx="6495392" cy="1074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A14EC6-19EC-93B2-C96B-A3159CAC14F0}"/>
              </a:ext>
            </a:extLst>
          </p:cNvPr>
          <p:cNvSpPr/>
          <p:nvPr/>
        </p:nvSpPr>
        <p:spPr>
          <a:xfrm>
            <a:off x="1057735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  <a:p>
            <a:pPr algn="ctr"/>
            <a:r>
              <a:rPr lang="en-RU" dirty="0"/>
              <a:t>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5D6A0D4-B487-69E2-81E5-C0FA1879E61E}"/>
              </a:ext>
            </a:extLst>
          </p:cNvPr>
          <p:cNvSpPr/>
          <p:nvPr/>
        </p:nvSpPr>
        <p:spPr>
          <a:xfrm>
            <a:off x="1562616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y</a:t>
            </a:r>
          </a:p>
          <a:p>
            <a:pPr algn="ctr"/>
            <a:r>
              <a:rPr lang="en-RU" dirty="0"/>
              <a:t>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060C277-3776-BAC2-2390-6A210484F1A1}"/>
              </a:ext>
            </a:extLst>
          </p:cNvPr>
          <p:cNvSpPr/>
          <p:nvPr/>
        </p:nvSpPr>
        <p:spPr>
          <a:xfrm>
            <a:off x="2067497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  <a:p>
            <a:pPr algn="ctr"/>
            <a:r>
              <a:rPr lang="en-RU" dirty="0"/>
              <a:t>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380CC1-2056-79DD-17AC-00FDF58564BD}"/>
              </a:ext>
            </a:extLst>
          </p:cNvPr>
          <p:cNvSpPr/>
          <p:nvPr/>
        </p:nvSpPr>
        <p:spPr>
          <a:xfrm>
            <a:off x="2572378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z</a:t>
            </a:r>
          </a:p>
          <a:p>
            <a:pPr algn="ctr"/>
            <a:r>
              <a:rPr lang="en-RU" dirty="0"/>
              <a:t>4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BD09C7F-9923-FBE1-C819-1B54497359E3}"/>
              </a:ext>
            </a:extLst>
          </p:cNvPr>
          <p:cNvSpPr/>
          <p:nvPr/>
        </p:nvSpPr>
        <p:spPr>
          <a:xfrm>
            <a:off x="3077259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  <a:p>
            <a:pPr algn="ctr"/>
            <a:r>
              <a:rPr lang="en-RU" dirty="0"/>
              <a:t>5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9836BDD-2967-6CC6-8109-E22D20951E2B}"/>
              </a:ext>
            </a:extLst>
          </p:cNvPr>
          <p:cNvSpPr/>
          <p:nvPr/>
        </p:nvSpPr>
        <p:spPr>
          <a:xfrm>
            <a:off x="3582140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  <a:br>
              <a:rPr lang="en-RU" dirty="0"/>
            </a:br>
            <a:r>
              <a:rPr lang="en-RU" dirty="0"/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70097C1-3A4B-AED3-B787-473735C02919}"/>
              </a:ext>
            </a:extLst>
          </p:cNvPr>
          <p:cNvSpPr/>
          <p:nvPr/>
        </p:nvSpPr>
        <p:spPr>
          <a:xfrm>
            <a:off x="4087021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z7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2756B8C-6B87-B0C2-0205-9CC30ABD648C}"/>
              </a:ext>
            </a:extLst>
          </p:cNvPr>
          <p:cNvSpPr/>
          <p:nvPr/>
        </p:nvSpPr>
        <p:spPr>
          <a:xfrm>
            <a:off x="4591902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y8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7D7D785-DDA7-ACB7-6377-AA47511B472A}"/>
              </a:ext>
            </a:extLst>
          </p:cNvPr>
          <p:cNvSpPr/>
          <p:nvPr/>
        </p:nvSpPr>
        <p:spPr>
          <a:xfrm>
            <a:off x="5096783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x9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E38E854-11B1-1C89-08AA-CE3762AD23AF}"/>
              </a:ext>
            </a:extLst>
          </p:cNvPr>
          <p:cNvSpPr/>
          <p:nvPr/>
        </p:nvSpPr>
        <p:spPr>
          <a:xfrm>
            <a:off x="5601664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yA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8E88F44-BDB2-F49F-D84A-697B452039C8}"/>
              </a:ext>
            </a:extLst>
          </p:cNvPr>
          <p:cNvSpPr/>
          <p:nvPr/>
        </p:nvSpPr>
        <p:spPr>
          <a:xfrm>
            <a:off x="6106545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zB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33D1CCB-99C9-71CE-09FA-CAC0F78E7CE6}"/>
              </a:ext>
            </a:extLst>
          </p:cNvPr>
          <p:cNvSpPr/>
          <p:nvPr/>
        </p:nvSpPr>
        <p:spPr>
          <a:xfrm>
            <a:off x="6612643" y="3258439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zC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DF185B1-187E-F605-13ED-DB247866FB04}"/>
              </a:ext>
            </a:extLst>
          </p:cNvPr>
          <p:cNvSpPr/>
          <p:nvPr/>
        </p:nvSpPr>
        <p:spPr>
          <a:xfrm>
            <a:off x="9036422" y="2662519"/>
            <a:ext cx="2528049" cy="1909482"/>
          </a:xfrm>
          <a:prstGeom prst="roundRect">
            <a:avLst>
              <a:gd name="adj" fmla="val 54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B11DEAB-B9FF-5FB9-AA92-8B0544B6EC53}"/>
              </a:ext>
            </a:extLst>
          </p:cNvPr>
          <p:cNvSpPr/>
          <p:nvPr/>
        </p:nvSpPr>
        <p:spPr>
          <a:xfrm>
            <a:off x="9182331" y="2816365"/>
            <a:ext cx="566786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x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F1DA110-0A9C-5864-B5E9-FE30BBF92C2C}"/>
              </a:ext>
            </a:extLst>
          </p:cNvPr>
          <p:cNvSpPr/>
          <p:nvPr/>
        </p:nvSpPr>
        <p:spPr>
          <a:xfrm>
            <a:off x="9903989" y="2816365"/>
            <a:ext cx="1485669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9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8E97928-5196-CD3A-E187-8F6D6BF9EAA4}"/>
              </a:ext>
            </a:extLst>
          </p:cNvPr>
          <p:cNvSpPr/>
          <p:nvPr/>
        </p:nvSpPr>
        <p:spPr>
          <a:xfrm>
            <a:off x="9182331" y="3394588"/>
            <a:ext cx="566786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8291161-BE66-FD4B-F36C-A8C3034132EB}"/>
              </a:ext>
            </a:extLst>
          </p:cNvPr>
          <p:cNvSpPr/>
          <p:nvPr/>
        </p:nvSpPr>
        <p:spPr>
          <a:xfrm>
            <a:off x="9903989" y="3394588"/>
            <a:ext cx="1485669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A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BFA59A3-CFB7-CDCA-1F31-6A75D62F468E}"/>
              </a:ext>
            </a:extLst>
          </p:cNvPr>
          <p:cNvSpPr/>
          <p:nvPr/>
        </p:nvSpPr>
        <p:spPr>
          <a:xfrm>
            <a:off x="9182331" y="3972811"/>
            <a:ext cx="566786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z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644FED4-D0BC-DE7F-FA62-17858B96A62D}"/>
              </a:ext>
            </a:extLst>
          </p:cNvPr>
          <p:cNvSpPr/>
          <p:nvPr/>
        </p:nvSpPr>
        <p:spPr>
          <a:xfrm>
            <a:off x="9903989" y="3972811"/>
            <a:ext cx="1485669" cy="42437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C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40A391D-A829-0695-1190-3A649329F628}"/>
              </a:ext>
            </a:extLst>
          </p:cNvPr>
          <p:cNvCxnSpPr>
            <a:stCxn id="6" idx="3"/>
            <a:endCxn id="19" idx="1"/>
          </p:cNvCxnSpPr>
          <p:nvPr/>
        </p:nvCxnSpPr>
        <p:spPr>
          <a:xfrm flipV="1">
            <a:off x="7270840" y="3617260"/>
            <a:ext cx="1765582" cy="65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32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8B164-BAE1-C77A-05BF-B0B5BF90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F2283-3003-CF21-2D94-A8226BCFA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Stream-Stream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2 events → 1 new event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join based on common key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Join waits for a given “window”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Stream-Table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Stream-Table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Stream-</a:t>
            </a:r>
            <a:r>
              <a:rPr lang="en-GB" dirty="0" err="1"/>
              <a:t>GlobalTable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Table-Table</a:t>
            </a:r>
          </a:p>
        </p:txBody>
      </p:sp>
    </p:spTree>
    <p:extLst>
      <p:ext uri="{BB962C8B-B14F-4D97-AF65-F5344CB8AC3E}">
        <p14:creationId xmlns:p14="http://schemas.microsoft.com/office/powerpoint/2010/main" val="1507409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8B164-BAE1-C77A-05BF-B0B5BF90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Joins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F2283-3003-CF21-2D94-A8226BCFA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KStream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&lt;String, String&gt; joined =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stream1.join(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stream2,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(left, right) -&gt; left + right,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JoinWindows.of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Duration.ofMinutes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(5))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);</a:t>
            </a:r>
          </a:p>
        </p:txBody>
      </p:sp>
    </p:spTree>
    <p:extLst>
      <p:ext uri="{BB962C8B-B14F-4D97-AF65-F5344CB8AC3E}">
        <p14:creationId xmlns:p14="http://schemas.microsoft.com/office/powerpoint/2010/main" val="12667492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D216E-3365-9A7C-591E-3EE02283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Types of joins for </a:t>
            </a:r>
            <a:r>
              <a:rPr lang="en-GB" dirty="0"/>
              <a:t>Stream-Stream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431D4-98F0-BC31-B34E-99DAC7430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U" dirty="0"/>
              <a:t>Inner</a:t>
            </a:r>
          </a:p>
          <a:p>
            <a:pPr lvl="1"/>
            <a:r>
              <a:rPr lang="en-RU" dirty="0"/>
              <a:t>Produces result only if have left and right</a:t>
            </a:r>
          </a:p>
          <a:p>
            <a:r>
              <a:rPr lang="en-RU" dirty="0"/>
              <a:t>Outer</a:t>
            </a:r>
          </a:p>
          <a:p>
            <a:pPr lvl="1"/>
            <a:r>
              <a:rPr lang="en-RU" dirty="0"/>
              <a:t>Left + Right</a:t>
            </a:r>
          </a:p>
          <a:p>
            <a:pPr lvl="1"/>
            <a:r>
              <a:rPr lang="en-RU" dirty="0"/>
              <a:t>Left + Null</a:t>
            </a:r>
          </a:p>
          <a:p>
            <a:pPr lvl="1"/>
            <a:r>
              <a:rPr lang="en-RU" dirty="0"/>
              <a:t>Null + Right</a:t>
            </a:r>
          </a:p>
          <a:p>
            <a:r>
              <a:rPr lang="en-RU" dirty="0"/>
              <a:t>LeftOuter</a:t>
            </a:r>
          </a:p>
          <a:p>
            <a:pPr lvl="1"/>
            <a:r>
              <a:rPr lang="en-RU" dirty="0"/>
              <a:t>Left + Right</a:t>
            </a:r>
          </a:p>
          <a:p>
            <a:pPr lvl="1"/>
            <a:r>
              <a:rPr lang="en-RU" dirty="0"/>
              <a:t>Left + Null</a:t>
            </a:r>
          </a:p>
          <a:p>
            <a:pPr lvl="1"/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231630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D216E-3365-9A7C-591E-3EE02283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Types of joins for </a:t>
            </a:r>
            <a:r>
              <a:rPr lang="en-GB" dirty="0"/>
              <a:t>Stream-Table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431D4-98F0-BC31-B34E-99DAC7430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RU" dirty="0"/>
              <a:t>No windowed (Table query is immediate)</a:t>
            </a:r>
          </a:p>
          <a:p>
            <a:r>
              <a:rPr lang="en-RU" dirty="0"/>
              <a:t>Inner</a:t>
            </a:r>
          </a:p>
          <a:p>
            <a:pPr lvl="1"/>
            <a:r>
              <a:rPr lang="en-RU" dirty="0"/>
              <a:t>Produces result only if have left and right</a:t>
            </a:r>
          </a:p>
          <a:p>
            <a:r>
              <a:rPr lang="en-RU" dirty="0"/>
              <a:t>LeftOuter</a:t>
            </a:r>
          </a:p>
          <a:p>
            <a:pPr lvl="1"/>
            <a:r>
              <a:rPr lang="en-RU" dirty="0"/>
              <a:t>Left + Right</a:t>
            </a:r>
          </a:p>
          <a:p>
            <a:pPr lvl="1"/>
            <a:r>
              <a:rPr lang="en-RU" dirty="0"/>
              <a:t>Left + Null</a:t>
            </a:r>
          </a:p>
          <a:p>
            <a:r>
              <a:rPr lang="en-GB" dirty="0"/>
              <a:t>Stream always Left (triggers event output)</a:t>
            </a:r>
          </a:p>
          <a:p>
            <a:r>
              <a:rPr lang="en-GB" dirty="0" err="1"/>
              <a:t>KTables</a:t>
            </a:r>
            <a:r>
              <a:rPr lang="en-GB" dirty="0"/>
              <a:t> are timestamp driven</a:t>
            </a:r>
          </a:p>
          <a:p>
            <a:r>
              <a:rPr lang="en-GB" dirty="0" err="1"/>
              <a:t>GlobalKTables</a:t>
            </a:r>
            <a:r>
              <a:rPr lang="en-GB" dirty="0"/>
              <a:t> are bootstrapped (read all at start)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851405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D216E-3365-9A7C-591E-3EE02283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Types of joins for </a:t>
            </a:r>
            <a:r>
              <a:rPr lang="en-GB" dirty="0"/>
              <a:t>Table-Table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431D4-98F0-BC31-B34E-99DAC7430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RU" dirty="0"/>
              <a:t>No windowed (Table query is immediate)</a:t>
            </a:r>
          </a:p>
          <a:p>
            <a:r>
              <a:rPr lang="en-RU" dirty="0"/>
              <a:t>The result is </a:t>
            </a:r>
            <a:r>
              <a:rPr lang="en-RU" b="1" i="1" dirty="0"/>
              <a:t>KTable</a:t>
            </a:r>
            <a:r>
              <a:rPr lang="en-RU" dirty="0"/>
              <a:t>, not K</a:t>
            </a:r>
            <a:r>
              <a:rPr lang="en-GB" dirty="0"/>
              <a:t>s</a:t>
            </a:r>
            <a:r>
              <a:rPr lang="en-RU" dirty="0"/>
              <a:t>tream</a:t>
            </a:r>
          </a:p>
          <a:p>
            <a:r>
              <a:rPr lang="en-RU" dirty="0"/>
              <a:t>Types:</a:t>
            </a:r>
          </a:p>
          <a:p>
            <a:pPr lvl="1"/>
            <a:r>
              <a:rPr lang="en-RU" dirty="0"/>
              <a:t>Inner</a:t>
            </a:r>
          </a:p>
          <a:p>
            <a:pPr lvl="1"/>
            <a:r>
              <a:rPr lang="en-RU" dirty="0"/>
              <a:t>Outer</a:t>
            </a:r>
          </a:p>
          <a:p>
            <a:pPr lvl="1"/>
            <a:r>
              <a:rPr lang="en-RU" dirty="0"/>
              <a:t>LeftOuter</a:t>
            </a:r>
          </a:p>
        </p:txBody>
      </p:sp>
    </p:spTree>
    <p:extLst>
      <p:ext uri="{BB962C8B-B14F-4D97-AF65-F5344CB8AC3E}">
        <p14:creationId xmlns:p14="http://schemas.microsoft.com/office/powerpoint/2010/main" val="41837352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98AF-F0C1-7F46-7044-BA54F9E6C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Stateful operations (aggregations)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BDF20-05B3-FC8D-73B2-686B06C49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Operations that maintaining state</a:t>
            </a:r>
          </a:p>
          <a:p>
            <a:r>
              <a:rPr lang="en-GB" dirty="0"/>
              <a:t>Need info from previous events</a:t>
            </a:r>
          </a:p>
          <a:p>
            <a:r>
              <a:rPr lang="en-GB" dirty="0"/>
              <a:t>Like tables they need Materialized</a:t>
            </a:r>
          </a:p>
          <a:p>
            <a:r>
              <a:rPr lang="en-GB" dirty="0"/>
              <a:t>Operations:</a:t>
            </a:r>
          </a:p>
          <a:p>
            <a:pPr lvl="1"/>
            <a:r>
              <a:rPr lang="en-GB" dirty="0"/>
              <a:t>aggregate</a:t>
            </a:r>
          </a:p>
          <a:p>
            <a:pPr lvl="1"/>
            <a:r>
              <a:rPr lang="en-RU" dirty="0"/>
              <a:t>reduce</a:t>
            </a:r>
          </a:p>
          <a:p>
            <a:pPr lvl="1"/>
            <a:r>
              <a:rPr lang="en-RU" dirty="0"/>
              <a:t>count</a:t>
            </a:r>
          </a:p>
          <a:p>
            <a:pPr lvl="1"/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2415478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98AF-F0C1-7F46-7044-BA54F9E6C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Stateful operations (aggregations)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BDF20-05B3-FC8D-73B2-686B06C49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stream.groupByKey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().count();</a:t>
            </a:r>
          </a:p>
          <a:p>
            <a:pPr marL="0" indent="0">
              <a:buNone/>
            </a:pP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stream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.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groupByKey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.aggregate(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() -&gt; 0L, 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(key, value,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agg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) -&gt;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agg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+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value.length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);</a:t>
            </a:r>
          </a:p>
          <a:p>
            <a:pPr marL="0" indent="0">
              <a:buNone/>
            </a:pP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0672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4C27D-125B-6C38-1562-0FAA2A6F7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Aggregation windowing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006DA-18AF-C4BC-1572-AA322E8C8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Windowing is a technique to group records based on time intervals.</a:t>
            </a:r>
          </a:p>
          <a:p>
            <a:r>
              <a:rPr lang="en-GB" dirty="0"/>
              <a:t>Kinds:</a:t>
            </a:r>
          </a:p>
          <a:p>
            <a:pPr lvl="1"/>
            <a:r>
              <a:rPr lang="en-GB" dirty="0"/>
              <a:t>Tumbling</a:t>
            </a:r>
          </a:p>
          <a:p>
            <a:pPr lvl="1"/>
            <a:r>
              <a:rPr lang="en-GB" dirty="0"/>
              <a:t>Hopping</a:t>
            </a:r>
          </a:p>
          <a:p>
            <a:pPr lvl="1"/>
            <a:r>
              <a:rPr lang="en-GB" dirty="0"/>
              <a:t>Sliding</a:t>
            </a:r>
          </a:p>
          <a:p>
            <a:pPr lvl="1"/>
            <a:r>
              <a:rPr lang="en-GB" dirty="0"/>
              <a:t>Session</a:t>
            </a:r>
          </a:p>
          <a:p>
            <a:pPr lvl="1"/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279693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98AF-F0C1-7F46-7044-BA54F9E6C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Stateful operations (aggregations)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BDF20-05B3-FC8D-73B2-686B06C49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stream.groupByKey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().count();</a:t>
            </a:r>
          </a:p>
          <a:p>
            <a:pPr marL="0" indent="0">
              <a:buNone/>
            </a:pP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stream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.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groupByKey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.</a:t>
            </a:r>
            <a:r>
              <a:rPr lang="en-GB" sz="2400" dirty="0" err="1">
                <a:solidFill>
                  <a:schemeClr val="accent3"/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windowedBy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TimeWindows.of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Duration.ofMinutes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(5)))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.aggregate(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() -&gt; 0L, 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(key, value,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agg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) -&gt;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agg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+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value.length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);</a:t>
            </a:r>
          </a:p>
          <a:p>
            <a:pPr marL="0" indent="0">
              <a:buNone/>
            </a:pP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1847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BF5F4D-3868-27C5-CA77-79E1F3B6C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Hopping window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3E535E5-02FD-5AE4-F7D2-3353AA7CC3FB}"/>
              </a:ext>
            </a:extLst>
          </p:cNvPr>
          <p:cNvGrpSpPr/>
          <p:nvPr/>
        </p:nvGrpSpPr>
        <p:grpSpPr>
          <a:xfrm>
            <a:off x="838200" y="2232212"/>
            <a:ext cx="2608729" cy="484094"/>
            <a:chOff x="2460811" y="2138082"/>
            <a:chExt cx="2608729" cy="48409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7EF8DD0-03C8-7609-63F6-0A599F725B01}"/>
                </a:ext>
              </a:extLst>
            </p:cNvPr>
            <p:cNvSpPr/>
            <p:nvPr/>
          </p:nvSpPr>
          <p:spPr>
            <a:xfrm>
              <a:off x="2460811" y="2138082"/>
              <a:ext cx="2608729" cy="4840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dirty="0"/>
                <a:t>10 min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E98C595-2876-3D2E-6396-7ABA9895F48E}"/>
                </a:ext>
              </a:extLst>
            </p:cNvPr>
            <p:cNvCxnSpPr>
              <a:cxnSpLocks/>
            </p:cNvCxnSpPr>
            <p:nvPr/>
          </p:nvCxnSpPr>
          <p:spPr>
            <a:xfrm>
              <a:off x="2460811" y="2514600"/>
              <a:ext cx="2608729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888B58B-F8E8-2EE0-4733-6745D4F1DADB}"/>
              </a:ext>
            </a:extLst>
          </p:cNvPr>
          <p:cNvGrpSpPr/>
          <p:nvPr/>
        </p:nvGrpSpPr>
        <p:grpSpPr>
          <a:xfrm>
            <a:off x="2142564" y="2777378"/>
            <a:ext cx="2608729" cy="484094"/>
            <a:chOff x="2460811" y="2138082"/>
            <a:chExt cx="2608729" cy="48409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C9DB30D-094C-251C-9476-80483AF2B6B3}"/>
                </a:ext>
              </a:extLst>
            </p:cNvPr>
            <p:cNvSpPr/>
            <p:nvPr/>
          </p:nvSpPr>
          <p:spPr>
            <a:xfrm>
              <a:off x="2460811" y="2138082"/>
              <a:ext cx="2608729" cy="4840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dirty="0"/>
                <a:t>10 min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CD47BBB-275F-739A-5B5E-A53202F5D1BB}"/>
                </a:ext>
              </a:extLst>
            </p:cNvPr>
            <p:cNvCxnSpPr>
              <a:cxnSpLocks/>
            </p:cNvCxnSpPr>
            <p:nvPr/>
          </p:nvCxnSpPr>
          <p:spPr>
            <a:xfrm>
              <a:off x="2460811" y="2514600"/>
              <a:ext cx="2608729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94BDA5-A5CF-7F93-D19C-407393A531AC}"/>
              </a:ext>
            </a:extLst>
          </p:cNvPr>
          <p:cNvGrpSpPr/>
          <p:nvPr/>
        </p:nvGrpSpPr>
        <p:grpSpPr>
          <a:xfrm>
            <a:off x="3446928" y="3318902"/>
            <a:ext cx="2608729" cy="484094"/>
            <a:chOff x="2460811" y="2138082"/>
            <a:chExt cx="2608729" cy="48409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1F82C5C-45BD-D85B-9594-A8B190EFAB73}"/>
                </a:ext>
              </a:extLst>
            </p:cNvPr>
            <p:cNvSpPr/>
            <p:nvPr/>
          </p:nvSpPr>
          <p:spPr>
            <a:xfrm>
              <a:off x="2460811" y="2138082"/>
              <a:ext cx="2608729" cy="4840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dirty="0"/>
                <a:t>10 min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1C95E2F-E981-0B09-5362-6C999A70B540}"/>
                </a:ext>
              </a:extLst>
            </p:cNvPr>
            <p:cNvCxnSpPr>
              <a:cxnSpLocks/>
            </p:cNvCxnSpPr>
            <p:nvPr/>
          </p:nvCxnSpPr>
          <p:spPr>
            <a:xfrm>
              <a:off x="2460811" y="2514600"/>
              <a:ext cx="2608729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CB2B647-7951-2C91-2565-DCE764D60983}"/>
              </a:ext>
            </a:extLst>
          </p:cNvPr>
          <p:cNvGrpSpPr/>
          <p:nvPr/>
        </p:nvGrpSpPr>
        <p:grpSpPr>
          <a:xfrm>
            <a:off x="4751292" y="3860426"/>
            <a:ext cx="2608729" cy="484094"/>
            <a:chOff x="2460811" y="2138082"/>
            <a:chExt cx="2608729" cy="48409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E39A462-2487-A78C-1954-D01F72811E20}"/>
                </a:ext>
              </a:extLst>
            </p:cNvPr>
            <p:cNvSpPr/>
            <p:nvPr/>
          </p:nvSpPr>
          <p:spPr>
            <a:xfrm>
              <a:off x="2460811" y="2138082"/>
              <a:ext cx="2608729" cy="4840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dirty="0"/>
                <a:t>10 min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1780F6E-76F8-10CC-2BFA-78EAE596ED48}"/>
                </a:ext>
              </a:extLst>
            </p:cNvPr>
            <p:cNvCxnSpPr>
              <a:cxnSpLocks/>
            </p:cNvCxnSpPr>
            <p:nvPr/>
          </p:nvCxnSpPr>
          <p:spPr>
            <a:xfrm>
              <a:off x="2460811" y="2514600"/>
              <a:ext cx="2608729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C77A2D6-920A-1347-4E8F-4854EFB01F0A}"/>
              </a:ext>
            </a:extLst>
          </p:cNvPr>
          <p:cNvGrpSpPr/>
          <p:nvPr/>
        </p:nvGrpSpPr>
        <p:grpSpPr>
          <a:xfrm>
            <a:off x="6055656" y="4401950"/>
            <a:ext cx="2608729" cy="484094"/>
            <a:chOff x="2460811" y="2138082"/>
            <a:chExt cx="2608729" cy="48409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C3D897A-072A-AA90-393F-C4998709DA2E}"/>
                </a:ext>
              </a:extLst>
            </p:cNvPr>
            <p:cNvSpPr/>
            <p:nvPr/>
          </p:nvSpPr>
          <p:spPr>
            <a:xfrm>
              <a:off x="2460811" y="2138082"/>
              <a:ext cx="2608729" cy="4840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dirty="0"/>
                <a:t>10 min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73AEF79-D334-DA9E-B18E-58770EDBA803}"/>
                </a:ext>
              </a:extLst>
            </p:cNvPr>
            <p:cNvCxnSpPr>
              <a:cxnSpLocks/>
            </p:cNvCxnSpPr>
            <p:nvPr/>
          </p:nvCxnSpPr>
          <p:spPr>
            <a:xfrm>
              <a:off x="2460811" y="2514600"/>
              <a:ext cx="2608729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760B914-DAC4-182F-60A0-36CD773E8094}"/>
              </a:ext>
            </a:extLst>
          </p:cNvPr>
          <p:cNvGrpSpPr/>
          <p:nvPr/>
        </p:nvGrpSpPr>
        <p:grpSpPr>
          <a:xfrm>
            <a:off x="7360020" y="4943474"/>
            <a:ext cx="2608729" cy="484094"/>
            <a:chOff x="2460811" y="2138082"/>
            <a:chExt cx="2608729" cy="48409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F2611E0-87FF-3695-0695-2B2265C85DD6}"/>
                </a:ext>
              </a:extLst>
            </p:cNvPr>
            <p:cNvSpPr/>
            <p:nvPr/>
          </p:nvSpPr>
          <p:spPr>
            <a:xfrm>
              <a:off x="2460811" y="2138082"/>
              <a:ext cx="2608729" cy="4840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dirty="0"/>
                <a:t>10 min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6DD1649-A94B-BA37-6FD3-72B5547BDF38}"/>
                </a:ext>
              </a:extLst>
            </p:cNvPr>
            <p:cNvCxnSpPr>
              <a:cxnSpLocks/>
            </p:cNvCxnSpPr>
            <p:nvPr/>
          </p:nvCxnSpPr>
          <p:spPr>
            <a:xfrm>
              <a:off x="2460811" y="2514600"/>
              <a:ext cx="2608729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B22A25E-2815-D607-33F8-A26E7749C4BF}"/>
              </a:ext>
            </a:extLst>
          </p:cNvPr>
          <p:cNvGrpSpPr/>
          <p:nvPr/>
        </p:nvGrpSpPr>
        <p:grpSpPr>
          <a:xfrm>
            <a:off x="8664384" y="5484998"/>
            <a:ext cx="2608729" cy="484094"/>
            <a:chOff x="2460811" y="2138082"/>
            <a:chExt cx="2608729" cy="484094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44B17B8-D015-CC3C-255A-8CA7694B157D}"/>
                </a:ext>
              </a:extLst>
            </p:cNvPr>
            <p:cNvSpPr/>
            <p:nvPr/>
          </p:nvSpPr>
          <p:spPr>
            <a:xfrm>
              <a:off x="2460811" y="2138082"/>
              <a:ext cx="2608729" cy="4840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dirty="0"/>
                <a:t>10 min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BBDC1BD-68E9-7E5B-FD60-3F61CBA4F21C}"/>
                </a:ext>
              </a:extLst>
            </p:cNvPr>
            <p:cNvCxnSpPr>
              <a:cxnSpLocks/>
            </p:cNvCxnSpPr>
            <p:nvPr/>
          </p:nvCxnSpPr>
          <p:spPr>
            <a:xfrm>
              <a:off x="2460811" y="2514600"/>
              <a:ext cx="2608729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B3FC077-ADEB-5EAC-F5AC-6A4A147BCDDC}"/>
              </a:ext>
            </a:extLst>
          </p:cNvPr>
          <p:cNvCxnSpPr>
            <a:cxnSpLocks/>
          </p:cNvCxnSpPr>
          <p:nvPr/>
        </p:nvCxnSpPr>
        <p:spPr>
          <a:xfrm>
            <a:off x="2142564" y="3471303"/>
            <a:ext cx="1304364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E35E708-B5C0-9362-CC39-3AF2C8526B14}"/>
              </a:ext>
            </a:extLst>
          </p:cNvPr>
          <p:cNvSpPr txBox="1"/>
          <p:nvPr/>
        </p:nvSpPr>
        <p:spPr>
          <a:xfrm>
            <a:off x="2312979" y="3456142"/>
            <a:ext cx="9635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U" dirty="0"/>
              <a:t>advance</a:t>
            </a:r>
            <a:br>
              <a:rPr lang="en-RU" dirty="0"/>
            </a:br>
            <a:r>
              <a:rPr lang="en-RU" dirty="0"/>
              <a:t>5 min</a:t>
            </a:r>
          </a:p>
        </p:txBody>
      </p:sp>
    </p:spTree>
    <p:extLst>
      <p:ext uri="{BB962C8B-B14F-4D97-AF65-F5344CB8AC3E}">
        <p14:creationId xmlns:p14="http://schemas.microsoft.com/office/powerpoint/2010/main" val="24108532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F3E97-CCA6-4B8B-F46F-8533A9666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Hopping window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8E3B64-0FFE-1FBD-2655-1D460B8C46CF}"/>
              </a:ext>
            </a:extLst>
          </p:cNvPr>
          <p:cNvSpPr/>
          <p:nvPr/>
        </p:nvSpPr>
        <p:spPr>
          <a:xfrm>
            <a:off x="2848304" y="3626126"/>
            <a:ext cx="6495392" cy="1074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A1464D-3CB4-BC83-D7C4-5DA015D1E4D9}"/>
              </a:ext>
            </a:extLst>
          </p:cNvPr>
          <p:cNvSpPr/>
          <p:nvPr/>
        </p:nvSpPr>
        <p:spPr>
          <a:xfrm>
            <a:off x="313059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5F2687B-4B9F-93FC-BB6A-1DD15BF1C452}"/>
              </a:ext>
            </a:extLst>
          </p:cNvPr>
          <p:cNvSpPr/>
          <p:nvPr/>
        </p:nvSpPr>
        <p:spPr>
          <a:xfrm>
            <a:off x="3635472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E5B66A-7977-1799-12A9-28C4B7D33381}"/>
              </a:ext>
            </a:extLst>
          </p:cNvPr>
          <p:cNvSpPr/>
          <p:nvPr/>
        </p:nvSpPr>
        <p:spPr>
          <a:xfrm>
            <a:off x="4140353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FE9E54-57D8-0AB1-6956-01F129D3820E}"/>
              </a:ext>
            </a:extLst>
          </p:cNvPr>
          <p:cNvSpPr/>
          <p:nvPr/>
        </p:nvSpPr>
        <p:spPr>
          <a:xfrm>
            <a:off x="4645234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C990B2-201F-572D-19B7-2F26C646CD76}"/>
              </a:ext>
            </a:extLst>
          </p:cNvPr>
          <p:cNvSpPr/>
          <p:nvPr/>
        </p:nvSpPr>
        <p:spPr>
          <a:xfrm>
            <a:off x="5150115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74CFA9-1128-0FF5-2264-3B16DDDDD76A}"/>
              </a:ext>
            </a:extLst>
          </p:cNvPr>
          <p:cNvSpPr/>
          <p:nvPr/>
        </p:nvSpPr>
        <p:spPr>
          <a:xfrm>
            <a:off x="5654996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DDFF3E3-671E-4D71-1D66-53442290DE8D}"/>
              </a:ext>
            </a:extLst>
          </p:cNvPr>
          <p:cNvSpPr/>
          <p:nvPr/>
        </p:nvSpPr>
        <p:spPr>
          <a:xfrm>
            <a:off x="6159877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489A235-33F3-9A0F-DD52-24BAD4FC4261}"/>
              </a:ext>
            </a:extLst>
          </p:cNvPr>
          <p:cNvSpPr/>
          <p:nvPr/>
        </p:nvSpPr>
        <p:spPr>
          <a:xfrm>
            <a:off x="6664758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04DFFC4-E995-92B2-99E6-A516036647A3}"/>
              </a:ext>
            </a:extLst>
          </p:cNvPr>
          <p:cNvSpPr/>
          <p:nvPr/>
        </p:nvSpPr>
        <p:spPr>
          <a:xfrm>
            <a:off x="716963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D8F29DE-5366-6334-BE30-FB40714736E3}"/>
              </a:ext>
            </a:extLst>
          </p:cNvPr>
          <p:cNvSpPr/>
          <p:nvPr/>
        </p:nvSpPr>
        <p:spPr>
          <a:xfrm>
            <a:off x="7674520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A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EF5268A-DD85-D0E0-52F7-33523C995258}"/>
              </a:ext>
            </a:extLst>
          </p:cNvPr>
          <p:cNvSpPr/>
          <p:nvPr/>
        </p:nvSpPr>
        <p:spPr>
          <a:xfrm>
            <a:off x="817940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6AE8B64-EB33-894B-7CF3-603E1D51E1CB}"/>
              </a:ext>
            </a:extLst>
          </p:cNvPr>
          <p:cNvSpPr/>
          <p:nvPr/>
        </p:nvSpPr>
        <p:spPr>
          <a:xfrm>
            <a:off x="868549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C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7D10C1B6-5D28-2307-03E8-1D8B4544D70C}"/>
              </a:ext>
            </a:extLst>
          </p:cNvPr>
          <p:cNvSpPr/>
          <p:nvPr/>
        </p:nvSpPr>
        <p:spPr>
          <a:xfrm>
            <a:off x="-5465718" y="3514972"/>
            <a:ext cx="20559711" cy="1292772"/>
          </a:xfrm>
          <a:custGeom>
            <a:avLst/>
            <a:gdLst>
              <a:gd name="connsiteX0" fmla="*/ 8519973 w 20559711"/>
              <a:gd name="connsiteY0" fmla="*/ 174898 h 1292772"/>
              <a:gd name="connsiteX1" fmla="*/ 8519973 w 20559711"/>
              <a:gd name="connsiteY1" fmla="*/ 1117873 h 1292772"/>
              <a:gd name="connsiteX2" fmla="*/ 11044377 w 20559711"/>
              <a:gd name="connsiteY2" fmla="*/ 1117873 h 1292772"/>
              <a:gd name="connsiteX3" fmla="*/ 11044377 w 20559711"/>
              <a:gd name="connsiteY3" fmla="*/ 174898 h 1292772"/>
              <a:gd name="connsiteX4" fmla="*/ 0 w 20559711"/>
              <a:gd name="connsiteY4" fmla="*/ 0 h 1292772"/>
              <a:gd name="connsiteX5" fmla="*/ 20559711 w 20559711"/>
              <a:gd name="connsiteY5" fmla="*/ 0 h 1292772"/>
              <a:gd name="connsiteX6" fmla="*/ 20559711 w 20559711"/>
              <a:gd name="connsiteY6" fmla="*/ 1292772 h 1292772"/>
              <a:gd name="connsiteX7" fmla="*/ 0 w 20559711"/>
              <a:gd name="connsiteY7" fmla="*/ 1292772 h 129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559711" h="1292772">
                <a:moveTo>
                  <a:pt x="8519973" y="174898"/>
                </a:moveTo>
                <a:lnTo>
                  <a:pt x="8519973" y="1117873"/>
                </a:lnTo>
                <a:lnTo>
                  <a:pt x="11044377" y="1117873"/>
                </a:lnTo>
                <a:lnTo>
                  <a:pt x="11044377" y="174898"/>
                </a:lnTo>
                <a:close/>
                <a:moveTo>
                  <a:pt x="0" y="0"/>
                </a:moveTo>
                <a:lnTo>
                  <a:pt x="20559711" y="0"/>
                </a:lnTo>
                <a:lnTo>
                  <a:pt x="20559711" y="1292772"/>
                </a:lnTo>
                <a:lnTo>
                  <a:pt x="0" y="1292772"/>
                </a:lnTo>
                <a:close/>
              </a:path>
            </a:pathLst>
          </a:custGeom>
          <a:solidFill>
            <a:schemeClr val="accent1">
              <a:alpha val="8006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86454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F3E97-CCA6-4B8B-F46F-8533A9666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Hopping window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8E3B64-0FFE-1FBD-2655-1D460B8C46CF}"/>
              </a:ext>
            </a:extLst>
          </p:cNvPr>
          <p:cNvSpPr/>
          <p:nvPr/>
        </p:nvSpPr>
        <p:spPr>
          <a:xfrm>
            <a:off x="2848304" y="3626126"/>
            <a:ext cx="6495392" cy="1074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A1464D-3CB4-BC83-D7C4-5DA015D1E4D9}"/>
              </a:ext>
            </a:extLst>
          </p:cNvPr>
          <p:cNvSpPr/>
          <p:nvPr/>
        </p:nvSpPr>
        <p:spPr>
          <a:xfrm>
            <a:off x="313059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5F2687B-4B9F-93FC-BB6A-1DD15BF1C452}"/>
              </a:ext>
            </a:extLst>
          </p:cNvPr>
          <p:cNvSpPr/>
          <p:nvPr/>
        </p:nvSpPr>
        <p:spPr>
          <a:xfrm>
            <a:off x="3635472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E5B66A-7977-1799-12A9-28C4B7D33381}"/>
              </a:ext>
            </a:extLst>
          </p:cNvPr>
          <p:cNvSpPr/>
          <p:nvPr/>
        </p:nvSpPr>
        <p:spPr>
          <a:xfrm>
            <a:off x="4140353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FE9E54-57D8-0AB1-6956-01F129D3820E}"/>
              </a:ext>
            </a:extLst>
          </p:cNvPr>
          <p:cNvSpPr/>
          <p:nvPr/>
        </p:nvSpPr>
        <p:spPr>
          <a:xfrm>
            <a:off x="4645234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C990B2-201F-572D-19B7-2F26C646CD76}"/>
              </a:ext>
            </a:extLst>
          </p:cNvPr>
          <p:cNvSpPr/>
          <p:nvPr/>
        </p:nvSpPr>
        <p:spPr>
          <a:xfrm>
            <a:off x="5150115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74CFA9-1128-0FF5-2264-3B16DDDDD76A}"/>
              </a:ext>
            </a:extLst>
          </p:cNvPr>
          <p:cNvSpPr/>
          <p:nvPr/>
        </p:nvSpPr>
        <p:spPr>
          <a:xfrm>
            <a:off x="5654996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DDFF3E3-671E-4D71-1D66-53442290DE8D}"/>
              </a:ext>
            </a:extLst>
          </p:cNvPr>
          <p:cNvSpPr/>
          <p:nvPr/>
        </p:nvSpPr>
        <p:spPr>
          <a:xfrm>
            <a:off x="6159877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489A235-33F3-9A0F-DD52-24BAD4FC4261}"/>
              </a:ext>
            </a:extLst>
          </p:cNvPr>
          <p:cNvSpPr/>
          <p:nvPr/>
        </p:nvSpPr>
        <p:spPr>
          <a:xfrm>
            <a:off x="6664758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04DFFC4-E995-92B2-99E6-A516036647A3}"/>
              </a:ext>
            </a:extLst>
          </p:cNvPr>
          <p:cNvSpPr/>
          <p:nvPr/>
        </p:nvSpPr>
        <p:spPr>
          <a:xfrm>
            <a:off x="716963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D8F29DE-5366-6334-BE30-FB40714736E3}"/>
              </a:ext>
            </a:extLst>
          </p:cNvPr>
          <p:cNvSpPr/>
          <p:nvPr/>
        </p:nvSpPr>
        <p:spPr>
          <a:xfrm>
            <a:off x="7674520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A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EF5268A-DD85-D0E0-52F7-33523C995258}"/>
              </a:ext>
            </a:extLst>
          </p:cNvPr>
          <p:cNvSpPr/>
          <p:nvPr/>
        </p:nvSpPr>
        <p:spPr>
          <a:xfrm>
            <a:off x="817940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6AE8B64-EB33-894B-7CF3-603E1D51E1CB}"/>
              </a:ext>
            </a:extLst>
          </p:cNvPr>
          <p:cNvSpPr/>
          <p:nvPr/>
        </p:nvSpPr>
        <p:spPr>
          <a:xfrm>
            <a:off x="868549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C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7D10C1B6-5D28-2307-03E8-1D8B4544D70C}"/>
              </a:ext>
            </a:extLst>
          </p:cNvPr>
          <p:cNvSpPr/>
          <p:nvPr/>
        </p:nvSpPr>
        <p:spPr>
          <a:xfrm>
            <a:off x="-4455956" y="3514972"/>
            <a:ext cx="20559711" cy="1292772"/>
          </a:xfrm>
          <a:custGeom>
            <a:avLst/>
            <a:gdLst>
              <a:gd name="connsiteX0" fmla="*/ 8519973 w 20559711"/>
              <a:gd name="connsiteY0" fmla="*/ 174898 h 1292772"/>
              <a:gd name="connsiteX1" fmla="*/ 8519973 w 20559711"/>
              <a:gd name="connsiteY1" fmla="*/ 1117873 h 1292772"/>
              <a:gd name="connsiteX2" fmla="*/ 11044377 w 20559711"/>
              <a:gd name="connsiteY2" fmla="*/ 1117873 h 1292772"/>
              <a:gd name="connsiteX3" fmla="*/ 11044377 w 20559711"/>
              <a:gd name="connsiteY3" fmla="*/ 174898 h 1292772"/>
              <a:gd name="connsiteX4" fmla="*/ 0 w 20559711"/>
              <a:gd name="connsiteY4" fmla="*/ 0 h 1292772"/>
              <a:gd name="connsiteX5" fmla="*/ 20559711 w 20559711"/>
              <a:gd name="connsiteY5" fmla="*/ 0 h 1292772"/>
              <a:gd name="connsiteX6" fmla="*/ 20559711 w 20559711"/>
              <a:gd name="connsiteY6" fmla="*/ 1292772 h 1292772"/>
              <a:gd name="connsiteX7" fmla="*/ 0 w 20559711"/>
              <a:gd name="connsiteY7" fmla="*/ 1292772 h 129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559711" h="1292772">
                <a:moveTo>
                  <a:pt x="8519973" y="174898"/>
                </a:moveTo>
                <a:lnTo>
                  <a:pt x="8519973" y="1117873"/>
                </a:lnTo>
                <a:lnTo>
                  <a:pt x="11044377" y="1117873"/>
                </a:lnTo>
                <a:lnTo>
                  <a:pt x="11044377" y="174898"/>
                </a:lnTo>
                <a:close/>
                <a:moveTo>
                  <a:pt x="0" y="0"/>
                </a:moveTo>
                <a:lnTo>
                  <a:pt x="20559711" y="0"/>
                </a:lnTo>
                <a:lnTo>
                  <a:pt x="20559711" y="1292772"/>
                </a:lnTo>
                <a:lnTo>
                  <a:pt x="0" y="1292772"/>
                </a:lnTo>
                <a:close/>
              </a:path>
            </a:pathLst>
          </a:custGeom>
          <a:solidFill>
            <a:schemeClr val="accent1">
              <a:alpha val="8006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11022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F3E97-CCA6-4B8B-F46F-8533A9666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Hopping window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8E3B64-0FFE-1FBD-2655-1D460B8C46CF}"/>
              </a:ext>
            </a:extLst>
          </p:cNvPr>
          <p:cNvSpPr/>
          <p:nvPr/>
        </p:nvSpPr>
        <p:spPr>
          <a:xfrm>
            <a:off x="2848304" y="3626126"/>
            <a:ext cx="6495392" cy="1074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A1464D-3CB4-BC83-D7C4-5DA015D1E4D9}"/>
              </a:ext>
            </a:extLst>
          </p:cNvPr>
          <p:cNvSpPr/>
          <p:nvPr/>
        </p:nvSpPr>
        <p:spPr>
          <a:xfrm>
            <a:off x="313059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5F2687B-4B9F-93FC-BB6A-1DD15BF1C452}"/>
              </a:ext>
            </a:extLst>
          </p:cNvPr>
          <p:cNvSpPr/>
          <p:nvPr/>
        </p:nvSpPr>
        <p:spPr>
          <a:xfrm>
            <a:off x="3635472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E5B66A-7977-1799-12A9-28C4B7D33381}"/>
              </a:ext>
            </a:extLst>
          </p:cNvPr>
          <p:cNvSpPr/>
          <p:nvPr/>
        </p:nvSpPr>
        <p:spPr>
          <a:xfrm>
            <a:off x="4140353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FE9E54-57D8-0AB1-6956-01F129D3820E}"/>
              </a:ext>
            </a:extLst>
          </p:cNvPr>
          <p:cNvSpPr/>
          <p:nvPr/>
        </p:nvSpPr>
        <p:spPr>
          <a:xfrm>
            <a:off x="4645234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C990B2-201F-572D-19B7-2F26C646CD76}"/>
              </a:ext>
            </a:extLst>
          </p:cNvPr>
          <p:cNvSpPr/>
          <p:nvPr/>
        </p:nvSpPr>
        <p:spPr>
          <a:xfrm>
            <a:off x="5150115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74CFA9-1128-0FF5-2264-3B16DDDDD76A}"/>
              </a:ext>
            </a:extLst>
          </p:cNvPr>
          <p:cNvSpPr/>
          <p:nvPr/>
        </p:nvSpPr>
        <p:spPr>
          <a:xfrm>
            <a:off x="5654996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DDFF3E3-671E-4D71-1D66-53442290DE8D}"/>
              </a:ext>
            </a:extLst>
          </p:cNvPr>
          <p:cNvSpPr/>
          <p:nvPr/>
        </p:nvSpPr>
        <p:spPr>
          <a:xfrm>
            <a:off x="6159877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489A235-33F3-9A0F-DD52-24BAD4FC4261}"/>
              </a:ext>
            </a:extLst>
          </p:cNvPr>
          <p:cNvSpPr/>
          <p:nvPr/>
        </p:nvSpPr>
        <p:spPr>
          <a:xfrm>
            <a:off x="6664758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04DFFC4-E995-92B2-99E6-A516036647A3}"/>
              </a:ext>
            </a:extLst>
          </p:cNvPr>
          <p:cNvSpPr/>
          <p:nvPr/>
        </p:nvSpPr>
        <p:spPr>
          <a:xfrm>
            <a:off x="716963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D8F29DE-5366-6334-BE30-FB40714736E3}"/>
              </a:ext>
            </a:extLst>
          </p:cNvPr>
          <p:cNvSpPr/>
          <p:nvPr/>
        </p:nvSpPr>
        <p:spPr>
          <a:xfrm>
            <a:off x="7674520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A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EF5268A-DD85-D0E0-52F7-33523C995258}"/>
              </a:ext>
            </a:extLst>
          </p:cNvPr>
          <p:cNvSpPr/>
          <p:nvPr/>
        </p:nvSpPr>
        <p:spPr>
          <a:xfrm>
            <a:off x="817940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6AE8B64-EB33-894B-7CF3-603E1D51E1CB}"/>
              </a:ext>
            </a:extLst>
          </p:cNvPr>
          <p:cNvSpPr/>
          <p:nvPr/>
        </p:nvSpPr>
        <p:spPr>
          <a:xfrm>
            <a:off x="868549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C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7D10C1B6-5D28-2307-03E8-1D8B4544D70C}"/>
              </a:ext>
            </a:extLst>
          </p:cNvPr>
          <p:cNvSpPr/>
          <p:nvPr/>
        </p:nvSpPr>
        <p:spPr>
          <a:xfrm>
            <a:off x="-3446194" y="3514972"/>
            <a:ext cx="20559711" cy="1292772"/>
          </a:xfrm>
          <a:custGeom>
            <a:avLst/>
            <a:gdLst>
              <a:gd name="connsiteX0" fmla="*/ 8519973 w 20559711"/>
              <a:gd name="connsiteY0" fmla="*/ 174898 h 1292772"/>
              <a:gd name="connsiteX1" fmla="*/ 8519973 w 20559711"/>
              <a:gd name="connsiteY1" fmla="*/ 1117873 h 1292772"/>
              <a:gd name="connsiteX2" fmla="*/ 11044377 w 20559711"/>
              <a:gd name="connsiteY2" fmla="*/ 1117873 h 1292772"/>
              <a:gd name="connsiteX3" fmla="*/ 11044377 w 20559711"/>
              <a:gd name="connsiteY3" fmla="*/ 174898 h 1292772"/>
              <a:gd name="connsiteX4" fmla="*/ 0 w 20559711"/>
              <a:gd name="connsiteY4" fmla="*/ 0 h 1292772"/>
              <a:gd name="connsiteX5" fmla="*/ 20559711 w 20559711"/>
              <a:gd name="connsiteY5" fmla="*/ 0 h 1292772"/>
              <a:gd name="connsiteX6" fmla="*/ 20559711 w 20559711"/>
              <a:gd name="connsiteY6" fmla="*/ 1292772 h 1292772"/>
              <a:gd name="connsiteX7" fmla="*/ 0 w 20559711"/>
              <a:gd name="connsiteY7" fmla="*/ 1292772 h 129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559711" h="1292772">
                <a:moveTo>
                  <a:pt x="8519973" y="174898"/>
                </a:moveTo>
                <a:lnTo>
                  <a:pt x="8519973" y="1117873"/>
                </a:lnTo>
                <a:lnTo>
                  <a:pt x="11044377" y="1117873"/>
                </a:lnTo>
                <a:lnTo>
                  <a:pt x="11044377" y="174898"/>
                </a:lnTo>
                <a:close/>
                <a:moveTo>
                  <a:pt x="0" y="0"/>
                </a:moveTo>
                <a:lnTo>
                  <a:pt x="20559711" y="0"/>
                </a:lnTo>
                <a:lnTo>
                  <a:pt x="20559711" y="1292772"/>
                </a:lnTo>
                <a:lnTo>
                  <a:pt x="0" y="1292772"/>
                </a:lnTo>
                <a:close/>
              </a:path>
            </a:pathLst>
          </a:custGeom>
          <a:solidFill>
            <a:schemeClr val="accent1">
              <a:alpha val="8006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2504800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F3E97-CCA6-4B8B-F46F-8533A9666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Hopping window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8E3B64-0FFE-1FBD-2655-1D460B8C46CF}"/>
              </a:ext>
            </a:extLst>
          </p:cNvPr>
          <p:cNvSpPr/>
          <p:nvPr/>
        </p:nvSpPr>
        <p:spPr>
          <a:xfrm>
            <a:off x="2848304" y="3626126"/>
            <a:ext cx="6495392" cy="1074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A1464D-3CB4-BC83-D7C4-5DA015D1E4D9}"/>
              </a:ext>
            </a:extLst>
          </p:cNvPr>
          <p:cNvSpPr/>
          <p:nvPr/>
        </p:nvSpPr>
        <p:spPr>
          <a:xfrm>
            <a:off x="313059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5F2687B-4B9F-93FC-BB6A-1DD15BF1C452}"/>
              </a:ext>
            </a:extLst>
          </p:cNvPr>
          <p:cNvSpPr/>
          <p:nvPr/>
        </p:nvSpPr>
        <p:spPr>
          <a:xfrm>
            <a:off x="3635472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E5B66A-7977-1799-12A9-28C4B7D33381}"/>
              </a:ext>
            </a:extLst>
          </p:cNvPr>
          <p:cNvSpPr/>
          <p:nvPr/>
        </p:nvSpPr>
        <p:spPr>
          <a:xfrm>
            <a:off x="4140353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FE9E54-57D8-0AB1-6956-01F129D3820E}"/>
              </a:ext>
            </a:extLst>
          </p:cNvPr>
          <p:cNvSpPr/>
          <p:nvPr/>
        </p:nvSpPr>
        <p:spPr>
          <a:xfrm>
            <a:off x="4645234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C990B2-201F-572D-19B7-2F26C646CD76}"/>
              </a:ext>
            </a:extLst>
          </p:cNvPr>
          <p:cNvSpPr/>
          <p:nvPr/>
        </p:nvSpPr>
        <p:spPr>
          <a:xfrm>
            <a:off x="5150115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74CFA9-1128-0FF5-2264-3B16DDDDD76A}"/>
              </a:ext>
            </a:extLst>
          </p:cNvPr>
          <p:cNvSpPr/>
          <p:nvPr/>
        </p:nvSpPr>
        <p:spPr>
          <a:xfrm>
            <a:off x="5654996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DDFF3E3-671E-4D71-1D66-53442290DE8D}"/>
              </a:ext>
            </a:extLst>
          </p:cNvPr>
          <p:cNvSpPr/>
          <p:nvPr/>
        </p:nvSpPr>
        <p:spPr>
          <a:xfrm>
            <a:off x="6159877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489A235-33F3-9A0F-DD52-24BAD4FC4261}"/>
              </a:ext>
            </a:extLst>
          </p:cNvPr>
          <p:cNvSpPr/>
          <p:nvPr/>
        </p:nvSpPr>
        <p:spPr>
          <a:xfrm>
            <a:off x="6664758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04DFFC4-E995-92B2-99E6-A516036647A3}"/>
              </a:ext>
            </a:extLst>
          </p:cNvPr>
          <p:cNvSpPr/>
          <p:nvPr/>
        </p:nvSpPr>
        <p:spPr>
          <a:xfrm>
            <a:off x="716963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D8F29DE-5366-6334-BE30-FB40714736E3}"/>
              </a:ext>
            </a:extLst>
          </p:cNvPr>
          <p:cNvSpPr/>
          <p:nvPr/>
        </p:nvSpPr>
        <p:spPr>
          <a:xfrm>
            <a:off x="7674520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A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EF5268A-DD85-D0E0-52F7-33523C995258}"/>
              </a:ext>
            </a:extLst>
          </p:cNvPr>
          <p:cNvSpPr/>
          <p:nvPr/>
        </p:nvSpPr>
        <p:spPr>
          <a:xfrm>
            <a:off x="817940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6AE8B64-EB33-894B-7CF3-603E1D51E1CB}"/>
              </a:ext>
            </a:extLst>
          </p:cNvPr>
          <p:cNvSpPr/>
          <p:nvPr/>
        </p:nvSpPr>
        <p:spPr>
          <a:xfrm>
            <a:off x="868549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C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7D10C1B6-5D28-2307-03E8-1D8B4544D70C}"/>
              </a:ext>
            </a:extLst>
          </p:cNvPr>
          <p:cNvSpPr/>
          <p:nvPr/>
        </p:nvSpPr>
        <p:spPr>
          <a:xfrm>
            <a:off x="-2436432" y="3514972"/>
            <a:ext cx="20559711" cy="1292772"/>
          </a:xfrm>
          <a:custGeom>
            <a:avLst/>
            <a:gdLst>
              <a:gd name="connsiteX0" fmla="*/ 8519973 w 20559711"/>
              <a:gd name="connsiteY0" fmla="*/ 174898 h 1292772"/>
              <a:gd name="connsiteX1" fmla="*/ 8519973 w 20559711"/>
              <a:gd name="connsiteY1" fmla="*/ 1117873 h 1292772"/>
              <a:gd name="connsiteX2" fmla="*/ 11044377 w 20559711"/>
              <a:gd name="connsiteY2" fmla="*/ 1117873 h 1292772"/>
              <a:gd name="connsiteX3" fmla="*/ 11044377 w 20559711"/>
              <a:gd name="connsiteY3" fmla="*/ 174898 h 1292772"/>
              <a:gd name="connsiteX4" fmla="*/ 0 w 20559711"/>
              <a:gd name="connsiteY4" fmla="*/ 0 h 1292772"/>
              <a:gd name="connsiteX5" fmla="*/ 20559711 w 20559711"/>
              <a:gd name="connsiteY5" fmla="*/ 0 h 1292772"/>
              <a:gd name="connsiteX6" fmla="*/ 20559711 w 20559711"/>
              <a:gd name="connsiteY6" fmla="*/ 1292772 h 1292772"/>
              <a:gd name="connsiteX7" fmla="*/ 0 w 20559711"/>
              <a:gd name="connsiteY7" fmla="*/ 1292772 h 129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559711" h="1292772">
                <a:moveTo>
                  <a:pt x="8519973" y="174898"/>
                </a:moveTo>
                <a:lnTo>
                  <a:pt x="8519973" y="1117873"/>
                </a:lnTo>
                <a:lnTo>
                  <a:pt x="11044377" y="1117873"/>
                </a:lnTo>
                <a:lnTo>
                  <a:pt x="11044377" y="174898"/>
                </a:lnTo>
                <a:close/>
                <a:moveTo>
                  <a:pt x="0" y="0"/>
                </a:moveTo>
                <a:lnTo>
                  <a:pt x="20559711" y="0"/>
                </a:lnTo>
                <a:lnTo>
                  <a:pt x="20559711" y="1292772"/>
                </a:lnTo>
                <a:lnTo>
                  <a:pt x="0" y="1292772"/>
                </a:lnTo>
                <a:close/>
              </a:path>
            </a:pathLst>
          </a:custGeom>
          <a:solidFill>
            <a:schemeClr val="accent1">
              <a:alpha val="8006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040630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BF5F4D-3868-27C5-CA77-79E1F3B6C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Thumbling window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3E535E5-02FD-5AE4-F7D2-3353AA7CC3FB}"/>
              </a:ext>
            </a:extLst>
          </p:cNvPr>
          <p:cNvGrpSpPr/>
          <p:nvPr/>
        </p:nvGrpSpPr>
        <p:grpSpPr>
          <a:xfrm>
            <a:off x="838200" y="2232212"/>
            <a:ext cx="2608729" cy="484094"/>
            <a:chOff x="2460811" y="2138082"/>
            <a:chExt cx="2608729" cy="48409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7EF8DD0-03C8-7609-63F6-0A599F725B01}"/>
                </a:ext>
              </a:extLst>
            </p:cNvPr>
            <p:cNvSpPr/>
            <p:nvPr/>
          </p:nvSpPr>
          <p:spPr>
            <a:xfrm>
              <a:off x="2460811" y="2138082"/>
              <a:ext cx="2608729" cy="4840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dirty="0"/>
                <a:t>10 min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E98C595-2876-3D2E-6396-7ABA9895F48E}"/>
                </a:ext>
              </a:extLst>
            </p:cNvPr>
            <p:cNvCxnSpPr>
              <a:cxnSpLocks/>
            </p:cNvCxnSpPr>
            <p:nvPr/>
          </p:nvCxnSpPr>
          <p:spPr>
            <a:xfrm>
              <a:off x="2460811" y="2514600"/>
              <a:ext cx="2608729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888B58B-F8E8-2EE0-4733-6745D4F1DADB}"/>
              </a:ext>
            </a:extLst>
          </p:cNvPr>
          <p:cNvGrpSpPr/>
          <p:nvPr/>
        </p:nvGrpSpPr>
        <p:grpSpPr>
          <a:xfrm>
            <a:off x="3446927" y="2773736"/>
            <a:ext cx="2608729" cy="484094"/>
            <a:chOff x="2460811" y="2138082"/>
            <a:chExt cx="2608729" cy="48409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C9DB30D-094C-251C-9476-80483AF2B6B3}"/>
                </a:ext>
              </a:extLst>
            </p:cNvPr>
            <p:cNvSpPr/>
            <p:nvPr/>
          </p:nvSpPr>
          <p:spPr>
            <a:xfrm>
              <a:off x="2460811" y="2138082"/>
              <a:ext cx="2608729" cy="4840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dirty="0"/>
                <a:t>10 min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CD47BBB-275F-739A-5B5E-A53202F5D1BB}"/>
                </a:ext>
              </a:extLst>
            </p:cNvPr>
            <p:cNvCxnSpPr>
              <a:cxnSpLocks/>
            </p:cNvCxnSpPr>
            <p:nvPr/>
          </p:nvCxnSpPr>
          <p:spPr>
            <a:xfrm>
              <a:off x="2460811" y="2514600"/>
              <a:ext cx="2608729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94BDA5-A5CF-7F93-D19C-407393A531AC}"/>
              </a:ext>
            </a:extLst>
          </p:cNvPr>
          <p:cNvGrpSpPr/>
          <p:nvPr/>
        </p:nvGrpSpPr>
        <p:grpSpPr>
          <a:xfrm>
            <a:off x="6055655" y="3318902"/>
            <a:ext cx="2608729" cy="484094"/>
            <a:chOff x="2460811" y="2138082"/>
            <a:chExt cx="2608729" cy="48409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1F82C5C-45BD-D85B-9594-A8B190EFAB73}"/>
                </a:ext>
              </a:extLst>
            </p:cNvPr>
            <p:cNvSpPr/>
            <p:nvPr/>
          </p:nvSpPr>
          <p:spPr>
            <a:xfrm>
              <a:off x="2460811" y="2138082"/>
              <a:ext cx="2608729" cy="4840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dirty="0"/>
                <a:t>10 min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1C95E2F-E981-0B09-5362-6C999A70B540}"/>
                </a:ext>
              </a:extLst>
            </p:cNvPr>
            <p:cNvCxnSpPr>
              <a:cxnSpLocks/>
            </p:cNvCxnSpPr>
            <p:nvPr/>
          </p:nvCxnSpPr>
          <p:spPr>
            <a:xfrm>
              <a:off x="2460811" y="2514600"/>
              <a:ext cx="2608729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CB2B647-7951-2C91-2565-DCE764D60983}"/>
              </a:ext>
            </a:extLst>
          </p:cNvPr>
          <p:cNvGrpSpPr/>
          <p:nvPr/>
        </p:nvGrpSpPr>
        <p:grpSpPr>
          <a:xfrm>
            <a:off x="8664384" y="3860426"/>
            <a:ext cx="2608729" cy="484094"/>
            <a:chOff x="2460811" y="2138082"/>
            <a:chExt cx="2608729" cy="48409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E39A462-2487-A78C-1954-D01F72811E20}"/>
                </a:ext>
              </a:extLst>
            </p:cNvPr>
            <p:cNvSpPr/>
            <p:nvPr/>
          </p:nvSpPr>
          <p:spPr>
            <a:xfrm>
              <a:off x="2460811" y="2138082"/>
              <a:ext cx="2608729" cy="4840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RU" dirty="0"/>
                <a:t>10 min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1780F6E-76F8-10CC-2BFA-78EAE596ED48}"/>
                </a:ext>
              </a:extLst>
            </p:cNvPr>
            <p:cNvCxnSpPr>
              <a:cxnSpLocks/>
            </p:cNvCxnSpPr>
            <p:nvPr/>
          </p:nvCxnSpPr>
          <p:spPr>
            <a:xfrm>
              <a:off x="2460811" y="2514600"/>
              <a:ext cx="2608729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E8F8EC9-EC5C-78EA-6033-02F7A3FAFE22}"/>
              </a:ext>
            </a:extLst>
          </p:cNvPr>
          <p:cNvSpPr txBox="1"/>
          <p:nvPr/>
        </p:nvSpPr>
        <p:spPr>
          <a:xfrm>
            <a:off x="8081682" y="1559859"/>
            <a:ext cx="232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advance = window size</a:t>
            </a:r>
          </a:p>
        </p:txBody>
      </p:sp>
    </p:spTree>
    <p:extLst>
      <p:ext uri="{BB962C8B-B14F-4D97-AF65-F5344CB8AC3E}">
        <p14:creationId xmlns:p14="http://schemas.microsoft.com/office/powerpoint/2010/main" val="38746328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F3E97-CCA6-4B8B-F46F-8533A9666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Tumbling window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8E3B64-0FFE-1FBD-2655-1D460B8C46CF}"/>
              </a:ext>
            </a:extLst>
          </p:cNvPr>
          <p:cNvSpPr/>
          <p:nvPr/>
        </p:nvSpPr>
        <p:spPr>
          <a:xfrm>
            <a:off x="2848304" y="3626126"/>
            <a:ext cx="6495392" cy="1074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A1464D-3CB4-BC83-D7C4-5DA015D1E4D9}"/>
              </a:ext>
            </a:extLst>
          </p:cNvPr>
          <p:cNvSpPr/>
          <p:nvPr/>
        </p:nvSpPr>
        <p:spPr>
          <a:xfrm>
            <a:off x="313059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5F2687B-4B9F-93FC-BB6A-1DD15BF1C452}"/>
              </a:ext>
            </a:extLst>
          </p:cNvPr>
          <p:cNvSpPr/>
          <p:nvPr/>
        </p:nvSpPr>
        <p:spPr>
          <a:xfrm>
            <a:off x="3635472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E5B66A-7977-1799-12A9-28C4B7D33381}"/>
              </a:ext>
            </a:extLst>
          </p:cNvPr>
          <p:cNvSpPr/>
          <p:nvPr/>
        </p:nvSpPr>
        <p:spPr>
          <a:xfrm>
            <a:off x="4140353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FE9E54-57D8-0AB1-6956-01F129D3820E}"/>
              </a:ext>
            </a:extLst>
          </p:cNvPr>
          <p:cNvSpPr/>
          <p:nvPr/>
        </p:nvSpPr>
        <p:spPr>
          <a:xfrm>
            <a:off x="4645234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C990B2-201F-572D-19B7-2F26C646CD76}"/>
              </a:ext>
            </a:extLst>
          </p:cNvPr>
          <p:cNvSpPr/>
          <p:nvPr/>
        </p:nvSpPr>
        <p:spPr>
          <a:xfrm>
            <a:off x="5150115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74CFA9-1128-0FF5-2264-3B16DDDDD76A}"/>
              </a:ext>
            </a:extLst>
          </p:cNvPr>
          <p:cNvSpPr/>
          <p:nvPr/>
        </p:nvSpPr>
        <p:spPr>
          <a:xfrm>
            <a:off x="5654996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DDFF3E3-671E-4D71-1D66-53442290DE8D}"/>
              </a:ext>
            </a:extLst>
          </p:cNvPr>
          <p:cNvSpPr/>
          <p:nvPr/>
        </p:nvSpPr>
        <p:spPr>
          <a:xfrm>
            <a:off x="6159877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489A235-33F3-9A0F-DD52-24BAD4FC4261}"/>
              </a:ext>
            </a:extLst>
          </p:cNvPr>
          <p:cNvSpPr/>
          <p:nvPr/>
        </p:nvSpPr>
        <p:spPr>
          <a:xfrm>
            <a:off x="6664758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04DFFC4-E995-92B2-99E6-A516036647A3}"/>
              </a:ext>
            </a:extLst>
          </p:cNvPr>
          <p:cNvSpPr/>
          <p:nvPr/>
        </p:nvSpPr>
        <p:spPr>
          <a:xfrm>
            <a:off x="716963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D8F29DE-5366-6334-BE30-FB40714736E3}"/>
              </a:ext>
            </a:extLst>
          </p:cNvPr>
          <p:cNvSpPr/>
          <p:nvPr/>
        </p:nvSpPr>
        <p:spPr>
          <a:xfrm>
            <a:off x="7674520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A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EF5268A-DD85-D0E0-52F7-33523C995258}"/>
              </a:ext>
            </a:extLst>
          </p:cNvPr>
          <p:cNvSpPr/>
          <p:nvPr/>
        </p:nvSpPr>
        <p:spPr>
          <a:xfrm>
            <a:off x="817940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6AE8B64-EB33-894B-7CF3-603E1D51E1CB}"/>
              </a:ext>
            </a:extLst>
          </p:cNvPr>
          <p:cNvSpPr/>
          <p:nvPr/>
        </p:nvSpPr>
        <p:spPr>
          <a:xfrm>
            <a:off x="868549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C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7D10C1B6-5D28-2307-03E8-1D8B4544D70C}"/>
              </a:ext>
            </a:extLst>
          </p:cNvPr>
          <p:cNvSpPr/>
          <p:nvPr/>
        </p:nvSpPr>
        <p:spPr>
          <a:xfrm>
            <a:off x="-5465718" y="3514972"/>
            <a:ext cx="20559711" cy="1292772"/>
          </a:xfrm>
          <a:custGeom>
            <a:avLst/>
            <a:gdLst>
              <a:gd name="connsiteX0" fmla="*/ 8519973 w 20559711"/>
              <a:gd name="connsiteY0" fmla="*/ 174898 h 1292772"/>
              <a:gd name="connsiteX1" fmla="*/ 8519973 w 20559711"/>
              <a:gd name="connsiteY1" fmla="*/ 1117873 h 1292772"/>
              <a:gd name="connsiteX2" fmla="*/ 11044377 w 20559711"/>
              <a:gd name="connsiteY2" fmla="*/ 1117873 h 1292772"/>
              <a:gd name="connsiteX3" fmla="*/ 11044377 w 20559711"/>
              <a:gd name="connsiteY3" fmla="*/ 174898 h 1292772"/>
              <a:gd name="connsiteX4" fmla="*/ 0 w 20559711"/>
              <a:gd name="connsiteY4" fmla="*/ 0 h 1292772"/>
              <a:gd name="connsiteX5" fmla="*/ 20559711 w 20559711"/>
              <a:gd name="connsiteY5" fmla="*/ 0 h 1292772"/>
              <a:gd name="connsiteX6" fmla="*/ 20559711 w 20559711"/>
              <a:gd name="connsiteY6" fmla="*/ 1292772 h 1292772"/>
              <a:gd name="connsiteX7" fmla="*/ 0 w 20559711"/>
              <a:gd name="connsiteY7" fmla="*/ 1292772 h 129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559711" h="1292772">
                <a:moveTo>
                  <a:pt x="8519973" y="174898"/>
                </a:moveTo>
                <a:lnTo>
                  <a:pt x="8519973" y="1117873"/>
                </a:lnTo>
                <a:lnTo>
                  <a:pt x="11044377" y="1117873"/>
                </a:lnTo>
                <a:lnTo>
                  <a:pt x="11044377" y="174898"/>
                </a:lnTo>
                <a:close/>
                <a:moveTo>
                  <a:pt x="0" y="0"/>
                </a:moveTo>
                <a:lnTo>
                  <a:pt x="20559711" y="0"/>
                </a:lnTo>
                <a:lnTo>
                  <a:pt x="20559711" y="1292772"/>
                </a:lnTo>
                <a:lnTo>
                  <a:pt x="0" y="1292772"/>
                </a:lnTo>
                <a:close/>
              </a:path>
            </a:pathLst>
          </a:custGeom>
          <a:solidFill>
            <a:schemeClr val="accent1">
              <a:alpha val="8006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93131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F3E97-CCA6-4B8B-F46F-8533A9666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Tumbling window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8E3B64-0FFE-1FBD-2655-1D460B8C46CF}"/>
              </a:ext>
            </a:extLst>
          </p:cNvPr>
          <p:cNvSpPr/>
          <p:nvPr/>
        </p:nvSpPr>
        <p:spPr>
          <a:xfrm>
            <a:off x="2848304" y="3626126"/>
            <a:ext cx="6495392" cy="1074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A1464D-3CB4-BC83-D7C4-5DA015D1E4D9}"/>
              </a:ext>
            </a:extLst>
          </p:cNvPr>
          <p:cNvSpPr/>
          <p:nvPr/>
        </p:nvSpPr>
        <p:spPr>
          <a:xfrm>
            <a:off x="313059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5F2687B-4B9F-93FC-BB6A-1DD15BF1C452}"/>
              </a:ext>
            </a:extLst>
          </p:cNvPr>
          <p:cNvSpPr/>
          <p:nvPr/>
        </p:nvSpPr>
        <p:spPr>
          <a:xfrm>
            <a:off x="3635472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E5B66A-7977-1799-12A9-28C4B7D33381}"/>
              </a:ext>
            </a:extLst>
          </p:cNvPr>
          <p:cNvSpPr/>
          <p:nvPr/>
        </p:nvSpPr>
        <p:spPr>
          <a:xfrm>
            <a:off x="4140353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FE9E54-57D8-0AB1-6956-01F129D3820E}"/>
              </a:ext>
            </a:extLst>
          </p:cNvPr>
          <p:cNvSpPr/>
          <p:nvPr/>
        </p:nvSpPr>
        <p:spPr>
          <a:xfrm>
            <a:off x="4645234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C990B2-201F-572D-19B7-2F26C646CD76}"/>
              </a:ext>
            </a:extLst>
          </p:cNvPr>
          <p:cNvSpPr/>
          <p:nvPr/>
        </p:nvSpPr>
        <p:spPr>
          <a:xfrm>
            <a:off x="5150115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74CFA9-1128-0FF5-2264-3B16DDDDD76A}"/>
              </a:ext>
            </a:extLst>
          </p:cNvPr>
          <p:cNvSpPr/>
          <p:nvPr/>
        </p:nvSpPr>
        <p:spPr>
          <a:xfrm>
            <a:off x="5654996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DDFF3E3-671E-4D71-1D66-53442290DE8D}"/>
              </a:ext>
            </a:extLst>
          </p:cNvPr>
          <p:cNvSpPr/>
          <p:nvPr/>
        </p:nvSpPr>
        <p:spPr>
          <a:xfrm>
            <a:off x="6159877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489A235-33F3-9A0F-DD52-24BAD4FC4261}"/>
              </a:ext>
            </a:extLst>
          </p:cNvPr>
          <p:cNvSpPr/>
          <p:nvPr/>
        </p:nvSpPr>
        <p:spPr>
          <a:xfrm>
            <a:off x="6664758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04DFFC4-E995-92B2-99E6-A516036647A3}"/>
              </a:ext>
            </a:extLst>
          </p:cNvPr>
          <p:cNvSpPr/>
          <p:nvPr/>
        </p:nvSpPr>
        <p:spPr>
          <a:xfrm>
            <a:off x="716963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D8F29DE-5366-6334-BE30-FB40714736E3}"/>
              </a:ext>
            </a:extLst>
          </p:cNvPr>
          <p:cNvSpPr/>
          <p:nvPr/>
        </p:nvSpPr>
        <p:spPr>
          <a:xfrm>
            <a:off x="7674520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A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EF5268A-DD85-D0E0-52F7-33523C995258}"/>
              </a:ext>
            </a:extLst>
          </p:cNvPr>
          <p:cNvSpPr/>
          <p:nvPr/>
        </p:nvSpPr>
        <p:spPr>
          <a:xfrm>
            <a:off x="8179401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6AE8B64-EB33-894B-7CF3-603E1D51E1CB}"/>
              </a:ext>
            </a:extLst>
          </p:cNvPr>
          <p:cNvSpPr/>
          <p:nvPr/>
        </p:nvSpPr>
        <p:spPr>
          <a:xfrm>
            <a:off x="8685499" y="3797957"/>
            <a:ext cx="337809" cy="7268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C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7D10C1B6-5D28-2307-03E8-1D8B4544D70C}"/>
              </a:ext>
            </a:extLst>
          </p:cNvPr>
          <p:cNvSpPr/>
          <p:nvPr/>
        </p:nvSpPr>
        <p:spPr>
          <a:xfrm>
            <a:off x="-2941313" y="3514972"/>
            <a:ext cx="20559711" cy="1292772"/>
          </a:xfrm>
          <a:custGeom>
            <a:avLst/>
            <a:gdLst>
              <a:gd name="connsiteX0" fmla="*/ 8519973 w 20559711"/>
              <a:gd name="connsiteY0" fmla="*/ 174898 h 1292772"/>
              <a:gd name="connsiteX1" fmla="*/ 8519973 w 20559711"/>
              <a:gd name="connsiteY1" fmla="*/ 1117873 h 1292772"/>
              <a:gd name="connsiteX2" fmla="*/ 11044377 w 20559711"/>
              <a:gd name="connsiteY2" fmla="*/ 1117873 h 1292772"/>
              <a:gd name="connsiteX3" fmla="*/ 11044377 w 20559711"/>
              <a:gd name="connsiteY3" fmla="*/ 174898 h 1292772"/>
              <a:gd name="connsiteX4" fmla="*/ 0 w 20559711"/>
              <a:gd name="connsiteY4" fmla="*/ 0 h 1292772"/>
              <a:gd name="connsiteX5" fmla="*/ 20559711 w 20559711"/>
              <a:gd name="connsiteY5" fmla="*/ 0 h 1292772"/>
              <a:gd name="connsiteX6" fmla="*/ 20559711 w 20559711"/>
              <a:gd name="connsiteY6" fmla="*/ 1292772 h 1292772"/>
              <a:gd name="connsiteX7" fmla="*/ 0 w 20559711"/>
              <a:gd name="connsiteY7" fmla="*/ 1292772 h 129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559711" h="1292772">
                <a:moveTo>
                  <a:pt x="8519973" y="174898"/>
                </a:moveTo>
                <a:lnTo>
                  <a:pt x="8519973" y="1117873"/>
                </a:lnTo>
                <a:lnTo>
                  <a:pt x="11044377" y="1117873"/>
                </a:lnTo>
                <a:lnTo>
                  <a:pt x="11044377" y="174898"/>
                </a:lnTo>
                <a:close/>
                <a:moveTo>
                  <a:pt x="0" y="0"/>
                </a:moveTo>
                <a:lnTo>
                  <a:pt x="20559711" y="0"/>
                </a:lnTo>
                <a:lnTo>
                  <a:pt x="20559711" y="1292772"/>
                </a:lnTo>
                <a:lnTo>
                  <a:pt x="0" y="1292772"/>
                </a:lnTo>
                <a:close/>
              </a:path>
            </a:pathLst>
          </a:custGeom>
          <a:solidFill>
            <a:schemeClr val="accent1">
              <a:alpha val="8006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47238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767253-272F-A1DF-C369-358CCF3AE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Thumbling window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24AB2-C3E8-7568-ADFD-65C450236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stream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.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groupByKey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.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windowedBy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TimeWindows</a:t>
            </a: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	.of(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Duration.ofMinutes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(10))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.count();</a:t>
            </a:r>
          </a:p>
          <a:p>
            <a:pPr marL="0" indent="0">
              <a:buNone/>
            </a:pPr>
            <a:endParaRPr lang="en-RU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2631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767253-272F-A1DF-C369-358CCF3AE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Hopping window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24AB2-C3E8-7568-ADFD-65C450236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stream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.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groupByKey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.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windowedBy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TimeWindows</a:t>
            </a: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	.of(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Duration.ofMinutes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(10))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	.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advanceBy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Duration.ofMinutes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(5))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.count();</a:t>
            </a:r>
          </a:p>
          <a:p>
            <a:pPr marL="0" indent="0">
              <a:buNone/>
            </a:pPr>
            <a:endParaRPr lang="en-RU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2009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767253-272F-A1DF-C369-358CCF3AE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Sliding window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24AB2-C3E8-7568-ADFD-65C450236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stream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.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groupByKey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.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windowedBy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SlidingWindows</a:t>
            </a: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	.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ofTimeDifferenceWithNoGrace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	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Duration.ofMinutes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(5)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	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.count();</a:t>
            </a:r>
          </a:p>
        </p:txBody>
      </p:sp>
    </p:spTree>
    <p:extLst>
      <p:ext uri="{BB962C8B-B14F-4D97-AF65-F5344CB8AC3E}">
        <p14:creationId xmlns:p14="http://schemas.microsoft.com/office/powerpoint/2010/main" val="26741242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767253-272F-A1DF-C369-358CCF3AE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Session window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24AB2-C3E8-7568-ADFD-65C450236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stream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.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groupByKey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.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windowedBy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SessionWindows.with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Duration.ofMinutes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(5))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.count();</a:t>
            </a:r>
          </a:p>
        </p:txBody>
      </p:sp>
    </p:spTree>
    <p:extLst>
      <p:ext uri="{BB962C8B-B14F-4D97-AF65-F5344CB8AC3E}">
        <p14:creationId xmlns:p14="http://schemas.microsoft.com/office/powerpoint/2010/main" val="42544940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6BD1-A609-19A0-86F5-925A91FA0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Time</a:t>
            </a:r>
            <a:endParaRPr lang="en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C1434D-31A3-77D5-0614-DA73A1029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17862"/>
            <a:ext cx="12192000" cy="327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49407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6BD1-A609-19A0-86F5-925A91FA0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Grace period</a:t>
            </a:r>
          </a:p>
        </p:txBody>
      </p:sp>
      <p:pic>
        <p:nvPicPr>
          <p:cNvPr id="3074" name="Picture 2" descr="late-records">
            <a:extLst>
              <a:ext uri="{FF2B5EF4-FFF2-40B4-BE49-F238E27FC236}">
                <a16:creationId xmlns:a16="http://schemas.microsoft.com/office/drawing/2014/main" id="{20096FB4-BB3B-166C-E448-4661B09A9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5" y="3140541"/>
            <a:ext cx="12192000" cy="3217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4523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55ADC-11EF-69D8-6061-C127C2B2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Processor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4458D-DE68-A707-4FD4-9D7F695D9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Low-level API for building custom stream processing logic.</a:t>
            </a:r>
          </a:p>
          <a:p>
            <a:r>
              <a:rPr lang="en-GB" dirty="0"/>
              <a:t>When the DSL does not provide the required functionality.</a:t>
            </a:r>
          </a:p>
          <a:p>
            <a:r>
              <a:rPr lang="en-GB" dirty="0"/>
              <a:t>Processor API offers more flexibility than the DSL.</a:t>
            </a:r>
          </a:p>
          <a:p>
            <a:r>
              <a:rPr lang="en-GB" dirty="0"/>
              <a:t>Allows for fine-grained control over processing logic.</a:t>
            </a:r>
          </a:p>
          <a:p>
            <a:r>
              <a:rPr lang="en-GB" dirty="0"/>
              <a:t>Can be integrated with the DSL.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6289508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9AC41-BB46-12A7-1F10-65BFFE535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Durability of Local State and Failover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76259-464D-46F6-4FF5-DDBA533A2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Local storage used for maintaining state.</a:t>
            </a:r>
          </a:p>
          <a:p>
            <a:r>
              <a:rPr lang="en-GB" dirty="0"/>
              <a:t>Local storage may be in-memory or disk based.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551372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0C40B-4DA0-E33D-685E-4C9436883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5FB52-BBD3-A412-690E-8AC5774E7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Durability of Local State and Failover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65FD0-8510-69E7-F12C-D568862FB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2"/>
                </a:solidFill>
              </a:rPr>
              <a:t>Local storage used for maintaining state.</a:t>
            </a:r>
          </a:p>
          <a:p>
            <a:r>
              <a:rPr lang="en-GB" dirty="0">
                <a:solidFill>
                  <a:schemeClr val="bg2"/>
                </a:solidFill>
              </a:rPr>
              <a:t>Local storage may be in-memory or disk based.</a:t>
            </a:r>
          </a:p>
          <a:p>
            <a:r>
              <a:rPr lang="en-GB" dirty="0"/>
              <a:t>Processor node maintains a changelog of state in special topic</a:t>
            </a:r>
          </a:p>
          <a:p>
            <a:r>
              <a:rPr lang="en-GB" dirty="0"/>
              <a:t>Changelog is compacted to allow faster recovery</a:t>
            </a:r>
          </a:p>
          <a:p>
            <a:r>
              <a:rPr lang="en-GB" dirty="0"/>
              <a:t>Upon failure, the whole state may be reconstructed from changelog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3114405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D2DFB-2D31-5BD3-A8A2-97021240D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535AF-2B92-9449-5D27-3F9137686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Durability of Local State and Failover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5E1B8-6EE9-99A9-AFAF-5F9285094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2"/>
                </a:solidFill>
              </a:rPr>
              <a:t>Local storage used for maintaining state.</a:t>
            </a:r>
          </a:p>
          <a:p>
            <a:r>
              <a:rPr lang="en-GB" dirty="0">
                <a:solidFill>
                  <a:schemeClr val="bg2"/>
                </a:solidFill>
              </a:rPr>
              <a:t>Local storage may be in-memory or disk based.</a:t>
            </a:r>
          </a:p>
          <a:p>
            <a:r>
              <a:rPr lang="en-GB" dirty="0">
                <a:solidFill>
                  <a:schemeClr val="bg2"/>
                </a:solidFill>
              </a:rPr>
              <a:t>Processor node maintains a changelog of state in special topic</a:t>
            </a:r>
          </a:p>
          <a:p>
            <a:r>
              <a:rPr lang="en-GB" dirty="0">
                <a:solidFill>
                  <a:schemeClr val="bg2"/>
                </a:solidFill>
              </a:rPr>
              <a:t>Changelog is compacted to allow faster recovery</a:t>
            </a:r>
          </a:p>
          <a:p>
            <a:r>
              <a:rPr lang="en-GB" dirty="0">
                <a:solidFill>
                  <a:schemeClr val="bg2"/>
                </a:solidFill>
              </a:rPr>
              <a:t>Upon failure, the whole state may be reconstructed from changelog</a:t>
            </a:r>
          </a:p>
          <a:p>
            <a:r>
              <a:rPr lang="en-GB" dirty="0"/>
              <a:t>To speedup failover, there are standby processor nodes</a:t>
            </a:r>
          </a:p>
          <a:p>
            <a:r>
              <a:rPr lang="en-GB" dirty="0"/>
              <a:t>Standby nodes only consume changelogs and maintain state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0102144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6779E-FAF3-54E2-0F2E-A4FBA7617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56E5-3042-37B6-EB4D-132496CEF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Durability of Local State and Failover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46576-800C-2A28-BA6E-A8BEAC147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GB" dirty="0"/>
              <a:t>Local storage used for maintaining state.</a:t>
            </a:r>
          </a:p>
          <a:p>
            <a:r>
              <a:rPr lang="en-GB" dirty="0"/>
              <a:t>Local storage may be in-memory or disk based.</a:t>
            </a:r>
          </a:p>
          <a:p>
            <a:r>
              <a:rPr lang="en-GB" dirty="0"/>
              <a:t>Processor node maintains a changelog of state in special topic</a:t>
            </a:r>
          </a:p>
          <a:p>
            <a:r>
              <a:rPr lang="en-GB" dirty="0"/>
              <a:t>Changelog is compacted to allow faster recovery</a:t>
            </a:r>
          </a:p>
          <a:p>
            <a:r>
              <a:rPr lang="en-GB" dirty="0"/>
              <a:t>Upon failure, the whole state may be reconstructed from changelog</a:t>
            </a:r>
          </a:p>
          <a:p>
            <a:r>
              <a:rPr lang="en-GB" dirty="0"/>
              <a:t>To speedup failover, there are standby processor nodes</a:t>
            </a:r>
          </a:p>
          <a:p>
            <a:r>
              <a:rPr lang="en-GB" dirty="0"/>
              <a:t>Standby nodes only consume changelogs and maintain state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40626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33BCE9-CDAD-3DA0-F615-0D01CD51B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/>
              <a:t>ksqlDB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B16A2-C401-4BDA-438D-FDEA9E4E9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RU"/>
              <a:t>Kafka Streams with 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8378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3CBFF-B119-7522-F3E7-ADCFADE27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ksqlDB: Kafka Streams with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625A4-E8E3-BB32-D508-92E8328A0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KSQL is a SQL-based stream processing engine for Apache Kafka.</a:t>
            </a:r>
          </a:p>
          <a:p>
            <a:r>
              <a:rPr lang="en-GB" dirty="0"/>
              <a:t>Simplifies data processing by writing streaming queries using SQL.</a:t>
            </a:r>
          </a:p>
          <a:p>
            <a:endParaRPr lang="en-GB" dirty="0"/>
          </a:p>
          <a:p>
            <a:r>
              <a:rPr lang="en-GB" dirty="0"/>
              <a:t>Easy to use with SQL-like syntax.</a:t>
            </a:r>
          </a:p>
          <a:p>
            <a:r>
              <a:rPr lang="en-GB" dirty="0"/>
              <a:t>No need for complex coding.</a:t>
            </a:r>
          </a:p>
          <a:p>
            <a:r>
              <a:rPr lang="en-GB" dirty="0"/>
              <a:t>Real-time continuous query execution.</a:t>
            </a:r>
          </a:p>
          <a:p>
            <a:endParaRPr lang="en-GB" dirty="0"/>
          </a:p>
          <a:p>
            <a:r>
              <a:rPr lang="en-GB" dirty="0"/>
              <a:t>B</a:t>
            </a:r>
            <a:r>
              <a:rPr lang="en-RU" dirty="0"/>
              <a:t>y Confluent</a:t>
            </a:r>
          </a:p>
        </p:txBody>
      </p:sp>
    </p:spTree>
    <p:extLst>
      <p:ext uri="{BB962C8B-B14F-4D97-AF65-F5344CB8AC3E}">
        <p14:creationId xmlns:p14="http://schemas.microsoft.com/office/powerpoint/2010/main" val="36349893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26043-0EA9-08CD-AE87-8F10A825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KSQL Queries: Create stream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7A138-0556-6C35-5BA5-4E26A2CC7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CREATE STREAM pageviews(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viewtime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BIGINT,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userid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VARCHAR,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pageid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VARCHAR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) 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WITH (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kafka_topic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='pageviews’,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value_format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='DELIMITED’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876173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26043-0EA9-08CD-AE87-8F10A825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KSQL Queries: selecting and filtering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7A138-0556-6C35-5BA5-4E26A2CC7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SELECT * FROM pageviews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WHERE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pageid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= 'home’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EMIT CHANGES;</a:t>
            </a:r>
          </a:p>
        </p:txBody>
      </p:sp>
    </p:spTree>
    <p:extLst>
      <p:ext uri="{BB962C8B-B14F-4D97-AF65-F5344CB8AC3E}">
        <p14:creationId xmlns:p14="http://schemas.microsoft.com/office/powerpoint/2010/main" val="5260397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26043-0EA9-08CD-AE87-8F10A825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KSQL Queries: Transformations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7A138-0556-6C35-5BA5-4E26A2CC7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SELECT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userid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UCASE(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pageid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) AS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upper_pageid</a:t>
            </a: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FROM pageviews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EMIT CHANGES;</a:t>
            </a:r>
          </a:p>
        </p:txBody>
      </p:sp>
    </p:spTree>
    <p:extLst>
      <p:ext uri="{BB962C8B-B14F-4D97-AF65-F5344CB8AC3E}">
        <p14:creationId xmlns:p14="http://schemas.microsoft.com/office/powerpoint/2010/main" val="24099725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26043-0EA9-08CD-AE87-8F10A825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KSQL Queries: Tables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7A138-0556-6C35-5BA5-4E26A2CC7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CREATE TABLE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user_profiles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(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userid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VARCHAR,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regionid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VARCHAR,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gender VARCHAR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) 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WITH (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kafka_topic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='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user_profiles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’,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value_format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='JSON’,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key='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userid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’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772325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26043-0EA9-08CD-AE87-8F10A825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KSQL Queries: Joins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7A138-0556-6C35-5BA5-4E26A2CC7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SELECT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p.viewtime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,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p.userid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p.pageid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,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u.regionid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,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u.gender</a:t>
            </a: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FROM pageviews p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LEFT JOIN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user_profiles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u ON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p.userid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=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u.userid</a:t>
            </a: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EMIT CHANGES;</a:t>
            </a:r>
          </a:p>
        </p:txBody>
      </p:sp>
    </p:spTree>
    <p:extLst>
      <p:ext uri="{BB962C8B-B14F-4D97-AF65-F5344CB8AC3E}">
        <p14:creationId xmlns:p14="http://schemas.microsoft.com/office/powerpoint/2010/main" val="41258201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26043-0EA9-08CD-AE87-8F10A825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Aggregations and Windowing in KSQL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7A138-0556-6C35-5BA5-4E26A2CC7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SELECT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pageid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COUNT(*) AS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view_count</a:t>
            </a: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FROM pageviews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GROUP BY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pageid</a:t>
            </a: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EMIT CHANGES;</a:t>
            </a:r>
          </a:p>
        </p:txBody>
      </p:sp>
    </p:spTree>
    <p:extLst>
      <p:ext uri="{BB962C8B-B14F-4D97-AF65-F5344CB8AC3E}">
        <p14:creationId xmlns:p14="http://schemas.microsoft.com/office/powerpoint/2010/main" val="14739203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26043-0EA9-08CD-AE87-8F10A825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Windowed 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7A138-0556-6C35-5BA5-4E26A2CC7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CREATE TABLE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pageview_counts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AS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SELECT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pageid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	COUNT(*) AS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view_count</a:t>
            </a: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FROM pageviews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WINDOW TUMBLING (SIZE 1 HOUR)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GROUP BY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pageid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676843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26043-0EA9-08CD-AE87-8F10A825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Session Windowing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7A138-0556-6C35-5BA5-4E26A2CC7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SELECT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userid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COUNT(*) AS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session_count</a:t>
            </a: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FROM pageviews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WINDOW SESSION (5 MINUTES)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GROUP BY 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userid</a:t>
            </a:r>
            <a:endParaRPr lang="en-GB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EMIT CHANGES;</a:t>
            </a:r>
          </a:p>
        </p:txBody>
      </p:sp>
    </p:spTree>
    <p:extLst>
      <p:ext uri="{BB962C8B-B14F-4D97-AF65-F5344CB8AC3E}">
        <p14:creationId xmlns:p14="http://schemas.microsoft.com/office/powerpoint/2010/main" val="39729576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B8FD2-9F08-7D2E-6B8E-4311F3889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/>
              <a:t>What if not Java and Scala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7528B-9473-32F7-19BA-9666A998A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2466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607BD-7E99-93A1-FD0B-4290243AD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Alternatives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C885F-CC32-8645-D596-317389951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Apache Flink</a:t>
            </a:r>
          </a:p>
          <a:p>
            <a:pPr lvl="1"/>
            <a:r>
              <a:rPr lang="en-US" dirty="0"/>
              <a:t>Stateful Computations over Data Streams</a:t>
            </a:r>
          </a:p>
          <a:p>
            <a:pPr lvl="1"/>
            <a:r>
              <a:rPr lang="en-US" dirty="0"/>
              <a:t>Advanced, stateful, scalable processing</a:t>
            </a:r>
          </a:p>
          <a:p>
            <a:r>
              <a:rPr lang="en-US" dirty="0"/>
              <a:t>Apache Beam</a:t>
            </a:r>
          </a:p>
          <a:p>
            <a:pPr lvl="1"/>
            <a:r>
              <a:rPr lang="en-US" dirty="0"/>
              <a:t>SDKs for defining and executing data processing workflows</a:t>
            </a:r>
          </a:p>
          <a:p>
            <a:pPr lvl="1"/>
            <a:r>
              <a:rPr lang="en-US" dirty="0"/>
              <a:t>Unified batch/stream model</a:t>
            </a:r>
          </a:p>
          <a:p>
            <a:r>
              <a:rPr lang="en-US" dirty="0"/>
              <a:t>Materialize</a:t>
            </a:r>
          </a:p>
          <a:p>
            <a:pPr lvl="1"/>
            <a:r>
              <a:rPr lang="en-US" dirty="0"/>
              <a:t>Real-time materialized views</a:t>
            </a:r>
          </a:p>
        </p:txBody>
      </p:sp>
    </p:spTree>
    <p:extLst>
      <p:ext uri="{BB962C8B-B14F-4D97-AF65-F5344CB8AC3E}">
        <p14:creationId xmlns:p14="http://schemas.microsoft.com/office/powerpoint/2010/main" val="3087616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493B82-976A-086B-BAD4-A890BD1BA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Flink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7EBF8B-A4A6-31AE-37EC-71039B7A7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Distributed stream and batch data processing framework</a:t>
            </a:r>
          </a:p>
          <a:p>
            <a:r>
              <a:rPr lang="en-US" dirty="0"/>
              <a:t>Standalone distributed system</a:t>
            </a:r>
          </a:p>
          <a:p>
            <a:r>
              <a:rPr lang="en-US" dirty="0"/>
              <a:t>Scale independently of Kafka</a:t>
            </a:r>
          </a:p>
          <a:p>
            <a:r>
              <a:rPr lang="en-US" dirty="0"/>
              <a:t>Flink can connect to many systems, not just Kafka</a:t>
            </a:r>
          </a:p>
          <a:p>
            <a:r>
              <a:rPr lang="en-US" dirty="0"/>
              <a:t>Flink jobs are not inherently tied to Kafka</a:t>
            </a:r>
          </a:p>
          <a:p>
            <a:r>
              <a:rPr lang="en-US" dirty="0"/>
              <a:t>Flexible for other data pipelines</a:t>
            </a:r>
          </a:p>
        </p:txBody>
      </p:sp>
    </p:spTree>
    <p:extLst>
      <p:ext uri="{BB962C8B-B14F-4D97-AF65-F5344CB8AC3E}">
        <p14:creationId xmlns:p14="http://schemas.microsoft.com/office/powerpoint/2010/main" val="6791179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F3102-FA2B-7982-BF16-52051E1CD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programming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9EB85-F170-0785-A57E-AEF5630C9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U"/>
              <a:t>Generic </a:t>
            </a:r>
            <a:r>
              <a:rPr lang="en-RU" dirty="0"/>
              <a:t>Producer/Consumer API for </a:t>
            </a:r>
            <a:r>
              <a:rPr lang="en-RU"/>
              <a:t>any language</a:t>
            </a:r>
            <a:r>
              <a:rPr lang="en-US" dirty="0"/>
              <a:t> + State Storage</a:t>
            </a:r>
            <a:endParaRPr lang="en-RU" dirty="0"/>
          </a:p>
          <a:p>
            <a:r>
              <a:rPr lang="en-RU" dirty="0"/>
              <a:t>Python:</a:t>
            </a:r>
          </a:p>
          <a:p>
            <a:pPr lvl="1"/>
            <a:r>
              <a:rPr lang="en-RU"/>
              <a:t>Faust</a:t>
            </a:r>
            <a:r>
              <a:rPr lang="ru-RU" dirty="0"/>
              <a:t> (</a:t>
            </a:r>
            <a:r>
              <a:rPr lang="en-US" i="1" dirty="0"/>
              <a:t>p</a:t>
            </a:r>
            <a:r>
              <a:rPr lang="en-GB" i="1" dirty="0" err="1"/>
              <a:t>ython</a:t>
            </a:r>
            <a:r>
              <a:rPr lang="en-GB" i="1" dirty="0"/>
              <a:t>-native stream processing library</a:t>
            </a:r>
            <a:r>
              <a:rPr lang="ru-RU" dirty="0"/>
              <a:t>)</a:t>
            </a:r>
            <a:endParaRPr lang="en-RU" dirty="0"/>
          </a:p>
          <a:p>
            <a:pPr lvl="1"/>
            <a:r>
              <a:rPr lang="en-RU" dirty="0"/>
              <a:t>Confluent K</a:t>
            </a:r>
            <a:r>
              <a:rPr lang="en-GB" dirty="0"/>
              <a:t>a</a:t>
            </a:r>
            <a:r>
              <a:rPr lang="en-RU" dirty="0"/>
              <a:t>fka client</a:t>
            </a:r>
          </a:p>
          <a:p>
            <a:r>
              <a:rPr lang="en-RU" dirty="0"/>
              <a:t>Golang:</a:t>
            </a:r>
          </a:p>
          <a:p>
            <a:pPr lvl="1"/>
            <a:r>
              <a:rPr lang="en-RU" dirty="0"/>
              <a:t>Kafka-Go</a:t>
            </a:r>
          </a:p>
          <a:p>
            <a:pPr lvl="1"/>
            <a:r>
              <a:rPr lang="en-GB" dirty="0"/>
              <a:t>Watermill</a:t>
            </a:r>
            <a:endParaRPr lang="en-RU" dirty="0"/>
          </a:p>
          <a:p>
            <a:pPr lvl="2"/>
            <a:r>
              <a:rPr lang="en-GB" dirty="0"/>
              <a:t>A Go library for working efficiently with message streams.</a:t>
            </a:r>
            <a:br>
              <a:rPr lang="en-GB" dirty="0"/>
            </a:br>
            <a:r>
              <a:rPr lang="en-GB" dirty="0"/>
              <a:t>It's not specific to Kafka but has a Kafka adapter.</a:t>
            </a:r>
            <a:endParaRPr lang="en-RU" dirty="0"/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1202298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D40C6-8300-93F0-4B9E-11E91C3B0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Kafka Connect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D0E8C-369E-59C7-D67E-933843D5AF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935523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FB80E6-FCC3-69D9-FA0F-6AA0DA78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Kafka Connect?</a:t>
            </a:r>
            <a:endParaRPr lang="en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C4E704-ADF1-3CAE-F133-106227037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Framework for connecting Kafka with external systems</a:t>
            </a:r>
          </a:p>
          <a:p>
            <a:pPr lvl="1"/>
            <a:r>
              <a:rPr lang="en-GB" dirty="0"/>
              <a:t>databases</a:t>
            </a:r>
          </a:p>
          <a:p>
            <a:pPr lvl="1"/>
            <a:r>
              <a:rPr lang="en-GB" dirty="0"/>
              <a:t>key-value stores</a:t>
            </a:r>
          </a:p>
          <a:p>
            <a:pPr lvl="1"/>
            <a:r>
              <a:rPr lang="en-GB" dirty="0"/>
              <a:t>search indexes</a:t>
            </a:r>
          </a:p>
          <a:p>
            <a:pPr lvl="1"/>
            <a:r>
              <a:rPr lang="en-GB" dirty="0" err="1"/>
              <a:t>datalakes</a:t>
            </a:r>
            <a:r>
              <a:rPr lang="en-GB" dirty="0"/>
              <a:t> and storages</a:t>
            </a:r>
          </a:p>
          <a:p>
            <a:pPr lvl="1"/>
            <a:r>
              <a:rPr lang="en-GB" dirty="0"/>
              <a:t>file systems</a:t>
            </a:r>
          </a:p>
          <a:p>
            <a:r>
              <a:rPr lang="en-GB" dirty="0"/>
              <a:t>Purpose</a:t>
            </a:r>
          </a:p>
          <a:p>
            <a:pPr lvl="1"/>
            <a:r>
              <a:rPr lang="en-GB" dirty="0"/>
              <a:t>Simplifies data integration and stream processing.</a:t>
            </a:r>
          </a:p>
          <a:p>
            <a:pPr lvl="1"/>
            <a:r>
              <a:rPr lang="en-GB" dirty="0"/>
              <a:t>Provide scalable and reliable data pipelines.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76794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4E1F1-19DA-5BD0-AA9F-DA949765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 and Use Cases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DE259-0EB0-0497-9145-8BF07177E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Benefits:</a:t>
            </a:r>
          </a:p>
          <a:p>
            <a:pPr lvl="1"/>
            <a:r>
              <a:rPr lang="en-GB" dirty="0"/>
              <a:t>Easy to set up and configure.</a:t>
            </a:r>
          </a:p>
          <a:p>
            <a:pPr lvl="1"/>
            <a:r>
              <a:rPr lang="en-GB" dirty="0"/>
              <a:t>Scalable and fault-tolerant.</a:t>
            </a:r>
          </a:p>
          <a:p>
            <a:pPr lvl="1"/>
            <a:r>
              <a:rPr lang="en-GB" dirty="0"/>
              <a:t>Supports a wide range of connectors.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Use Cases:</a:t>
            </a:r>
          </a:p>
          <a:p>
            <a:pPr lvl="1"/>
            <a:r>
              <a:rPr lang="en-GB" dirty="0"/>
              <a:t>Data migration between systems.</a:t>
            </a:r>
          </a:p>
          <a:p>
            <a:pPr lvl="1"/>
            <a:r>
              <a:rPr lang="en-GB" dirty="0"/>
              <a:t>Real-time analytics.</a:t>
            </a:r>
          </a:p>
          <a:p>
            <a:pPr lvl="1"/>
            <a:r>
              <a:rPr lang="en-GB" dirty="0"/>
              <a:t>ETL processes.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0670055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>
            <a:extLst>
              <a:ext uri="{FF2B5EF4-FFF2-40B4-BE49-F238E27FC236}">
                <a16:creationId xmlns:a16="http://schemas.microsoft.com/office/drawing/2014/main" id="{85E5FD2E-9E9B-E2C0-00B8-BFED45D36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94801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ow-connect-works">
            <a:extLst>
              <a:ext uri="{FF2B5EF4-FFF2-40B4-BE49-F238E27FC236}">
                <a16:creationId xmlns:a16="http://schemas.microsoft.com/office/drawing/2014/main" id="{412A137B-C935-F6CF-EF4A-C0A81E6A7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2700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treaming-pipelines">
            <a:extLst>
              <a:ext uri="{FF2B5EF4-FFF2-40B4-BE49-F238E27FC236}">
                <a16:creationId xmlns:a16="http://schemas.microsoft.com/office/drawing/2014/main" id="{CEA08A8B-D122-7B47-5DC6-877FD7076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1061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1119C-FF95-FB85-EC05-9281E7839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Schema Registry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8CBB-5D8B-4DA5-8308-5585DCE07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832389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67788-7D55-6DA0-50DE-1705A3E57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Schema Registry?</a:t>
            </a:r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58B36-C4E6-7269-AEEF-FBD2FEF4C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Schema Registry is a service that provides a central repository for managing and validating schemas for Kafka messages.</a:t>
            </a:r>
          </a:p>
          <a:p>
            <a:r>
              <a:rPr lang="en-GB" dirty="0"/>
              <a:t>Ensures that data is serialized and deserialized consistently across producers and consumers.</a:t>
            </a:r>
          </a:p>
          <a:p>
            <a:r>
              <a:rPr lang="en-GB" dirty="0"/>
              <a:t>Defines the structure of data (e.g., Avro, JSON Schema, </a:t>
            </a:r>
            <a:r>
              <a:rPr lang="en-GB" dirty="0" err="1"/>
              <a:t>Protobuf</a:t>
            </a:r>
            <a:r>
              <a:rPr lang="en-GB" dirty="0"/>
              <a:t>).</a:t>
            </a:r>
          </a:p>
          <a:p>
            <a:r>
              <a:rPr lang="en-GB" dirty="0"/>
              <a:t>Logical groupings of schemas, typically tied to a Kafka topic.</a:t>
            </a:r>
          </a:p>
          <a:p>
            <a:r>
              <a:rPr lang="en-GB" dirty="0"/>
              <a:t>Schemas can evolve, and each change is tracked as a new version.</a:t>
            </a:r>
          </a:p>
          <a:p>
            <a:r>
              <a:rPr lang="en-GB" dirty="0"/>
              <a:t>Uses Kafka Cluster as a backing store.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5572837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D92FD9-DDA7-FD8F-CA32-397F18D86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Schema Registry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B67EF6-88A3-CD55-EC77-06D74C86C36F}"/>
              </a:ext>
            </a:extLst>
          </p:cNvPr>
          <p:cNvSpPr/>
          <p:nvPr/>
        </p:nvSpPr>
        <p:spPr>
          <a:xfrm>
            <a:off x="4294094" y="4464424"/>
            <a:ext cx="3603812" cy="13255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Cluster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7226C74-D9AD-E468-5B5C-D15AB904D726}"/>
              </a:ext>
            </a:extLst>
          </p:cNvPr>
          <p:cNvSpPr/>
          <p:nvPr/>
        </p:nvSpPr>
        <p:spPr>
          <a:xfrm>
            <a:off x="9878600" y="4531421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340ED6-AD71-ABC9-4F4C-D5EC71EE3136}"/>
              </a:ext>
            </a:extLst>
          </p:cNvPr>
          <p:cNvSpPr/>
          <p:nvPr/>
        </p:nvSpPr>
        <p:spPr>
          <a:xfrm>
            <a:off x="838200" y="4531421"/>
            <a:ext cx="1475200" cy="11915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Producer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7EBB428-9972-0BF0-14EF-87896E1ECB68}"/>
              </a:ext>
            </a:extLst>
          </p:cNvPr>
          <p:cNvSpPr/>
          <p:nvPr/>
        </p:nvSpPr>
        <p:spPr>
          <a:xfrm>
            <a:off x="4753535" y="1899787"/>
            <a:ext cx="2684930" cy="9875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Schema Registry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AC99C0-14B6-3E7B-E1E7-6B4440DD288D}"/>
              </a:ext>
            </a:extLst>
          </p:cNvPr>
          <p:cNvCxnSpPr>
            <a:stCxn id="8" idx="2"/>
            <a:endCxn id="5" idx="0"/>
          </p:cNvCxnSpPr>
          <p:nvPr/>
        </p:nvCxnSpPr>
        <p:spPr>
          <a:xfrm>
            <a:off x="6096000" y="2887364"/>
            <a:ext cx="0" cy="157706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F7E51B-438F-0200-6C5F-D8CEC7FC0072}"/>
              </a:ext>
            </a:extLst>
          </p:cNvPr>
          <p:cNvCxnSpPr>
            <a:cxnSpLocks/>
            <a:stCxn id="7" idx="6"/>
            <a:endCxn id="5" idx="1"/>
          </p:cNvCxnSpPr>
          <p:nvPr/>
        </p:nvCxnSpPr>
        <p:spPr>
          <a:xfrm>
            <a:off x="2313400" y="5127205"/>
            <a:ext cx="1980694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993828-C233-1E97-68AC-97399916ACAD}"/>
              </a:ext>
            </a:extLst>
          </p:cNvPr>
          <p:cNvCxnSpPr>
            <a:cxnSpLocks/>
            <a:stCxn id="6" idx="2"/>
            <a:endCxn id="5" idx="3"/>
          </p:cNvCxnSpPr>
          <p:nvPr/>
        </p:nvCxnSpPr>
        <p:spPr>
          <a:xfrm flipH="1">
            <a:off x="7897906" y="5127205"/>
            <a:ext cx="1980694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18332DF9-11F8-0B59-26AC-13638ABB0CE0}"/>
              </a:ext>
            </a:extLst>
          </p:cNvPr>
          <p:cNvCxnSpPr>
            <a:stCxn id="7" idx="0"/>
            <a:endCxn id="8" idx="1"/>
          </p:cNvCxnSpPr>
          <p:nvPr/>
        </p:nvCxnSpPr>
        <p:spPr>
          <a:xfrm rot="5400000" flipH="1" flipV="1">
            <a:off x="2095745" y="1873632"/>
            <a:ext cx="2137845" cy="3177735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ABE09AE9-932D-BDFA-31B1-3E0569BDC618}"/>
              </a:ext>
            </a:extLst>
          </p:cNvPr>
          <p:cNvCxnSpPr>
            <a:cxnSpLocks/>
            <a:stCxn id="6" idx="0"/>
            <a:endCxn id="8" idx="3"/>
          </p:cNvCxnSpPr>
          <p:nvPr/>
        </p:nvCxnSpPr>
        <p:spPr>
          <a:xfrm rot="16200000" flipV="1">
            <a:off x="7958411" y="1873631"/>
            <a:ext cx="2137845" cy="3177735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660F1B0-0ABB-FC1D-7D3B-73C893951F3C}"/>
              </a:ext>
            </a:extLst>
          </p:cNvPr>
          <p:cNvSpPr txBox="1"/>
          <p:nvPr/>
        </p:nvSpPr>
        <p:spPr>
          <a:xfrm>
            <a:off x="4676925" y="3361605"/>
            <a:ext cx="2838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</a:t>
            </a:r>
            <a:r>
              <a:rPr lang="en-RU" dirty="0"/>
              <a:t>tores the schemas in topics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948E4A-3239-15CA-E4CE-BA57572C1F63}"/>
              </a:ext>
            </a:extLst>
          </p:cNvPr>
          <p:cNvSpPr txBox="1"/>
          <p:nvPr/>
        </p:nvSpPr>
        <p:spPr>
          <a:xfrm>
            <a:off x="838200" y="3339854"/>
            <a:ext cx="14676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Fetch schema</a:t>
            </a:r>
            <a:br>
              <a:rPr lang="en-US" dirty="0"/>
            </a:br>
            <a:r>
              <a:rPr lang="en-US" dirty="0"/>
              <a:t>and</a:t>
            </a:r>
          </a:p>
          <a:p>
            <a:pPr algn="ctr"/>
            <a:r>
              <a:rPr lang="en-US" dirty="0"/>
              <a:t>validate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A1AA78-5B70-A59C-82E9-36C6194DA3B0}"/>
              </a:ext>
            </a:extLst>
          </p:cNvPr>
          <p:cNvSpPr txBox="1"/>
          <p:nvPr/>
        </p:nvSpPr>
        <p:spPr>
          <a:xfrm>
            <a:off x="9878600" y="3339853"/>
            <a:ext cx="14676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Fetch schema</a:t>
            </a:r>
            <a:br>
              <a:rPr lang="en-US" dirty="0"/>
            </a:br>
            <a:r>
              <a:rPr lang="en-US" dirty="0"/>
              <a:t>and</a:t>
            </a:r>
          </a:p>
          <a:p>
            <a:pPr algn="ctr"/>
            <a:r>
              <a:rPr lang="en-US" dirty="0"/>
              <a:t>validate</a:t>
            </a:r>
          </a:p>
        </p:txBody>
      </p:sp>
    </p:spTree>
    <p:extLst>
      <p:ext uri="{BB962C8B-B14F-4D97-AF65-F5344CB8AC3E}">
        <p14:creationId xmlns:p14="http://schemas.microsoft.com/office/powerpoint/2010/main" val="32981436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402D43-826C-6207-FF12-8F3C0D916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Define the avro schema for event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2BD0E-7948-07EF-BDA8-EECE7DB72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{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 "namespace": "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io.devhands.avro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",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 "type": "record",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 "name": "Event",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 "fields": [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   {"name": "name", "type": "string"},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   {"name": "kind", "type": "string"},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   {"name": "data", "type": "long"}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 ]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663654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402D43-826C-6207-FF12-8F3C0D916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Publish the schema into registry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2BD0E-7948-07EF-BDA8-EECE7DB72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curl -X POST -H "Content-Type: application/vnd.schemaregistry.v1+json" \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--data '{"schema": "{\"type\": \"record\", \"name\": \"Event\", \"fields\": [{\"name\": \"name\", \"type\": \"string\"}, {\"name\": \"kind\", \"type\": \"string\"}, {\"name\": \"data\", \"type\": \"long\"}]}"}' \</a:t>
            </a:r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http://kafka-registry:8081/subjects/event-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avro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/versions</a:t>
            </a:r>
          </a:p>
        </p:txBody>
      </p:sp>
    </p:spTree>
    <p:extLst>
      <p:ext uri="{BB962C8B-B14F-4D97-AF65-F5344CB8AC3E}">
        <p14:creationId xmlns:p14="http://schemas.microsoft.com/office/powerpoint/2010/main" val="249920708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402D43-826C-6207-FF12-8F3C0D916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Fetch the schema from registry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2BD0E-7948-07EF-BDA8-EECE7DB72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curl -X GET http:// kafka-registry:8081/subjects/event-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avro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/versions/latest</a:t>
            </a:r>
          </a:p>
        </p:txBody>
      </p:sp>
    </p:spTree>
    <p:extLst>
      <p:ext uri="{BB962C8B-B14F-4D97-AF65-F5344CB8AC3E}">
        <p14:creationId xmlns:p14="http://schemas.microsoft.com/office/powerpoint/2010/main" val="30306426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60CD0-F625-6AEA-0BD1-787094320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Schema Evolution and Compatibility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6A718-4A91-904A-1548-43EDAFE1D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process of modifying a schema over time while ensuring compatibility with existing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Types of Changes:</a:t>
            </a:r>
          </a:p>
          <a:p>
            <a:pPr lvl="1"/>
            <a:r>
              <a:rPr lang="en-GB" b="1" dirty="0"/>
              <a:t>Backward</a:t>
            </a:r>
            <a:r>
              <a:rPr lang="en-GB" dirty="0"/>
              <a:t>: New schema can read data written by the old schema.</a:t>
            </a:r>
          </a:p>
          <a:p>
            <a:pPr lvl="1"/>
            <a:r>
              <a:rPr lang="en-GB" b="1" dirty="0"/>
              <a:t>Forward</a:t>
            </a:r>
            <a:r>
              <a:rPr lang="en-GB" dirty="0"/>
              <a:t>: Old schema can read data written by the new schema.</a:t>
            </a:r>
          </a:p>
          <a:p>
            <a:pPr lvl="1"/>
            <a:r>
              <a:rPr lang="en-GB" b="1" dirty="0"/>
              <a:t>Full Compatible</a:t>
            </a:r>
            <a:r>
              <a:rPr lang="en-GB" dirty="0"/>
              <a:t>: Both backward and forward compatible.</a:t>
            </a:r>
            <a:endParaRPr lang="en-RU" dirty="0"/>
          </a:p>
          <a:p>
            <a:r>
              <a:rPr lang="en-RU" dirty="0"/>
              <a:t>Backward is the default</a:t>
            </a:r>
          </a:p>
          <a:p>
            <a:pPr marL="0" indent="0">
              <a:buNone/>
            </a:pPr>
            <a:endParaRPr lang="en-RU" dirty="0"/>
          </a:p>
          <a:p>
            <a:pPr marL="0" indent="0">
              <a:buNone/>
            </a:pP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curl -XPUT --data '{"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compatibility":"BACKWARD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"}’ \ 	http://</a:t>
            </a:r>
            <a:r>
              <a:rPr lang="en-GB" sz="2400" dirty="0"/>
              <a:t>…</a:t>
            </a:r>
            <a:r>
              <a:rPr lang="en-GB" sz="24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/config/event-</a:t>
            </a:r>
            <a:r>
              <a:rPr lang="en-GB" sz="24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avro</a:t>
            </a:r>
            <a:endParaRPr lang="en-RU" sz="2400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1982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4FBD-D948-F2C5-C915-14B44B84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Best Practices for Using Schema Registry</a:t>
            </a:r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26FB88-2C0F-E57D-84ED-BF34F72B5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Schema Design:</a:t>
            </a:r>
            <a:endParaRPr lang="en-GB" dirty="0"/>
          </a:p>
          <a:p>
            <a:pPr lvl="1"/>
            <a:r>
              <a:rPr lang="en-GB" dirty="0"/>
              <a:t>Design schemas with forward and backward compatibility in mind.</a:t>
            </a:r>
          </a:p>
          <a:p>
            <a:pPr lvl="1"/>
            <a:r>
              <a:rPr lang="en-GB" dirty="0"/>
              <a:t>Use defaults for new fields to maintain compatibility.</a:t>
            </a:r>
          </a:p>
          <a:p>
            <a:pPr marL="0" indent="0">
              <a:buNone/>
            </a:pPr>
            <a:r>
              <a:rPr lang="en-GB" b="1" dirty="0"/>
              <a:t>Versioning:</a:t>
            </a:r>
            <a:endParaRPr lang="en-GB" dirty="0"/>
          </a:p>
          <a:p>
            <a:pPr lvl="1"/>
            <a:r>
              <a:rPr lang="en-GB" dirty="0"/>
              <a:t>Increment schema versions for changes.</a:t>
            </a:r>
          </a:p>
          <a:p>
            <a:pPr lvl="1"/>
            <a:r>
              <a:rPr lang="en-GB" dirty="0"/>
              <a:t>Use meaningful versioning conventions.</a:t>
            </a:r>
          </a:p>
          <a:p>
            <a:pPr marL="0" indent="0">
              <a:buNone/>
            </a:pPr>
            <a:r>
              <a:rPr lang="en-GB" b="1" dirty="0"/>
              <a:t>Compatibility:</a:t>
            </a:r>
            <a:endParaRPr lang="en-GB" dirty="0"/>
          </a:p>
          <a:p>
            <a:pPr lvl="1"/>
            <a:r>
              <a:rPr lang="en-GB" dirty="0"/>
              <a:t>Regularly check compatibility mode settings.</a:t>
            </a:r>
          </a:p>
          <a:p>
            <a:pPr lvl="1"/>
            <a:r>
              <a:rPr lang="en-GB" dirty="0"/>
              <a:t>Use full compatibility for the highest level of data integrity.</a:t>
            </a:r>
          </a:p>
        </p:txBody>
      </p:sp>
    </p:spTree>
    <p:extLst>
      <p:ext uri="{BB962C8B-B14F-4D97-AF65-F5344CB8AC3E}">
        <p14:creationId xmlns:p14="http://schemas.microsoft.com/office/powerpoint/2010/main" val="247163402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4FBD-D948-F2C5-C915-14B44B84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Best Practices for Using Schema Registry</a:t>
            </a:r>
            <a:endParaRPr lang="en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26FB88-2C0F-E57D-84ED-BF34F72B5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Documentation:</a:t>
            </a:r>
            <a:endParaRPr lang="en-GB" dirty="0"/>
          </a:p>
          <a:p>
            <a:pPr lvl="1"/>
            <a:r>
              <a:rPr lang="en-GB" dirty="0"/>
              <a:t>Document schema changes and evolution history.</a:t>
            </a:r>
          </a:p>
          <a:p>
            <a:pPr lvl="1"/>
            <a:r>
              <a:rPr lang="en-GB" dirty="0"/>
              <a:t>Maintain a changelog for schema updates.</a:t>
            </a:r>
          </a:p>
          <a:p>
            <a:pPr marL="0" indent="0">
              <a:buNone/>
            </a:pPr>
            <a:r>
              <a:rPr lang="en-GB" b="1" dirty="0"/>
              <a:t>Security:</a:t>
            </a:r>
            <a:endParaRPr lang="en-GB" dirty="0"/>
          </a:p>
          <a:p>
            <a:pPr lvl="1"/>
            <a:r>
              <a:rPr lang="en-GB" dirty="0"/>
              <a:t>Secure access to the Schema Registry API.</a:t>
            </a:r>
          </a:p>
          <a:p>
            <a:pPr lvl="1"/>
            <a:r>
              <a:rPr lang="en-GB" dirty="0"/>
              <a:t>Use authentication and authorization to control access.</a:t>
            </a:r>
          </a:p>
        </p:txBody>
      </p:sp>
    </p:spTree>
    <p:extLst>
      <p:ext uri="{BB962C8B-B14F-4D97-AF65-F5344CB8AC3E}">
        <p14:creationId xmlns:p14="http://schemas.microsoft.com/office/powerpoint/2010/main" val="366571331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736129-9978-E55E-62BF-3814D11DC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Kafka Mirroring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F78F7-0C63-076F-39A2-354406148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RU" dirty="0"/>
              <a:t>How to live with only </a:t>
            </a:r>
            <a:r>
              <a:rPr lang="en-RU" strike="sngStrike" dirty="0"/>
              <a:t>one leg</a:t>
            </a:r>
            <a:r>
              <a:rPr lang="en-RU" dirty="0"/>
              <a:t> two datacenters</a:t>
            </a:r>
          </a:p>
        </p:txBody>
      </p:sp>
    </p:spTree>
    <p:extLst>
      <p:ext uri="{BB962C8B-B14F-4D97-AF65-F5344CB8AC3E}">
        <p14:creationId xmlns:p14="http://schemas.microsoft.com/office/powerpoint/2010/main" val="373357291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25EEAF-B2ED-8BE8-B5C0-53973F9FF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Kafka </a:t>
            </a:r>
            <a:r>
              <a:rPr lang="en-US" dirty="0" err="1"/>
              <a:t>MirrorMaker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16A4C7-F068-2657-06C3-EBEDC06AA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tool provided by Apache Kafka for cross-cluster replication.</a:t>
            </a:r>
          </a:p>
          <a:p>
            <a:r>
              <a:rPr lang="en-US" dirty="0"/>
              <a:t>Designed to replicate topics between clusters.</a:t>
            </a:r>
          </a:p>
          <a:p>
            <a:r>
              <a:rPr lang="en-US" dirty="0"/>
              <a:t>Common use cases:</a:t>
            </a:r>
          </a:p>
          <a:p>
            <a:pPr lvl="1"/>
            <a:r>
              <a:rPr lang="en-US" dirty="0"/>
              <a:t>Disaster recovery and backup.</a:t>
            </a:r>
          </a:p>
          <a:p>
            <a:pPr lvl="1"/>
            <a:r>
              <a:rPr lang="en-US" dirty="0"/>
              <a:t>Geo-replication for multi-region Kafka clusters.</a:t>
            </a:r>
          </a:p>
          <a:p>
            <a:pPr lvl="1"/>
            <a:r>
              <a:rPr lang="en-US" dirty="0"/>
              <a:t>Migration between Kafka clusters.</a:t>
            </a:r>
          </a:p>
        </p:txBody>
      </p:sp>
    </p:spTree>
    <p:extLst>
      <p:ext uri="{BB962C8B-B14F-4D97-AF65-F5344CB8AC3E}">
        <p14:creationId xmlns:p14="http://schemas.microsoft.com/office/powerpoint/2010/main" val="72703948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7787-3929-4E4A-EBA7-F4765AB7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MirrorMaker</a:t>
            </a:r>
            <a:r>
              <a:rPr lang="en-US" dirty="0"/>
              <a:t> 2 (MM2)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239B4-BF0D-DADC-BDE1-94C648033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MM2 introduced with Kafka 2.4</a:t>
            </a:r>
          </a:p>
          <a:p>
            <a:r>
              <a:rPr lang="en-US" dirty="0"/>
              <a:t>MM2 is a major upgrade, built on top of Kafka Connect.</a:t>
            </a:r>
          </a:p>
          <a:p>
            <a:r>
              <a:rPr lang="en-US" dirty="0"/>
              <a:t>Key improvements over the original </a:t>
            </a:r>
            <a:r>
              <a:rPr lang="en-US" dirty="0" err="1"/>
              <a:t>MirrorMaker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Based on Kafka Connect framework.</a:t>
            </a:r>
          </a:p>
          <a:p>
            <a:pPr lvl="1"/>
            <a:r>
              <a:rPr lang="en-US" dirty="0"/>
              <a:t>Better configurability and modularity.</a:t>
            </a:r>
          </a:p>
          <a:p>
            <a:pPr lvl="1"/>
            <a:r>
              <a:rPr lang="en-US" dirty="0"/>
              <a:t>Supports active-active replication between clusters.</a:t>
            </a:r>
          </a:p>
          <a:p>
            <a:pPr lvl="1"/>
            <a:r>
              <a:rPr lang="en-US" dirty="0"/>
              <a:t>Enhanced monitoring and metrics support.</a:t>
            </a:r>
          </a:p>
          <a:p>
            <a:pPr lvl="1"/>
            <a:r>
              <a:rPr lang="en-US" dirty="0"/>
              <a:t>Handles topic renaming and automatic offset sync.</a:t>
            </a:r>
          </a:p>
        </p:txBody>
      </p:sp>
    </p:spTree>
    <p:extLst>
      <p:ext uri="{BB962C8B-B14F-4D97-AF65-F5344CB8AC3E}">
        <p14:creationId xmlns:p14="http://schemas.microsoft.com/office/powerpoint/2010/main" val="176806189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3F06B3-C63B-9FAD-9DB4-851CE56C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MirrorMaker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072245-B538-37F5-200D-0299FCBD7D32}"/>
              </a:ext>
            </a:extLst>
          </p:cNvPr>
          <p:cNvCxnSpPr/>
          <p:nvPr/>
        </p:nvCxnSpPr>
        <p:spPr>
          <a:xfrm>
            <a:off x="6033247" y="2017059"/>
            <a:ext cx="0" cy="4141694"/>
          </a:xfrm>
          <a:prstGeom prst="line">
            <a:avLst/>
          </a:prstGeom>
          <a:ln w="38100">
            <a:solidFill>
              <a:schemeClr val="accent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n 7">
            <a:extLst>
              <a:ext uri="{FF2B5EF4-FFF2-40B4-BE49-F238E27FC236}">
                <a16:creationId xmlns:a16="http://schemas.microsoft.com/office/drawing/2014/main" id="{A39C5B24-E578-7EC1-8EBC-96CD96570C84}"/>
              </a:ext>
            </a:extLst>
          </p:cNvPr>
          <p:cNvSpPr/>
          <p:nvPr/>
        </p:nvSpPr>
        <p:spPr>
          <a:xfrm>
            <a:off x="1797419" y="2770094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1</a:t>
            </a:r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42093D71-C1DD-4A42-BE6B-B077DD8F4FE3}"/>
              </a:ext>
            </a:extLst>
          </p:cNvPr>
          <p:cNvSpPr/>
          <p:nvPr/>
        </p:nvSpPr>
        <p:spPr>
          <a:xfrm>
            <a:off x="2756639" y="4119282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2</a:t>
            </a:r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507EFEA0-EDC3-0CCB-9B36-5C17322FAB5C}"/>
              </a:ext>
            </a:extLst>
          </p:cNvPr>
          <p:cNvSpPr/>
          <p:nvPr/>
        </p:nvSpPr>
        <p:spPr>
          <a:xfrm>
            <a:off x="838200" y="4407553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782834-FB83-1635-E2C4-6A3A24C6C78D}"/>
              </a:ext>
            </a:extLst>
          </p:cNvPr>
          <p:cNvCxnSpPr>
            <a:cxnSpLocks/>
            <a:stCxn id="10" idx="1"/>
            <a:endCxn id="8" idx="2"/>
          </p:cNvCxnSpPr>
          <p:nvPr/>
        </p:nvCxnSpPr>
        <p:spPr>
          <a:xfrm flipV="1">
            <a:off x="1450038" y="3328147"/>
            <a:ext cx="347381" cy="1079406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7E1430-E16F-BD95-B848-A7CDD5383201}"/>
              </a:ext>
            </a:extLst>
          </p:cNvPr>
          <p:cNvCxnSpPr>
            <a:cxnSpLocks/>
            <a:stCxn id="9" idx="1"/>
            <a:endCxn id="8" idx="4"/>
          </p:cNvCxnSpPr>
          <p:nvPr/>
        </p:nvCxnSpPr>
        <p:spPr>
          <a:xfrm flipH="1" flipV="1">
            <a:off x="3021094" y="3328147"/>
            <a:ext cx="347383" cy="791135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ADD3F3-B471-B4B5-1995-E46650A21B8C}"/>
              </a:ext>
            </a:extLst>
          </p:cNvPr>
          <p:cNvCxnSpPr>
            <a:cxnSpLocks/>
            <a:stCxn id="9" idx="2"/>
            <a:endCxn id="10" idx="4"/>
          </p:cNvCxnSpPr>
          <p:nvPr/>
        </p:nvCxnSpPr>
        <p:spPr>
          <a:xfrm flipH="1">
            <a:off x="2061875" y="4677335"/>
            <a:ext cx="694764" cy="288271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n 23">
            <a:extLst>
              <a:ext uri="{FF2B5EF4-FFF2-40B4-BE49-F238E27FC236}">
                <a16:creationId xmlns:a16="http://schemas.microsoft.com/office/drawing/2014/main" id="{39E3241E-890D-DA0A-0F21-13EF5B4A4DDE}"/>
              </a:ext>
            </a:extLst>
          </p:cNvPr>
          <p:cNvSpPr/>
          <p:nvPr/>
        </p:nvSpPr>
        <p:spPr>
          <a:xfrm>
            <a:off x="9170904" y="2770094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4</a:t>
            </a:r>
          </a:p>
        </p:txBody>
      </p:sp>
      <p:sp>
        <p:nvSpPr>
          <p:cNvPr id="25" name="Can 24">
            <a:extLst>
              <a:ext uri="{FF2B5EF4-FFF2-40B4-BE49-F238E27FC236}">
                <a16:creationId xmlns:a16="http://schemas.microsoft.com/office/drawing/2014/main" id="{6F497E5F-65CB-34FA-45E6-8DF68336EE88}"/>
              </a:ext>
            </a:extLst>
          </p:cNvPr>
          <p:cNvSpPr/>
          <p:nvPr/>
        </p:nvSpPr>
        <p:spPr>
          <a:xfrm>
            <a:off x="10130124" y="4119282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6</a:t>
            </a:r>
          </a:p>
        </p:txBody>
      </p:sp>
      <p:sp>
        <p:nvSpPr>
          <p:cNvPr id="26" name="Can 25">
            <a:extLst>
              <a:ext uri="{FF2B5EF4-FFF2-40B4-BE49-F238E27FC236}">
                <a16:creationId xmlns:a16="http://schemas.microsoft.com/office/drawing/2014/main" id="{AC744A81-572F-2850-383E-9D14C294772D}"/>
              </a:ext>
            </a:extLst>
          </p:cNvPr>
          <p:cNvSpPr/>
          <p:nvPr/>
        </p:nvSpPr>
        <p:spPr>
          <a:xfrm>
            <a:off x="8211685" y="4407553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5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BDFF1BB-567C-AA3E-EF83-5C36DC9A8CAE}"/>
              </a:ext>
            </a:extLst>
          </p:cNvPr>
          <p:cNvCxnSpPr>
            <a:cxnSpLocks/>
            <a:stCxn id="26" idx="1"/>
            <a:endCxn id="24" idx="2"/>
          </p:cNvCxnSpPr>
          <p:nvPr/>
        </p:nvCxnSpPr>
        <p:spPr>
          <a:xfrm flipV="1">
            <a:off x="8823523" y="3328147"/>
            <a:ext cx="347381" cy="1079406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CC94F89-DC40-9360-B6E4-25A04EF666A3}"/>
              </a:ext>
            </a:extLst>
          </p:cNvPr>
          <p:cNvCxnSpPr>
            <a:cxnSpLocks/>
            <a:stCxn id="25" idx="1"/>
            <a:endCxn id="24" idx="4"/>
          </p:cNvCxnSpPr>
          <p:nvPr/>
        </p:nvCxnSpPr>
        <p:spPr>
          <a:xfrm flipH="1" flipV="1">
            <a:off x="10394579" y="3328147"/>
            <a:ext cx="347383" cy="791135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ED7467-C199-B450-DC9A-A42006480B40}"/>
              </a:ext>
            </a:extLst>
          </p:cNvPr>
          <p:cNvCxnSpPr>
            <a:cxnSpLocks/>
            <a:stCxn id="25" idx="2"/>
            <a:endCxn id="26" idx="4"/>
          </p:cNvCxnSpPr>
          <p:nvPr/>
        </p:nvCxnSpPr>
        <p:spPr>
          <a:xfrm flipH="1">
            <a:off x="9435360" y="4677335"/>
            <a:ext cx="694764" cy="288271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78502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3F06B3-C63B-9FAD-9DB4-851CE56C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MirrorMaker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072245-B538-37F5-200D-0299FCBD7D32}"/>
              </a:ext>
            </a:extLst>
          </p:cNvPr>
          <p:cNvCxnSpPr/>
          <p:nvPr/>
        </p:nvCxnSpPr>
        <p:spPr>
          <a:xfrm>
            <a:off x="6033247" y="2017059"/>
            <a:ext cx="0" cy="4141694"/>
          </a:xfrm>
          <a:prstGeom prst="line">
            <a:avLst/>
          </a:prstGeom>
          <a:ln w="38100">
            <a:solidFill>
              <a:schemeClr val="accent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n 7">
            <a:extLst>
              <a:ext uri="{FF2B5EF4-FFF2-40B4-BE49-F238E27FC236}">
                <a16:creationId xmlns:a16="http://schemas.microsoft.com/office/drawing/2014/main" id="{A39C5B24-E578-7EC1-8EBC-96CD96570C84}"/>
              </a:ext>
            </a:extLst>
          </p:cNvPr>
          <p:cNvSpPr/>
          <p:nvPr/>
        </p:nvSpPr>
        <p:spPr>
          <a:xfrm>
            <a:off x="1797419" y="2770094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1</a:t>
            </a:r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42093D71-C1DD-4A42-BE6B-B077DD8F4FE3}"/>
              </a:ext>
            </a:extLst>
          </p:cNvPr>
          <p:cNvSpPr/>
          <p:nvPr/>
        </p:nvSpPr>
        <p:spPr>
          <a:xfrm>
            <a:off x="2756639" y="4119282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2</a:t>
            </a:r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507EFEA0-EDC3-0CCB-9B36-5C17322FAB5C}"/>
              </a:ext>
            </a:extLst>
          </p:cNvPr>
          <p:cNvSpPr/>
          <p:nvPr/>
        </p:nvSpPr>
        <p:spPr>
          <a:xfrm>
            <a:off x="838200" y="4407553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782834-FB83-1635-E2C4-6A3A24C6C78D}"/>
              </a:ext>
            </a:extLst>
          </p:cNvPr>
          <p:cNvCxnSpPr>
            <a:cxnSpLocks/>
            <a:stCxn id="10" idx="1"/>
            <a:endCxn id="8" idx="2"/>
          </p:cNvCxnSpPr>
          <p:nvPr/>
        </p:nvCxnSpPr>
        <p:spPr>
          <a:xfrm flipV="1">
            <a:off x="1450038" y="3328147"/>
            <a:ext cx="347381" cy="1079406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7E1430-E16F-BD95-B848-A7CDD5383201}"/>
              </a:ext>
            </a:extLst>
          </p:cNvPr>
          <p:cNvCxnSpPr>
            <a:cxnSpLocks/>
            <a:stCxn id="9" idx="1"/>
            <a:endCxn id="8" idx="4"/>
          </p:cNvCxnSpPr>
          <p:nvPr/>
        </p:nvCxnSpPr>
        <p:spPr>
          <a:xfrm flipH="1" flipV="1">
            <a:off x="3021094" y="3328147"/>
            <a:ext cx="347383" cy="791135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ADD3F3-B471-B4B5-1995-E46650A21B8C}"/>
              </a:ext>
            </a:extLst>
          </p:cNvPr>
          <p:cNvCxnSpPr>
            <a:cxnSpLocks/>
            <a:stCxn id="9" idx="2"/>
            <a:endCxn id="10" idx="4"/>
          </p:cNvCxnSpPr>
          <p:nvPr/>
        </p:nvCxnSpPr>
        <p:spPr>
          <a:xfrm flipH="1">
            <a:off x="2061875" y="4677335"/>
            <a:ext cx="694764" cy="288271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n 23">
            <a:extLst>
              <a:ext uri="{FF2B5EF4-FFF2-40B4-BE49-F238E27FC236}">
                <a16:creationId xmlns:a16="http://schemas.microsoft.com/office/drawing/2014/main" id="{39E3241E-890D-DA0A-0F21-13EF5B4A4DDE}"/>
              </a:ext>
            </a:extLst>
          </p:cNvPr>
          <p:cNvSpPr/>
          <p:nvPr/>
        </p:nvSpPr>
        <p:spPr>
          <a:xfrm>
            <a:off x="9170904" y="2770094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4</a:t>
            </a:r>
          </a:p>
        </p:txBody>
      </p:sp>
      <p:sp>
        <p:nvSpPr>
          <p:cNvPr id="25" name="Can 24">
            <a:extLst>
              <a:ext uri="{FF2B5EF4-FFF2-40B4-BE49-F238E27FC236}">
                <a16:creationId xmlns:a16="http://schemas.microsoft.com/office/drawing/2014/main" id="{6F497E5F-65CB-34FA-45E6-8DF68336EE88}"/>
              </a:ext>
            </a:extLst>
          </p:cNvPr>
          <p:cNvSpPr/>
          <p:nvPr/>
        </p:nvSpPr>
        <p:spPr>
          <a:xfrm>
            <a:off x="10130124" y="4119282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6</a:t>
            </a:r>
          </a:p>
        </p:txBody>
      </p:sp>
      <p:sp>
        <p:nvSpPr>
          <p:cNvPr id="26" name="Can 25">
            <a:extLst>
              <a:ext uri="{FF2B5EF4-FFF2-40B4-BE49-F238E27FC236}">
                <a16:creationId xmlns:a16="http://schemas.microsoft.com/office/drawing/2014/main" id="{AC744A81-572F-2850-383E-9D14C294772D}"/>
              </a:ext>
            </a:extLst>
          </p:cNvPr>
          <p:cNvSpPr/>
          <p:nvPr/>
        </p:nvSpPr>
        <p:spPr>
          <a:xfrm>
            <a:off x="8211685" y="4407553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5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BDFF1BB-567C-AA3E-EF83-5C36DC9A8CAE}"/>
              </a:ext>
            </a:extLst>
          </p:cNvPr>
          <p:cNvCxnSpPr>
            <a:cxnSpLocks/>
            <a:stCxn id="26" idx="1"/>
            <a:endCxn id="24" idx="2"/>
          </p:cNvCxnSpPr>
          <p:nvPr/>
        </p:nvCxnSpPr>
        <p:spPr>
          <a:xfrm flipV="1">
            <a:off x="8823523" y="3328147"/>
            <a:ext cx="347381" cy="1079406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CC94F89-DC40-9360-B6E4-25A04EF666A3}"/>
              </a:ext>
            </a:extLst>
          </p:cNvPr>
          <p:cNvCxnSpPr>
            <a:cxnSpLocks/>
            <a:stCxn id="25" idx="1"/>
            <a:endCxn id="24" idx="4"/>
          </p:cNvCxnSpPr>
          <p:nvPr/>
        </p:nvCxnSpPr>
        <p:spPr>
          <a:xfrm flipH="1" flipV="1">
            <a:off x="10394579" y="3328147"/>
            <a:ext cx="347383" cy="791135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ED7467-C199-B450-DC9A-A42006480B40}"/>
              </a:ext>
            </a:extLst>
          </p:cNvPr>
          <p:cNvCxnSpPr>
            <a:cxnSpLocks/>
            <a:stCxn id="25" idx="2"/>
            <a:endCxn id="26" idx="4"/>
          </p:cNvCxnSpPr>
          <p:nvPr/>
        </p:nvCxnSpPr>
        <p:spPr>
          <a:xfrm flipH="1">
            <a:off x="9435360" y="4677335"/>
            <a:ext cx="694764" cy="288271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22A08158-653E-E23D-1E1D-CB986E946CC6}"/>
              </a:ext>
            </a:extLst>
          </p:cNvPr>
          <p:cNvSpPr/>
          <p:nvPr/>
        </p:nvSpPr>
        <p:spPr>
          <a:xfrm>
            <a:off x="6909570" y="1529581"/>
            <a:ext cx="1562075" cy="10522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Producer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D1B6D4C-F11F-20CE-F259-EAF8C90EC0E3}"/>
              </a:ext>
            </a:extLst>
          </p:cNvPr>
          <p:cNvSpPr/>
          <p:nvPr/>
        </p:nvSpPr>
        <p:spPr>
          <a:xfrm>
            <a:off x="5578268" y="1529581"/>
            <a:ext cx="1576710" cy="10522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33" name="Bent Arrow 32">
            <a:extLst>
              <a:ext uri="{FF2B5EF4-FFF2-40B4-BE49-F238E27FC236}">
                <a16:creationId xmlns:a16="http://schemas.microsoft.com/office/drawing/2014/main" id="{9663312F-1958-C9EC-4A41-7D65F81ACE49}"/>
              </a:ext>
            </a:extLst>
          </p:cNvPr>
          <p:cNvSpPr/>
          <p:nvPr/>
        </p:nvSpPr>
        <p:spPr>
          <a:xfrm>
            <a:off x="2312894" y="1855694"/>
            <a:ext cx="2864224" cy="726141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tx1"/>
              </a:solidFill>
            </a:endParaRPr>
          </a:p>
        </p:txBody>
      </p:sp>
      <p:sp>
        <p:nvSpPr>
          <p:cNvPr id="34" name="Bent Arrow 33">
            <a:extLst>
              <a:ext uri="{FF2B5EF4-FFF2-40B4-BE49-F238E27FC236}">
                <a16:creationId xmlns:a16="http://schemas.microsoft.com/office/drawing/2014/main" id="{64700296-E8D1-6C56-52BD-419355F9E32E}"/>
              </a:ext>
            </a:extLst>
          </p:cNvPr>
          <p:cNvSpPr/>
          <p:nvPr/>
        </p:nvSpPr>
        <p:spPr>
          <a:xfrm rot="5400000">
            <a:off x="8969190" y="1546413"/>
            <a:ext cx="699246" cy="1371601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34939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3F06B3-C63B-9FAD-9DB4-851CE56C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MirrorMaker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072245-B538-37F5-200D-0299FCBD7D32}"/>
              </a:ext>
            </a:extLst>
          </p:cNvPr>
          <p:cNvCxnSpPr/>
          <p:nvPr/>
        </p:nvCxnSpPr>
        <p:spPr>
          <a:xfrm>
            <a:off x="6033247" y="2017059"/>
            <a:ext cx="0" cy="4141694"/>
          </a:xfrm>
          <a:prstGeom prst="line">
            <a:avLst/>
          </a:prstGeom>
          <a:ln w="38100">
            <a:solidFill>
              <a:schemeClr val="accent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n 7">
            <a:extLst>
              <a:ext uri="{FF2B5EF4-FFF2-40B4-BE49-F238E27FC236}">
                <a16:creationId xmlns:a16="http://schemas.microsoft.com/office/drawing/2014/main" id="{A39C5B24-E578-7EC1-8EBC-96CD96570C84}"/>
              </a:ext>
            </a:extLst>
          </p:cNvPr>
          <p:cNvSpPr/>
          <p:nvPr/>
        </p:nvSpPr>
        <p:spPr>
          <a:xfrm>
            <a:off x="1797419" y="2770094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1</a:t>
            </a:r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42093D71-C1DD-4A42-BE6B-B077DD8F4FE3}"/>
              </a:ext>
            </a:extLst>
          </p:cNvPr>
          <p:cNvSpPr/>
          <p:nvPr/>
        </p:nvSpPr>
        <p:spPr>
          <a:xfrm>
            <a:off x="2756639" y="4119282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2</a:t>
            </a:r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507EFEA0-EDC3-0CCB-9B36-5C17322FAB5C}"/>
              </a:ext>
            </a:extLst>
          </p:cNvPr>
          <p:cNvSpPr/>
          <p:nvPr/>
        </p:nvSpPr>
        <p:spPr>
          <a:xfrm>
            <a:off x="838200" y="4407553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782834-FB83-1635-E2C4-6A3A24C6C78D}"/>
              </a:ext>
            </a:extLst>
          </p:cNvPr>
          <p:cNvCxnSpPr>
            <a:cxnSpLocks/>
            <a:stCxn id="10" idx="1"/>
            <a:endCxn id="8" idx="2"/>
          </p:cNvCxnSpPr>
          <p:nvPr/>
        </p:nvCxnSpPr>
        <p:spPr>
          <a:xfrm flipV="1">
            <a:off x="1450038" y="3328147"/>
            <a:ext cx="347381" cy="1079406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7E1430-E16F-BD95-B848-A7CDD5383201}"/>
              </a:ext>
            </a:extLst>
          </p:cNvPr>
          <p:cNvCxnSpPr>
            <a:cxnSpLocks/>
            <a:stCxn id="9" idx="1"/>
            <a:endCxn id="8" idx="4"/>
          </p:cNvCxnSpPr>
          <p:nvPr/>
        </p:nvCxnSpPr>
        <p:spPr>
          <a:xfrm flipH="1" flipV="1">
            <a:off x="3021094" y="3328147"/>
            <a:ext cx="347383" cy="791135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ADD3F3-B471-B4B5-1995-E46650A21B8C}"/>
              </a:ext>
            </a:extLst>
          </p:cNvPr>
          <p:cNvCxnSpPr>
            <a:cxnSpLocks/>
            <a:stCxn id="9" idx="2"/>
            <a:endCxn id="10" idx="4"/>
          </p:cNvCxnSpPr>
          <p:nvPr/>
        </p:nvCxnSpPr>
        <p:spPr>
          <a:xfrm flipH="1">
            <a:off x="2061875" y="4677335"/>
            <a:ext cx="694764" cy="288271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n 23">
            <a:extLst>
              <a:ext uri="{FF2B5EF4-FFF2-40B4-BE49-F238E27FC236}">
                <a16:creationId xmlns:a16="http://schemas.microsoft.com/office/drawing/2014/main" id="{39E3241E-890D-DA0A-0F21-13EF5B4A4DDE}"/>
              </a:ext>
            </a:extLst>
          </p:cNvPr>
          <p:cNvSpPr/>
          <p:nvPr/>
        </p:nvSpPr>
        <p:spPr>
          <a:xfrm>
            <a:off x="9170904" y="2770094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4</a:t>
            </a:r>
          </a:p>
        </p:txBody>
      </p:sp>
      <p:sp>
        <p:nvSpPr>
          <p:cNvPr id="25" name="Can 24">
            <a:extLst>
              <a:ext uri="{FF2B5EF4-FFF2-40B4-BE49-F238E27FC236}">
                <a16:creationId xmlns:a16="http://schemas.microsoft.com/office/drawing/2014/main" id="{6F497E5F-65CB-34FA-45E6-8DF68336EE88}"/>
              </a:ext>
            </a:extLst>
          </p:cNvPr>
          <p:cNvSpPr/>
          <p:nvPr/>
        </p:nvSpPr>
        <p:spPr>
          <a:xfrm>
            <a:off x="10130124" y="4119282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6</a:t>
            </a:r>
          </a:p>
        </p:txBody>
      </p:sp>
      <p:sp>
        <p:nvSpPr>
          <p:cNvPr id="26" name="Can 25">
            <a:extLst>
              <a:ext uri="{FF2B5EF4-FFF2-40B4-BE49-F238E27FC236}">
                <a16:creationId xmlns:a16="http://schemas.microsoft.com/office/drawing/2014/main" id="{AC744A81-572F-2850-383E-9D14C294772D}"/>
              </a:ext>
            </a:extLst>
          </p:cNvPr>
          <p:cNvSpPr/>
          <p:nvPr/>
        </p:nvSpPr>
        <p:spPr>
          <a:xfrm>
            <a:off x="8211685" y="4407553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5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BDFF1BB-567C-AA3E-EF83-5C36DC9A8CAE}"/>
              </a:ext>
            </a:extLst>
          </p:cNvPr>
          <p:cNvCxnSpPr>
            <a:cxnSpLocks/>
            <a:stCxn id="26" idx="1"/>
            <a:endCxn id="24" idx="2"/>
          </p:cNvCxnSpPr>
          <p:nvPr/>
        </p:nvCxnSpPr>
        <p:spPr>
          <a:xfrm flipV="1">
            <a:off x="8823523" y="3328147"/>
            <a:ext cx="347381" cy="1079406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CC94F89-DC40-9360-B6E4-25A04EF666A3}"/>
              </a:ext>
            </a:extLst>
          </p:cNvPr>
          <p:cNvCxnSpPr>
            <a:cxnSpLocks/>
            <a:stCxn id="25" idx="1"/>
            <a:endCxn id="24" idx="4"/>
          </p:cNvCxnSpPr>
          <p:nvPr/>
        </p:nvCxnSpPr>
        <p:spPr>
          <a:xfrm flipH="1" flipV="1">
            <a:off x="10394579" y="3328147"/>
            <a:ext cx="347383" cy="791135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ED7467-C199-B450-DC9A-A42006480B40}"/>
              </a:ext>
            </a:extLst>
          </p:cNvPr>
          <p:cNvCxnSpPr>
            <a:cxnSpLocks/>
            <a:stCxn id="25" idx="2"/>
            <a:endCxn id="26" idx="4"/>
          </p:cNvCxnSpPr>
          <p:nvPr/>
        </p:nvCxnSpPr>
        <p:spPr>
          <a:xfrm flipH="1">
            <a:off x="9435360" y="4677335"/>
            <a:ext cx="694764" cy="288271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22A08158-653E-E23D-1E1D-CB986E946CC6}"/>
              </a:ext>
            </a:extLst>
          </p:cNvPr>
          <p:cNvSpPr/>
          <p:nvPr/>
        </p:nvSpPr>
        <p:spPr>
          <a:xfrm>
            <a:off x="6909570" y="1529581"/>
            <a:ext cx="1562075" cy="10522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Producer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D1B6D4C-F11F-20CE-F259-EAF8C90EC0E3}"/>
              </a:ext>
            </a:extLst>
          </p:cNvPr>
          <p:cNvSpPr/>
          <p:nvPr/>
        </p:nvSpPr>
        <p:spPr>
          <a:xfrm>
            <a:off x="5578268" y="1529581"/>
            <a:ext cx="1576710" cy="10522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33" name="Bent Arrow 32">
            <a:extLst>
              <a:ext uri="{FF2B5EF4-FFF2-40B4-BE49-F238E27FC236}">
                <a16:creationId xmlns:a16="http://schemas.microsoft.com/office/drawing/2014/main" id="{9663312F-1958-C9EC-4A41-7D65F81ACE49}"/>
              </a:ext>
            </a:extLst>
          </p:cNvPr>
          <p:cNvSpPr/>
          <p:nvPr/>
        </p:nvSpPr>
        <p:spPr>
          <a:xfrm>
            <a:off x="2312894" y="1855694"/>
            <a:ext cx="2864224" cy="726141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tx1"/>
              </a:solidFill>
            </a:endParaRPr>
          </a:p>
        </p:txBody>
      </p:sp>
      <p:sp>
        <p:nvSpPr>
          <p:cNvPr id="34" name="Bent Arrow 33">
            <a:extLst>
              <a:ext uri="{FF2B5EF4-FFF2-40B4-BE49-F238E27FC236}">
                <a16:creationId xmlns:a16="http://schemas.microsoft.com/office/drawing/2014/main" id="{64700296-E8D1-6C56-52BD-419355F9E32E}"/>
              </a:ext>
            </a:extLst>
          </p:cNvPr>
          <p:cNvSpPr/>
          <p:nvPr/>
        </p:nvSpPr>
        <p:spPr>
          <a:xfrm rot="5400000">
            <a:off x="8969190" y="1546413"/>
            <a:ext cx="699246" cy="1371601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CFA6D7A-5832-1121-50F3-8E908369B6E9}"/>
              </a:ext>
            </a:extLst>
          </p:cNvPr>
          <p:cNvSpPr/>
          <p:nvPr/>
        </p:nvSpPr>
        <p:spPr>
          <a:xfrm>
            <a:off x="3866639" y="5432870"/>
            <a:ext cx="1562075" cy="10522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Producer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48FB472-8431-8FB1-4D57-8E977288323D}"/>
              </a:ext>
            </a:extLst>
          </p:cNvPr>
          <p:cNvSpPr/>
          <p:nvPr/>
        </p:nvSpPr>
        <p:spPr>
          <a:xfrm>
            <a:off x="4986051" y="5432870"/>
            <a:ext cx="1576710" cy="10522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37" name="Bent Arrow 36">
            <a:extLst>
              <a:ext uri="{FF2B5EF4-FFF2-40B4-BE49-F238E27FC236}">
                <a16:creationId xmlns:a16="http://schemas.microsoft.com/office/drawing/2014/main" id="{2203FBE6-96F7-26D8-F599-B1A7DF12C79D}"/>
              </a:ext>
            </a:extLst>
          </p:cNvPr>
          <p:cNvSpPr/>
          <p:nvPr/>
        </p:nvSpPr>
        <p:spPr>
          <a:xfrm rot="10800000">
            <a:off x="7007105" y="5483597"/>
            <a:ext cx="2864224" cy="726141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tx1"/>
              </a:solidFill>
            </a:endParaRPr>
          </a:p>
        </p:txBody>
      </p:sp>
      <p:sp>
        <p:nvSpPr>
          <p:cNvPr id="38" name="Bent Arrow 37">
            <a:extLst>
              <a:ext uri="{FF2B5EF4-FFF2-40B4-BE49-F238E27FC236}">
                <a16:creationId xmlns:a16="http://schemas.microsoft.com/office/drawing/2014/main" id="{98562E0E-FD7E-F067-B0C8-21B8A4344488}"/>
              </a:ext>
            </a:extLst>
          </p:cNvPr>
          <p:cNvSpPr/>
          <p:nvPr/>
        </p:nvSpPr>
        <p:spPr>
          <a:xfrm rot="16200000">
            <a:off x="2640693" y="4991099"/>
            <a:ext cx="699246" cy="1371601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871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3F06B3-C63B-9FAD-9DB4-851CE56C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MirrorMaker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072245-B538-37F5-200D-0299FCBD7D32}"/>
              </a:ext>
            </a:extLst>
          </p:cNvPr>
          <p:cNvCxnSpPr/>
          <p:nvPr/>
        </p:nvCxnSpPr>
        <p:spPr>
          <a:xfrm>
            <a:off x="6033247" y="2017059"/>
            <a:ext cx="0" cy="4141694"/>
          </a:xfrm>
          <a:prstGeom prst="line">
            <a:avLst/>
          </a:prstGeom>
          <a:ln w="38100">
            <a:solidFill>
              <a:schemeClr val="accent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n 7">
            <a:extLst>
              <a:ext uri="{FF2B5EF4-FFF2-40B4-BE49-F238E27FC236}">
                <a16:creationId xmlns:a16="http://schemas.microsoft.com/office/drawing/2014/main" id="{A39C5B24-E578-7EC1-8EBC-96CD96570C84}"/>
              </a:ext>
            </a:extLst>
          </p:cNvPr>
          <p:cNvSpPr/>
          <p:nvPr/>
        </p:nvSpPr>
        <p:spPr>
          <a:xfrm>
            <a:off x="1797419" y="2770094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1</a:t>
            </a:r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42093D71-C1DD-4A42-BE6B-B077DD8F4FE3}"/>
              </a:ext>
            </a:extLst>
          </p:cNvPr>
          <p:cNvSpPr/>
          <p:nvPr/>
        </p:nvSpPr>
        <p:spPr>
          <a:xfrm>
            <a:off x="2756639" y="4119282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2</a:t>
            </a:r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507EFEA0-EDC3-0CCB-9B36-5C17322FAB5C}"/>
              </a:ext>
            </a:extLst>
          </p:cNvPr>
          <p:cNvSpPr/>
          <p:nvPr/>
        </p:nvSpPr>
        <p:spPr>
          <a:xfrm>
            <a:off x="838200" y="4407553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782834-FB83-1635-E2C4-6A3A24C6C78D}"/>
              </a:ext>
            </a:extLst>
          </p:cNvPr>
          <p:cNvCxnSpPr>
            <a:cxnSpLocks/>
            <a:stCxn id="10" idx="1"/>
            <a:endCxn id="8" idx="2"/>
          </p:cNvCxnSpPr>
          <p:nvPr/>
        </p:nvCxnSpPr>
        <p:spPr>
          <a:xfrm flipV="1">
            <a:off x="1450038" y="3328147"/>
            <a:ext cx="347381" cy="1079406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7E1430-E16F-BD95-B848-A7CDD5383201}"/>
              </a:ext>
            </a:extLst>
          </p:cNvPr>
          <p:cNvCxnSpPr>
            <a:cxnSpLocks/>
            <a:stCxn id="9" idx="1"/>
            <a:endCxn id="8" idx="4"/>
          </p:cNvCxnSpPr>
          <p:nvPr/>
        </p:nvCxnSpPr>
        <p:spPr>
          <a:xfrm flipH="1" flipV="1">
            <a:off x="3021094" y="3328147"/>
            <a:ext cx="347383" cy="791135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ADD3F3-B471-B4B5-1995-E46650A21B8C}"/>
              </a:ext>
            </a:extLst>
          </p:cNvPr>
          <p:cNvCxnSpPr>
            <a:cxnSpLocks/>
            <a:stCxn id="9" idx="2"/>
            <a:endCxn id="10" idx="4"/>
          </p:cNvCxnSpPr>
          <p:nvPr/>
        </p:nvCxnSpPr>
        <p:spPr>
          <a:xfrm flipH="1">
            <a:off x="2061875" y="4677335"/>
            <a:ext cx="694764" cy="288271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n 23">
            <a:extLst>
              <a:ext uri="{FF2B5EF4-FFF2-40B4-BE49-F238E27FC236}">
                <a16:creationId xmlns:a16="http://schemas.microsoft.com/office/drawing/2014/main" id="{39E3241E-890D-DA0A-0F21-13EF5B4A4DDE}"/>
              </a:ext>
            </a:extLst>
          </p:cNvPr>
          <p:cNvSpPr/>
          <p:nvPr/>
        </p:nvSpPr>
        <p:spPr>
          <a:xfrm>
            <a:off x="9170904" y="2770094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4</a:t>
            </a:r>
          </a:p>
        </p:txBody>
      </p:sp>
      <p:sp>
        <p:nvSpPr>
          <p:cNvPr id="25" name="Can 24">
            <a:extLst>
              <a:ext uri="{FF2B5EF4-FFF2-40B4-BE49-F238E27FC236}">
                <a16:creationId xmlns:a16="http://schemas.microsoft.com/office/drawing/2014/main" id="{6F497E5F-65CB-34FA-45E6-8DF68336EE88}"/>
              </a:ext>
            </a:extLst>
          </p:cNvPr>
          <p:cNvSpPr/>
          <p:nvPr/>
        </p:nvSpPr>
        <p:spPr>
          <a:xfrm>
            <a:off x="10130124" y="4119282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6</a:t>
            </a:r>
          </a:p>
        </p:txBody>
      </p:sp>
      <p:sp>
        <p:nvSpPr>
          <p:cNvPr id="26" name="Can 25">
            <a:extLst>
              <a:ext uri="{FF2B5EF4-FFF2-40B4-BE49-F238E27FC236}">
                <a16:creationId xmlns:a16="http://schemas.microsoft.com/office/drawing/2014/main" id="{AC744A81-572F-2850-383E-9D14C294772D}"/>
              </a:ext>
            </a:extLst>
          </p:cNvPr>
          <p:cNvSpPr/>
          <p:nvPr/>
        </p:nvSpPr>
        <p:spPr>
          <a:xfrm>
            <a:off x="8211685" y="4407553"/>
            <a:ext cx="1223675" cy="11161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kafka 5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BDFF1BB-567C-AA3E-EF83-5C36DC9A8CAE}"/>
              </a:ext>
            </a:extLst>
          </p:cNvPr>
          <p:cNvCxnSpPr>
            <a:cxnSpLocks/>
            <a:stCxn id="26" idx="1"/>
            <a:endCxn id="24" idx="2"/>
          </p:cNvCxnSpPr>
          <p:nvPr/>
        </p:nvCxnSpPr>
        <p:spPr>
          <a:xfrm flipV="1">
            <a:off x="8823523" y="3328147"/>
            <a:ext cx="347381" cy="1079406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CC94F89-DC40-9360-B6E4-25A04EF666A3}"/>
              </a:ext>
            </a:extLst>
          </p:cNvPr>
          <p:cNvCxnSpPr>
            <a:cxnSpLocks/>
            <a:stCxn id="25" idx="1"/>
            <a:endCxn id="24" idx="4"/>
          </p:cNvCxnSpPr>
          <p:nvPr/>
        </p:nvCxnSpPr>
        <p:spPr>
          <a:xfrm flipH="1" flipV="1">
            <a:off x="10394579" y="3328147"/>
            <a:ext cx="347383" cy="791135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ED7467-C199-B450-DC9A-A42006480B40}"/>
              </a:ext>
            </a:extLst>
          </p:cNvPr>
          <p:cNvCxnSpPr>
            <a:cxnSpLocks/>
            <a:stCxn id="25" idx="2"/>
            <a:endCxn id="26" idx="4"/>
          </p:cNvCxnSpPr>
          <p:nvPr/>
        </p:nvCxnSpPr>
        <p:spPr>
          <a:xfrm flipH="1">
            <a:off x="9435360" y="4677335"/>
            <a:ext cx="694764" cy="288271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22A08158-653E-E23D-1E1D-CB986E946CC6}"/>
              </a:ext>
            </a:extLst>
          </p:cNvPr>
          <p:cNvSpPr/>
          <p:nvPr/>
        </p:nvSpPr>
        <p:spPr>
          <a:xfrm>
            <a:off x="6909570" y="1529581"/>
            <a:ext cx="1562075" cy="10522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Producer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D1B6D4C-F11F-20CE-F259-EAF8C90EC0E3}"/>
              </a:ext>
            </a:extLst>
          </p:cNvPr>
          <p:cNvSpPr/>
          <p:nvPr/>
        </p:nvSpPr>
        <p:spPr>
          <a:xfrm>
            <a:off x="5578268" y="1529581"/>
            <a:ext cx="1576710" cy="10522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33" name="Bent Arrow 32">
            <a:extLst>
              <a:ext uri="{FF2B5EF4-FFF2-40B4-BE49-F238E27FC236}">
                <a16:creationId xmlns:a16="http://schemas.microsoft.com/office/drawing/2014/main" id="{9663312F-1958-C9EC-4A41-7D65F81ACE49}"/>
              </a:ext>
            </a:extLst>
          </p:cNvPr>
          <p:cNvSpPr/>
          <p:nvPr/>
        </p:nvSpPr>
        <p:spPr>
          <a:xfrm>
            <a:off x="2312894" y="1855694"/>
            <a:ext cx="2864224" cy="726141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tx1"/>
              </a:solidFill>
            </a:endParaRPr>
          </a:p>
        </p:txBody>
      </p:sp>
      <p:sp>
        <p:nvSpPr>
          <p:cNvPr id="34" name="Bent Arrow 33">
            <a:extLst>
              <a:ext uri="{FF2B5EF4-FFF2-40B4-BE49-F238E27FC236}">
                <a16:creationId xmlns:a16="http://schemas.microsoft.com/office/drawing/2014/main" id="{64700296-E8D1-6C56-52BD-419355F9E32E}"/>
              </a:ext>
            </a:extLst>
          </p:cNvPr>
          <p:cNvSpPr/>
          <p:nvPr/>
        </p:nvSpPr>
        <p:spPr>
          <a:xfrm rot="5400000">
            <a:off x="8969190" y="1546413"/>
            <a:ext cx="699246" cy="1371601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CFA6D7A-5832-1121-50F3-8E908369B6E9}"/>
              </a:ext>
            </a:extLst>
          </p:cNvPr>
          <p:cNvSpPr/>
          <p:nvPr/>
        </p:nvSpPr>
        <p:spPr>
          <a:xfrm>
            <a:off x="3866639" y="5432870"/>
            <a:ext cx="1562075" cy="10522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Producer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48FB472-8431-8FB1-4D57-8E977288323D}"/>
              </a:ext>
            </a:extLst>
          </p:cNvPr>
          <p:cNvSpPr/>
          <p:nvPr/>
        </p:nvSpPr>
        <p:spPr>
          <a:xfrm>
            <a:off x="4986051" y="5432870"/>
            <a:ext cx="1576710" cy="10522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Consumer</a:t>
            </a:r>
          </a:p>
        </p:txBody>
      </p:sp>
      <p:sp>
        <p:nvSpPr>
          <p:cNvPr id="37" name="Bent Arrow 36">
            <a:extLst>
              <a:ext uri="{FF2B5EF4-FFF2-40B4-BE49-F238E27FC236}">
                <a16:creationId xmlns:a16="http://schemas.microsoft.com/office/drawing/2014/main" id="{2203FBE6-96F7-26D8-F599-B1A7DF12C79D}"/>
              </a:ext>
            </a:extLst>
          </p:cNvPr>
          <p:cNvSpPr/>
          <p:nvPr/>
        </p:nvSpPr>
        <p:spPr>
          <a:xfrm rot="10800000">
            <a:off x="7007105" y="5483597"/>
            <a:ext cx="2864224" cy="726141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tx1"/>
              </a:solidFill>
            </a:endParaRPr>
          </a:p>
        </p:txBody>
      </p:sp>
      <p:sp>
        <p:nvSpPr>
          <p:cNvPr id="38" name="Bent Arrow 37">
            <a:extLst>
              <a:ext uri="{FF2B5EF4-FFF2-40B4-BE49-F238E27FC236}">
                <a16:creationId xmlns:a16="http://schemas.microsoft.com/office/drawing/2014/main" id="{98562E0E-FD7E-F067-B0C8-21B8A4344488}"/>
              </a:ext>
            </a:extLst>
          </p:cNvPr>
          <p:cNvSpPr/>
          <p:nvPr/>
        </p:nvSpPr>
        <p:spPr>
          <a:xfrm rot="16200000">
            <a:off x="2640693" y="4991099"/>
            <a:ext cx="699246" cy="1371601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B1B9CB-7380-F22B-C44C-95E5DFE1E6C0}"/>
              </a:ext>
            </a:extLst>
          </p:cNvPr>
          <p:cNvSpPr txBox="1"/>
          <p:nvPr/>
        </p:nvSpPr>
        <p:spPr>
          <a:xfrm>
            <a:off x="4988283" y="3689255"/>
            <a:ext cx="22370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800" dirty="0"/>
              <a:t>Asynchronous</a:t>
            </a:r>
          </a:p>
        </p:txBody>
      </p:sp>
    </p:spTree>
    <p:extLst>
      <p:ext uri="{BB962C8B-B14F-4D97-AF65-F5344CB8AC3E}">
        <p14:creationId xmlns:p14="http://schemas.microsoft.com/office/powerpoint/2010/main" val="117901502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BD04-013D-96EA-FC6B-28EF47C8E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Kafka Mirroring?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BE13-C73F-974A-2684-FF8FC77B4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process of replicating data</a:t>
            </a:r>
            <a:br>
              <a:rPr lang="en-GB" dirty="0"/>
            </a:br>
            <a:r>
              <a:rPr lang="en-GB" dirty="0"/>
              <a:t>from one Kafka cluster (source)</a:t>
            </a:r>
            <a:br>
              <a:rPr lang="en-GB" dirty="0"/>
            </a:br>
            <a:r>
              <a:rPr lang="en-GB" dirty="0"/>
              <a:t>to another Kafka cluster (target)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Purpose:</a:t>
            </a:r>
          </a:p>
          <a:p>
            <a:r>
              <a:rPr lang="en-GB" dirty="0"/>
              <a:t>Data availability.</a:t>
            </a:r>
          </a:p>
          <a:p>
            <a:r>
              <a:rPr lang="en-GB" dirty="0"/>
              <a:t>Disaster recovery.</a:t>
            </a:r>
          </a:p>
          <a:p>
            <a:r>
              <a:rPr lang="en-GB" dirty="0"/>
              <a:t>Geographic distribution.</a:t>
            </a:r>
          </a:p>
          <a:p>
            <a:r>
              <a:rPr lang="en-GB" dirty="0"/>
              <a:t>Data locality for improved performance.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30724446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BD04-013D-96EA-FC6B-28EF47C8E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Setting Up </a:t>
            </a:r>
            <a:r>
              <a:rPr lang="en-GB" dirty="0" err="1"/>
              <a:t>MirrorMaker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BE13-C73F-974A-2684-FF8FC77B4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# 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consumer.properties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bootstrap.servers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=source-kafka:9092</a:t>
            </a:r>
          </a:p>
          <a:p>
            <a:pPr marL="0" indent="0">
              <a:buNone/>
            </a:pPr>
            <a:r>
              <a:rPr lang="en-GB" dirty="0" err="1">
                <a:solidFill>
                  <a:schemeClr val="accent3"/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exclude.internal.topics</a:t>
            </a:r>
            <a:r>
              <a:rPr lang="en-GB" dirty="0">
                <a:solidFill>
                  <a:schemeClr val="accent3"/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=true</a:t>
            </a:r>
          </a:p>
          <a:p>
            <a:pPr marL="0" indent="0">
              <a:buNone/>
            </a:pP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client.id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=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mirror_maker_consumer</a:t>
            </a:r>
            <a:endParaRPr lang="en-GB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group.id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=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mirror_maker_consumer</a:t>
            </a:r>
            <a:endParaRPr lang="en-GB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endParaRPr lang="en-GB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# </a:t>
            </a:r>
            <a:r>
              <a:rPr lang="en-GB" dirty="0" err="1">
                <a:solidFill>
                  <a:schemeClr val="bg1">
                    <a:lumMod val="65000"/>
                  </a:schemeClr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producer.properties</a:t>
            </a:r>
            <a:endParaRPr lang="en-GB" dirty="0">
              <a:solidFill>
                <a:schemeClr val="bg1">
                  <a:lumMod val="65000"/>
                </a:schemeClr>
              </a:solidFill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bootstrap.servers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=target-kafka:9092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/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acks=all</a:t>
            </a:r>
          </a:p>
          <a:p>
            <a:pPr marL="0" indent="0">
              <a:buNone/>
            </a:pPr>
            <a:r>
              <a:rPr lang="en-GB" dirty="0" err="1">
                <a:solidFill>
                  <a:schemeClr val="accent3"/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batch.size</a:t>
            </a:r>
            <a:r>
              <a:rPr lang="en-GB" dirty="0">
                <a:solidFill>
                  <a:schemeClr val="accent3"/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=100</a:t>
            </a:r>
          </a:p>
          <a:p>
            <a:pPr marL="0" indent="0">
              <a:buNone/>
            </a:pP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client.id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=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mirror_maker_producer</a:t>
            </a:r>
            <a:endParaRPr lang="en-GB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36505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BD04-013D-96EA-FC6B-28EF47C8E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Setting Up </a:t>
            </a:r>
            <a:r>
              <a:rPr lang="en-GB" dirty="0" err="1"/>
              <a:t>MirrorMaker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BE13-C73F-974A-2684-FF8FC77B4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bin/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kafka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-mirror-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maker.sh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\</a:t>
            </a:r>
          </a:p>
          <a:p>
            <a:pPr marL="0" indent="0">
              <a:buNone/>
            </a:pP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--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consumer.config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consumer.properties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\</a:t>
            </a:r>
          </a:p>
          <a:p>
            <a:pPr marL="0" indent="0">
              <a:buNone/>
            </a:pP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--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producer.config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producer.properties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\</a:t>
            </a:r>
          </a:p>
          <a:p>
            <a:pPr marL="0" indent="0">
              <a:buNone/>
            </a:pP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--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num.streams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3 \</a:t>
            </a:r>
          </a:p>
          <a:p>
            <a:pPr marL="0" indent="0">
              <a:buNone/>
            </a:pP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--whitelist=".*"</a:t>
            </a:r>
          </a:p>
        </p:txBody>
      </p:sp>
    </p:spTree>
    <p:extLst>
      <p:ext uri="{BB962C8B-B14F-4D97-AF65-F5344CB8AC3E}">
        <p14:creationId xmlns:p14="http://schemas.microsoft.com/office/powerpoint/2010/main" val="392495519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BDAC1-DC8F-11DD-2112-22E765C7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Cycle Prevention Mechanisms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2ED24-3712-1D31-2455-C3EE25FC8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Topic Prefixing:</a:t>
            </a:r>
          </a:p>
          <a:p>
            <a:pPr marL="457200" lvl="1" indent="0">
              <a:buNone/>
            </a:pPr>
            <a:r>
              <a:rPr lang="en-GB" dirty="0"/>
              <a:t>Use different prefixes for topics in each cluster.</a:t>
            </a:r>
          </a:p>
          <a:p>
            <a:pPr marL="457200" lvl="1" indent="0">
              <a:buNone/>
            </a:pPr>
            <a:r>
              <a:rPr lang="en-GB" dirty="0"/>
              <a:t>Example: cluster-a-topic and cluster-b-topic</a:t>
            </a:r>
          </a:p>
          <a:p>
            <a:r>
              <a:rPr lang="en-GB" b="1" dirty="0"/>
              <a:t>Message Filtering:</a:t>
            </a:r>
          </a:p>
          <a:p>
            <a:pPr marL="457200" lvl="1" indent="0">
              <a:buNone/>
            </a:pPr>
            <a:r>
              <a:rPr lang="en-GB" dirty="0"/>
              <a:t>Use custom message handlers to filter out messages that have already been mirrored.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48536797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BD04-013D-96EA-FC6B-28EF47C8E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Cycle Prevention Mechanisms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BE13-C73F-974A-2684-FF8FC77B4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./bin/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kafka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-mirror-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maker.sh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\</a:t>
            </a:r>
          </a:p>
          <a:p>
            <a:pPr marL="0" indent="0">
              <a:buNone/>
            </a:pP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--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consumer.config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consumer-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a.properties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\</a:t>
            </a:r>
          </a:p>
          <a:p>
            <a:pPr marL="0" indent="0">
              <a:buNone/>
            </a:pP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--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producer.config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producer-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b.properties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\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/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--whitelist="^cluster-a-.*” \</a:t>
            </a:r>
          </a:p>
          <a:p>
            <a:pPr marL="0" indent="0">
              <a:buNone/>
            </a:pPr>
            <a:endParaRPr lang="en-GB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./bin/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kafka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-mirror-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maker.sh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\</a:t>
            </a:r>
          </a:p>
          <a:p>
            <a:pPr marL="0" indent="0">
              <a:buNone/>
            </a:pP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--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consumer.config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consumer-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a.properties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\</a:t>
            </a:r>
          </a:p>
          <a:p>
            <a:pPr marL="0" indent="0">
              <a:buNone/>
            </a:pP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--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producer.config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producer-</a:t>
            </a:r>
            <a:r>
              <a:rPr lang="en-GB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b.properties</a:t>
            </a:r>
            <a:r>
              <a:rPr lang="en-GB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\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/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	--</a:t>
            </a:r>
            <a:r>
              <a:rPr lang="en-GB" dirty="0" err="1">
                <a:solidFill>
                  <a:schemeClr val="accent3"/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message.handler</a:t>
            </a:r>
            <a:r>
              <a:rPr lang="en-GB" dirty="0">
                <a:solidFill>
                  <a:schemeClr val="accent3"/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=</a:t>
            </a:r>
            <a:r>
              <a:rPr lang="en-GB" dirty="0" err="1">
                <a:solidFill>
                  <a:schemeClr val="accent3"/>
                </a:solidFill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io.devhands.CustomHandler</a:t>
            </a:r>
            <a:endParaRPr lang="en-GB" dirty="0">
              <a:solidFill>
                <a:schemeClr val="accent3"/>
              </a:solidFill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  <a:p>
            <a:pPr marL="0" indent="0">
              <a:buNone/>
            </a:pPr>
            <a:endParaRPr lang="en-GB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68303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BD04-013D-96EA-FC6B-28EF47C8E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Cycle Prevention </a:t>
            </a:r>
            <a:r>
              <a:rPr lang="en-GB" dirty="0" err="1"/>
              <a:t>CustomHandler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BE13-C73F-974A-2684-FF8FC77B4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public class </a:t>
            </a:r>
            <a:r>
              <a:rPr lang="en-GB" sz="18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CustomHandler</a:t>
            </a:r>
            <a:r>
              <a:rPr lang="en-GB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implements </a:t>
            </a:r>
            <a:r>
              <a:rPr lang="en-GB" sz="18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MirrorMakerMessageHandler</a:t>
            </a:r>
            <a:r>
              <a:rPr lang="en-GB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{</a:t>
            </a:r>
          </a:p>
          <a:p>
            <a:pPr marL="0" indent="0">
              <a:buNone/>
            </a:pPr>
            <a:r>
              <a:rPr lang="en-GB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  @Override</a:t>
            </a:r>
          </a:p>
          <a:p>
            <a:pPr marL="0" indent="0">
              <a:buNone/>
            </a:pPr>
            <a:r>
              <a:rPr lang="en-GB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  public void handle(String key, String value, </a:t>
            </a:r>
            <a:r>
              <a:rPr lang="en-GB" sz="18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RecordContext</a:t>
            </a:r>
            <a:r>
              <a:rPr lang="en-GB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</a:t>
            </a:r>
            <a:r>
              <a:rPr lang="en-GB" sz="18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recCtx</a:t>
            </a:r>
            <a:r>
              <a:rPr lang="en-GB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) {</a:t>
            </a:r>
          </a:p>
          <a:p>
            <a:pPr marL="0" indent="0">
              <a:buNone/>
            </a:pPr>
            <a:r>
              <a:rPr lang="en-GB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     // Example: Add a header to mark messages that have been mirrored</a:t>
            </a:r>
          </a:p>
          <a:p>
            <a:pPr marL="0" indent="0">
              <a:buNone/>
            </a:pPr>
            <a:r>
              <a:rPr lang="en-GB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     if (</a:t>
            </a:r>
            <a:r>
              <a:rPr lang="en-GB" sz="18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recCtx.headers</a:t>
            </a:r>
            <a:r>
              <a:rPr lang="en-GB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().</a:t>
            </a:r>
            <a:r>
              <a:rPr lang="en-GB" sz="1800" dirty="0" err="1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lastHeader</a:t>
            </a:r>
            <a:r>
              <a:rPr lang="en-GB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("mirrored-from-cluster-a") == null) {</a:t>
            </a:r>
          </a:p>
          <a:p>
            <a:pPr marL="0" indent="0">
              <a:buNone/>
            </a:pPr>
            <a:r>
              <a:rPr lang="en-GB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        context().forward(key, value);</a:t>
            </a:r>
          </a:p>
          <a:p>
            <a:pPr marL="0" indent="0">
              <a:buNone/>
            </a:pPr>
            <a:r>
              <a:rPr lang="en-GB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     }</a:t>
            </a:r>
          </a:p>
          <a:p>
            <a:pPr marL="0" indent="0">
              <a:buNone/>
            </a:pPr>
            <a:r>
              <a:rPr lang="en-GB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   }</a:t>
            </a:r>
          </a:p>
          <a:p>
            <a:pPr marL="0" indent="0">
              <a:buNone/>
            </a:pPr>
            <a:r>
              <a:rPr lang="en-GB" sz="1800" dirty="0">
                <a:latin typeface="Fira Code" panose="020B0809050000020004" pitchFamily="34" charset="0"/>
                <a:ea typeface="Fira Code" panose="020B0809050000020004" pitchFamily="34" charset="0"/>
                <a:cs typeface="Fira Code" panose="020B08090500000200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2486102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43760-73B7-6990-1CBF-8D10100B8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7A34F-5B7B-7688-6D92-8D94B8F93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Streams on top of the cluster from previous homework</a:t>
            </a:r>
          </a:p>
          <a:p>
            <a:r>
              <a:rPr lang="en-US" dirty="0"/>
              <a:t>Create simple mapper for any of the simulated topic</a:t>
            </a:r>
          </a:p>
          <a:p>
            <a:r>
              <a:rPr lang="en-US" dirty="0"/>
              <a:t>Implement simple aggregate processor</a:t>
            </a:r>
          </a:p>
          <a:p>
            <a:r>
              <a:rPr lang="en-US" dirty="0"/>
              <a:t>Implement join processor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00223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2F72D-D7B0-C190-E413-A657DBD20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35AD-9E59-CB42-F29F-785FF639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224AC-3E04-A7C1-0453-4AF32D89A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Streams on top of the cluster from previous homework</a:t>
            </a:r>
          </a:p>
          <a:p>
            <a:r>
              <a:rPr lang="en-US" dirty="0"/>
              <a:t>Create simple mapper for any of the simulated topic</a:t>
            </a:r>
          </a:p>
          <a:p>
            <a:r>
              <a:rPr lang="en-US" dirty="0"/>
              <a:t>Implement simple aggregate processor</a:t>
            </a:r>
          </a:p>
          <a:p>
            <a:r>
              <a:rPr lang="en-US" dirty="0"/>
              <a:t>Implement join processor</a:t>
            </a:r>
          </a:p>
          <a:p>
            <a:endParaRPr lang="en-US" dirty="0"/>
          </a:p>
          <a:p>
            <a:r>
              <a:rPr lang="en-US" dirty="0"/>
              <a:t>Could be done with Kafka Streams or any other approach</a:t>
            </a:r>
          </a:p>
        </p:txBody>
      </p:sp>
    </p:spTree>
    <p:extLst>
      <p:ext uri="{BB962C8B-B14F-4D97-AF65-F5344CB8AC3E}">
        <p14:creationId xmlns:p14="http://schemas.microsoft.com/office/powerpoint/2010/main" val="405465245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B004E-5CAC-B08A-549E-135B355A9B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A82F3-2998-F67C-70F3-CA55F4A456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72944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FBAFC"/>
      </a:accent1>
      <a:accent2>
        <a:srgbClr val="F98D7E"/>
      </a:accent2>
      <a:accent3>
        <a:srgbClr val="92DF70"/>
      </a:accent3>
      <a:accent4>
        <a:srgbClr val="FEE170"/>
      </a:accent4>
      <a:accent5>
        <a:srgbClr val="67EBDA"/>
      </a:accent5>
      <a:accent6>
        <a:srgbClr val="F876B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chemeClr val="accent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{9903D9F4-31B3-3445-8A3D-47E44533CDFF}tf16401378</Template>
  <TotalTime>17894</TotalTime>
  <Words>3060</Words>
  <Application>Microsoft Macintosh PowerPoint</Application>
  <PresentationFormat>Widescreen</PresentationFormat>
  <Paragraphs>745</Paragraphs>
  <Slides>97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2" baseType="lpstr">
      <vt:lpstr>Arial</vt:lpstr>
      <vt:lpstr>Calibri</vt:lpstr>
      <vt:lpstr>Calibri Light</vt:lpstr>
      <vt:lpstr>Fira Code</vt:lpstr>
      <vt:lpstr>Office Theme</vt:lpstr>
      <vt:lpstr>PowerPoint Presentation</vt:lpstr>
      <vt:lpstr>In the Part II:</vt:lpstr>
      <vt:lpstr>Kafka Streams and KSQL</vt:lpstr>
      <vt:lpstr>Processor Topology Overview</vt:lpstr>
      <vt:lpstr>Processor Topology Overview</vt:lpstr>
      <vt:lpstr>Processor Topology</vt:lpstr>
      <vt:lpstr>Processor Topology</vt:lpstr>
      <vt:lpstr>Kafka Streams is Java App</vt:lpstr>
      <vt:lpstr>Example Topology Code</vt:lpstr>
      <vt:lpstr>Example Topology Code</vt:lpstr>
      <vt:lpstr>Example Topology Code</vt:lpstr>
      <vt:lpstr>Example Topology Code</vt:lpstr>
      <vt:lpstr>KStream</vt:lpstr>
      <vt:lpstr>Operations on KStream</vt:lpstr>
      <vt:lpstr>Operations on KStream</vt:lpstr>
      <vt:lpstr>KTable</vt:lpstr>
      <vt:lpstr>KTable</vt:lpstr>
      <vt:lpstr>KTable</vt:lpstr>
      <vt:lpstr>KTable</vt:lpstr>
      <vt:lpstr>KTable</vt:lpstr>
      <vt:lpstr>KTable</vt:lpstr>
      <vt:lpstr>KTable</vt:lpstr>
      <vt:lpstr>KTable</vt:lpstr>
      <vt:lpstr>KTable</vt:lpstr>
      <vt:lpstr>Joins</vt:lpstr>
      <vt:lpstr>Joins example</vt:lpstr>
      <vt:lpstr>Types of joins for Stream-Stream</vt:lpstr>
      <vt:lpstr>Types of joins for Stream-Table</vt:lpstr>
      <vt:lpstr>Types of joins for Table-Table</vt:lpstr>
      <vt:lpstr>Stateful operations (aggregations)</vt:lpstr>
      <vt:lpstr>Stateful operations (aggregations)</vt:lpstr>
      <vt:lpstr>Aggregation windowing</vt:lpstr>
      <vt:lpstr>Stateful operations (aggregations)</vt:lpstr>
      <vt:lpstr>Hopping window</vt:lpstr>
      <vt:lpstr>Hopping window</vt:lpstr>
      <vt:lpstr>Hopping window</vt:lpstr>
      <vt:lpstr>Hopping window</vt:lpstr>
      <vt:lpstr>Hopping window</vt:lpstr>
      <vt:lpstr>Thumbling window</vt:lpstr>
      <vt:lpstr>Tumbling window</vt:lpstr>
      <vt:lpstr>Tumbling window</vt:lpstr>
      <vt:lpstr>Thumbling window</vt:lpstr>
      <vt:lpstr>Hopping window</vt:lpstr>
      <vt:lpstr>Sliding window</vt:lpstr>
      <vt:lpstr>Session window</vt:lpstr>
      <vt:lpstr>Stream Time</vt:lpstr>
      <vt:lpstr>Grace period</vt:lpstr>
      <vt:lpstr>Processor API</vt:lpstr>
      <vt:lpstr>Durability of Local State and Failover</vt:lpstr>
      <vt:lpstr>Durability of Local State and Failover</vt:lpstr>
      <vt:lpstr>Durability of Local State and Failover</vt:lpstr>
      <vt:lpstr>Durability of Local State and Failover</vt:lpstr>
      <vt:lpstr>ksqlDB</vt:lpstr>
      <vt:lpstr>ksqlDB: Kafka Streams with SQL</vt:lpstr>
      <vt:lpstr>Basic KSQL Queries: Create stream</vt:lpstr>
      <vt:lpstr>Basic KSQL Queries: selecting and filtering</vt:lpstr>
      <vt:lpstr>Advanced KSQL Queries: Transformations</vt:lpstr>
      <vt:lpstr>Advanced KSQL Queries: Tables</vt:lpstr>
      <vt:lpstr>Advanced KSQL Queries: Joins</vt:lpstr>
      <vt:lpstr>Aggregations and Windowing in KSQL</vt:lpstr>
      <vt:lpstr>Windowed Aggregation</vt:lpstr>
      <vt:lpstr>Session Windowing</vt:lpstr>
      <vt:lpstr>What if not Java and Scala</vt:lpstr>
      <vt:lpstr>Alternatives</vt:lpstr>
      <vt:lpstr>Apache Flink</vt:lpstr>
      <vt:lpstr>Pure programming</vt:lpstr>
      <vt:lpstr>Kafka Connect</vt:lpstr>
      <vt:lpstr>What is Kafka Connect?</vt:lpstr>
      <vt:lpstr>Benefits and Use Cases</vt:lpstr>
      <vt:lpstr>PowerPoint Presentation</vt:lpstr>
      <vt:lpstr>PowerPoint Presentation</vt:lpstr>
      <vt:lpstr>PowerPoint Presentation</vt:lpstr>
      <vt:lpstr>Schema Registry</vt:lpstr>
      <vt:lpstr>What is Schema Registry?</vt:lpstr>
      <vt:lpstr>Schema Registry</vt:lpstr>
      <vt:lpstr>Define the avro schema for event</vt:lpstr>
      <vt:lpstr>Publish the schema into registry</vt:lpstr>
      <vt:lpstr>Fetch the schema from registry</vt:lpstr>
      <vt:lpstr>Schema Evolution and Compatibility</vt:lpstr>
      <vt:lpstr>Best Practices for Using Schema Registry</vt:lpstr>
      <vt:lpstr>Best Practices for Using Schema Registry</vt:lpstr>
      <vt:lpstr>Kafka Mirroring</vt:lpstr>
      <vt:lpstr>What is Kafka MirrorMaker?</vt:lpstr>
      <vt:lpstr>MirrorMaker 2 (MM2)</vt:lpstr>
      <vt:lpstr>MirrorMaker</vt:lpstr>
      <vt:lpstr>MirrorMaker</vt:lpstr>
      <vt:lpstr>MirrorMaker</vt:lpstr>
      <vt:lpstr>MirrorMaker</vt:lpstr>
      <vt:lpstr>What is Kafka Mirroring?</vt:lpstr>
      <vt:lpstr>Setting Up MirrorMaker</vt:lpstr>
      <vt:lpstr>Setting Up MirrorMaker</vt:lpstr>
      <vt:lpstr>Cycle Prevention Mechanisms</vt:lpstr>
      <vt:lpstr>Cycle Prevention Mechanisms</vt:lpstr>
      <vt:lpstr>Cycle Prevention CustomHandler</vt:lpstr>
      <vt:lpstr>Homework</vt:lpstr>
      <vt:lpstr>Homework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Mons Anderson</dc:creator>
  <cp:lastModifiedBy>Volodymyr Perepelytsya</cp:lastModifiedBy>
  <cp:revision>81</cp:revision>
  <dcterms:created xsi:type="dcterms:W3CDTF">2024-07-06T19:28:54Z</dcterms:created>
  <dcterms:modified xsi:type="dcterms:W3CDTF">2025-11-18T16:11:10Z</dcterms:modified>
</cp:coreProperties>
</file>
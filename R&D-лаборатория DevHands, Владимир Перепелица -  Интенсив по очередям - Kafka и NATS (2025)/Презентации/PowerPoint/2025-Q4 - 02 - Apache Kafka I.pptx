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501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504" r:id="rId16"/>
    <p:sldId id="495" r:id="rId17"/>
    <p:sldId id="496" r:id="rId18"/>
    <p:sldId id="277" r:id="rId19"/>
    <p:sldId id="278" r:id="rId20"/>
    <p:sldId id="287" r:id="rId21"/>
    <p:sldId id="288" r:id="rId22"/>
    <p:sldId id="279" r:id="rId23"/>
    <p:sldId id="290" r:id="rId24"/>
    <p:sldId id="257" r:id="rId25"/>
    <p:sldId id="259" r:id="rId26"/>
    <p:sldId id="291" r:id="rId27"/>
    <p:sldId id="292" r:id="rId28"/>
    <p:sldId id="258" r:id="rId29"/>
    <p:sldId id="502" r:id="rId30"/>
    <p:sldId id="286" r:id="rId31"/>
    <p:sldId id="289" r:id="rId32"/>
    <p:sldId id="293" r:id="rId33"/>
    <p:sldId id="294" r:id="rId34"/>
    <p:sldId id="262" r:id="rId35"/>
    <p:sldId id="295" r:id="rId36"/>
    <p:sldId id="296" r:id="rId37"/>
    <p:sldId id="263" r:id="rId38"/>
    <p:sldId id="498" r:id="rId39"/>
    <p:sldId id="499" r:id="rId40"/>
    <p:sldId id="500" r:id="rId41"/>
    <p:sldId id="280" r:id="rId42"/>
    <p:sldId id="297" r:id="rId43"/>
    <p:sldId id="281" r:id="rId44"/>
    <p:sldId id="299" r:id="rId45"/>
    <p:sldId id="298" r:id="rId46"/>
    <p:sldId id="282" r:id="rId47"/>
    <p:sldId id="300" r:id="rId48"/>
    <p:sldId id="319" r:id="rId49"/>
    <p:sldId id="301" r:id="rId50"/>
    <p:sldId id="497" r:id="rId51"/>
    <p:sldId id="302" r:id="rId52"/>
    <p:sldId id="303" r:id="rId53"/>
    <p:sldId id="310" r:id="rId54"/>
    <p:sldId id="309" r:id="rId55"/>
    <p:sldId id="308" r:id="rId56"/>
    <p:sldId id="306" r:id="rId57"/>
    <p:sldId id="312" r:id="rId58"/>
    <p:sldId id="315" r:id="rId59"/>
    <p:sldId id="314" r:id="rId60"/>
    <p:sldId id="317" r:id="rId61"/>
    <p:sldId id="318" r:id="rId62"/>
    <p:sldId id="283" r:id="rId63"/>
    <p:sldId id="284" r:id="rId64"/>
    <p:sldId id="331" r:id="rId65"/>
    <p:sldId id="484" r:id="rId66"/>
    <p:sldId id="485" r:id="rId67"/>
    <p:sldId id="486" r:id="rId68"/>
    <p:sldId id="487" r:id="rId69"/>
    <p:sldId id="488" r:id="rId70"/>
    <p:sldId id="489" r:id="rId71"/>
    <p:sldId id="490" r:id="rId72"/>
    <p:sldId id="505" r:id="rId73"/>
    <p:sldId id="491" r:id="rId74"/>
    <p:sldId id="492" r:id="rId75"/>
    <p:sldId id="493" r:id="rId76"/>
    <p:sldId id="320" r:id="rId77"/>
    <p:sldId id="33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503" r:id="rId87"/>
    <p:sldId id="483" r:id="rId88"/>
    <p:sldId id="494" r:id="rId89"/>
    <p:sldId id="468" r:id="rId9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6"/>
    <p:restoredTop sz="83915"/>
  </p:normalViewPr>
  <p:slideViewPr>
    <p:cSldViewPr snapToGrid="0">
      <p:cViewPr varScale="1">
        <p:scale>
          <a:sx n="112" d="100"/>
          <a:sy n="112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45E35-86FA-064D-8EEE-2E631EDDA7AF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25A73-5D88-3D4C-89F0-62E33B533BC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76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BE56-ADB8-C9C9-70E3-ACA149B1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D35DF-D5CF-41B4-5838-B8365BB86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65EAB-39D0-0BFB-4A2B-CEB7D0F73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C677F-12E4-55BE-1612-570A47CDC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5127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2008. There were no microservices. No Kubernetes. Clouds only emerging.</a:t>
            </a:r>
            <a:br>
              <a:rPr lang="en-US" i="0" dirty="0"/>
            </a:br>
            <a:r>
              <a:rPr lang="en-US" i="0" dirty="0"/>
              <a:t>SSD’s are rare. NVME does not exist. Distributed log systems are absent.</a:t>
            </a:r>
            <a:br>
              <a:rPr lang="en-US" i="0" dirty="0"/>
            </a:br>
            <a:r>
              <a:rPr lang="en-US" i="0" dirty="0"/>
              <a:t>There were even no </a:t>
            </a:r>
            <a:r>
              <a:rPr lang="en-US" i="0" dirty="0" err="1"/>
              <a:t>Tarantool</a:t>
            </a:r>
            <a:r>
              <a:rPr lang="en-US" i="0" dirty="0"/>
              <a:t> or Redis.</a:t>
            </a:r>
            <a:br>
              <a:rPr lang="en-US" i="0" dirty="0"/>
            </a:br>
            <a:r>
              <a:rPr lang="en-US" i="0" dirty="0"/>
              <a:t>There were nothing for accepting hundreds of thousands of messages per second. Durably.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10892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Alternatives:</a:t>
            </a:r>
            <a:br>
              <a:rPr lang="en-US" dirty="0"/>
            </a:br>
            <a:r>
              <a:rPr lang="en-US" dirty="0"/>
              <a:t>scribe, syslog* for logs.</a:t>
            </a:r>
            <a:br>
              <a:rPr lang="en-US" dirty="0"/>
            </a:br>
            <a:r>
              <a:rPr lang="en-US" dirty="0" err="1"/>
              <a:t>activemq</a:t>
            </a:r>
            <a:r>
              <a:rPr lang="en-US" dirty="0"/>
              <a:t>/</a:t>
            </a:r>
            <a:r>
              <a:rPr lang="en-US" dirty="0" err="1"/>
              <a:t>rabbitmq</a:t>
            </a:r>
            <a:r>
              <a:rPr lang="en-US" dirty="0"/>
              <a:t> for messages.</a:t>
            </a:r>
            <a:br>
              <a:rPr lang="en-US" dirty="0"/>
            </a:br>
            <a:r>
              <a:rPr lang="en-US" dirty="0" err="1"/>
              <a:t>Statsd</a:t>
            </a:r>
            <a:r>
              <a:rPr lang="en-US" dirty="0"/>
              <a:t>, graphite for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6470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br>
              <a:rPr lang="en-GB" b="1" dirty="0"/>
            </a:br>
            <a:r>
              <a:rPr lang="en-GB" b="1" dirty="0"/>
              <a:t>Immediate Insights:</a:t>
            </a:r>
            <a:r>
              <a:rPr lang="en-GB" dirty="0"/>
              <a:t> Enables the company to gain immediate insights into customer </a:t>
            </a:r>
            <a:r>
              <a:rPr lang="en-GB" dirty="0" err="1"/>
              <a:t>behavior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Personalized Experience:</a:t>
            </a:r>
            <a:r>
              <a:rPr lang="en-GB" dirty="0"/>
              <a:t> Allows for dynamic adjustments to recommendations based on real-time data.</a:t>
            </a:r>
            <a:br>
              <a:rPr lang="en-GB" dirty="0"/>
            </a:br>
            <a:r>
              <a:rPr lang="en-GB" b="1" dirty="0"/>
              <a:t>Scalability:</a:t>
            </a:r>
            <a:r>
              <a:rPr lang="en-GB" dirty="0"/>
              <a:t> Can handle large volumes of data from numerous users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78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88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br>
              <a:rPr lang="en-GB" b="0" dirty="0"/>
            </a:br>
            <a:r>
              <a:rPr lang="en-GB" b="1" dirty="0"/>
              <a:t>Data Integrity:</a:t>
            </a:r>
            <a:r>
              <a:rPr lang="en-GB" dirty="0"/>
              <a:t> Ensures a reliable and consistent source of truth for transactions.</a:t>
            </a:r>
            <a:br>
              <a:rPr lang="en-GB" dirty="0"/>
            </a:br>
            <a:r>
              <a:rPr lang="en-GB" b="1" dirty="0"/>
              <a:t>Scalability:</a:t>
            </a:r>
            <a:r>
              <a:rPr lang="en-GB" dirty="0"/>
              <a:t> Can scale to handle a high volume of transactions.</a:t>
            </a:r>
            <a:br>
              <a:rPr lang="en-GB" dirty="0"/>
            </a:br>
            <a:r>
              <a:rPr lang="en-GB" b="1" dirty="0"/>
              <a:t>Auditability:</a:t>
            </a:r>
            <a:r>
              <a:rPr lang="en-GB" dirty="0"/>
              <a:t> Provides a complete audit trail of all transactions, improving transparency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79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32170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br>
              <a:rPr lang="en-GB" b="0" dirty="0"/>
            </a:br>
            <a:r>
              <a:rPr lang="en-GB" b="1" dirty="0"/>
              <a:t>Centralized Management:</a:t>
            </a:r>
            <a:r>
              <a:rPr lang="en-GB" dirty="0"/>
              <a:t> Simplifies log management by centralizing logs from diverse sources.</a:t>
            </a:r>
            <a:br>
              <a:rPr lang="en-GB" dirty="0"/>
            </a:br>
            <a:r>
              <a:rPr lang="en-GB" b="1" dirty="0"/>
              <a:t>Real-Time Monitoring:</a:t>
            </a:r>
            <a:r>
              <a:rPr lang="en-GB" dirty="0"/>
              <a:t> Enables real-time monitoring and alerting for faster issue detection and resolution.</a:t>
            </a:r>
            <a:br>
              <a:rPr lang="en-GB" dirty="0"/>
            </a:br>
            <a:r>
              <a:rPr lang="en-GB" b="1" dirty="0"/>
              <a:t>Scalability:</a:t>
            </a:r>
            <a:r>
              <a:rPr lang="en-GB" dirty="0"/>
              <a:t> Can handle a high volume of log data from multiple applications and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80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18111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br>
              <a:rPr lang="en-GB" b="0" dirty="0"/>
            </a:br>
            <a:r>
              <a:rPr lang="en-GB" b="1" dirty="0"/>
              <a:t>Real-Time Insights:</a:t>
            </a:r>
            <a:r>
              <a:rPr lang="en-GB" dirty="0"/>
              <a:t> Provides real-time visibility into infrastructure performance and health.</a:t>
            </a:r>
            <a:br>
              <a:rPr lang="en-GB" dirty="0"/>
            </a:br>
            <a:r>
              <a:rPr lang="en-GB" b="1" dirty="0"/>
              <a:t>Scalability:</a:t>
            </a:r>
            <a:r>
              <a:rPr lang="en-GB" dirty="0"/>
              <a:t> Can scale to handle metrics from thousands of components.</a:t>
            </a:r>
            <a:br>
              <a:rPr lang="en-GB" dirty="0"/>
            </a:br>
            <a:r>
              <a:rPr lang="en-GB" b="1" dirty="0"/>
              <a:t>Resource Optimization:</a:t>
            </a:r>
            <a:r>
              <a:rPr lang="en-GB" dirty="0"/>
              <a:t> Helps in optimizing resource usage by identifying trends and anomalies.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81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2645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Unified Data Platform:</a:t>
            </a:r>
            <a:r>
              <a:rPr lang="en-GB" dirty="0"/>
              <a:t> Provides a unified platform for integrating data from various 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Real-Time Processing:</a:t>
            </a:r>
            <a:r>
              <a:rPr lang="en-GB" dirty="0"/>
              <a:t> Enables real-time data processing and transformation.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Scalability:</a:t>
            </a:r>
            <a:r>
              <a:rPr lang="en-GB" dirty="0"/>
              <a:t> Can handle large volumes of data from multiple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82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28724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Loose Coupling:</a:t>
            </a:r>
            <a:r>
              <a:rPr lang="en-GB" dirty="0"/>
              <a:t> Decouples services, allowing them to operate independently and asynchronously.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Scalability:</a:t>
            </a:r>
            <a:r>
              <a:rPr lang="en-GB" dirty="0"/>
              <a:t> Supports horizontal scaling of microservices.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Resilience:</a:t>
            </a:r>
            <a:r>
              <a:rPr lang="en-GB" dirty="0"/>
              <a:t> Improves fault tolerance by buffering events in Kafka.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83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5924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Immediate Detection:</a:t>
            </a:r>
            <a:r>
              <a:rPr lang="en-GB" dirty="0"/>
              <a:t> Enables the bank to detect and respond to fraudulent activities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Scalability:</a:t>
            </a:r>
            <a:r>
              <a:rPr lang="en-GB" dirty="0"/>
              <a:t> Can handle a high volume of transactions from multiple channels.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Flexibility:</a:t>
            </a:r>
            <a:r>
              <a:rPr lang="en-GB" dirty="0"/>
              <a:t> Allows for the implementation of complex fraud detection algorithms and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84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25338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Benefits: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Real-Time Insights:</a:t>
            </a:r>
            <a:r>
              <a:rPr lang="en-GB" dirty="0"/>
              <a:t> Provides real-time insights into city operations and environmental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Scalability:</a:t>
            </a:r>
            <a:r>
              <a:rPr lang="en-GB" dirty="0"/>
              <a:t> Can scale to handle data from thousands of IoT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Actionable Data:</a:t>
            </a:r>
            <a:r>
              <a:rPr lang="en-GB" dirty="0"/>
              <a:t> Enables real-time actions based on data analysis, improving city management and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85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4630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1A8D-6DAD-387A-E6E8-1BDDEFC18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625C0-4C9F-339B-09CE-28D81A8A1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F022-E432-49CC-477C-1E043DC1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0E8A2-8A28-EB75-A42B-CA01B13E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158AF-E39C-B044-4348-0ED7400B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8993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E9A-087B-311E-80E8-97E4ABA1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3376-5F0B-E3F7-7090-3610CF51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6C346-3888-DA43-52E0-0E7DDC12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016B-E3A9-FD88-3F17-EBBCD3B7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37128-28B1-B80C-FBEB-179FC037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564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97EE-06BB-0B11-5B8A-D6AB85AF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7FD9-7E2F-A1A1-9B34-108B0108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BF58A-9311-6663-B43F-5DE86692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69C6-3CA9-E4C6-9293-BF8D070E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87E4-9242-0503-2FCD-162EA6F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2149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EFD8-1771-879F-A49B-DADDC5DA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B115-432F-961F-329E-EB82F10EF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8DF4F-B795-48BD-E798-C7405781F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5ADA-0810-6A41-8A99-71A47FB8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A1227-A6EB-112D-089C-4982A4AD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4A92-D329-DD30-45D2-39C4D990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93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33D2-DBB5-8227-6DD8-2284705A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FB92D-6FE4-399F-C0F4-F7C921A0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5F1A6-A7D4-29AE-948C-1A4A9D8C0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C67B6-C373-89A9-C875-762110872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F5696-48F8-0F50-BEB7-867680143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DC270-C59B-51F7-E94D-AB3E7E27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5343C-A508-1538-159F-82D8AFF8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B9904-C1CC-D3A5-85AA-BA431740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327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7335-1B19-E9B7-5496-8458B31D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3BA2E-23B1-CA0C-A073-D7D6C204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DDEC-B8F3-703C-157E-BC0BD084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36B6A-9353-1D5C-E84C-69A9BDE0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149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41677-5CBA-11E4-D65D-0F1D722C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2ED06-7036-E547-B92D-A13B8544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2113-B086-B43C-1A39-2F993E34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43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0E30-0569-4019-1488-F52F1AC1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8E7C-783D-0F15-528F-DB136067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7C2AE-2CD0-75A4-62C7-3BEB470B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0B93-D43C-21B2-FFC2-B7E85D42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20B0A-79EC-B98F-320F-9BB9CC8F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218C-682D-DC1A-8F4A-B08A44FA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140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756A-BAB4-99BB-2A88-99733C76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8B7A5-729E-E9DC-1740-2963ABD2D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D5E14-8951-7271-CB20-2CFB4D5DC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D9A54-4DC4-08B0-7903-6DA90E74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C7743-4C84-3D8A-F054-F2584554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77ACE-4D4E-4735-13BD-D9908C80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5500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4FCB-3855-E45A-4600-27A8B33E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6DCB-AB09-D879-DFCC-6437C21E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F157-A4E1-CCD6-F23F-4CC8806B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F280-0B75-9C29-1D21-E4DFA67D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C54E-4685-78FC-112C-002D6D08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466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B30AF-76E1-DA3C-BA28-4D80FE86A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44EB4-A296-3510-7022-CCCB6F3E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CCA9-4A52-7AA6-1BB4-A4718331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FCF3-1928-BDAC-DB14-00AFD3C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A7BD9-66C9-AB20-40D5-9EDE5940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058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B0CE64-2860-89AA-B54B-4E159ECC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E02E-64EB-3911-6F83-82A5FB0E9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CF7C2-A80E-11C7-A7E3-022F610E8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361C5-4659-EA48-BFE1-D8CA88959CE5}" type="datetimeFigureOut">
              <a:rPr lang="en-RU" smtClean="0"/>
              <a:t>11/13/25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3758-E7DC-5CE6-2AF9-70D5B82E6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CF840-BE64-D021-4B97-258CDD06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9796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fluent.io/platform/current/kafka/monitoring.html" TargetMode="External"/><Relationship Id="rId2" Type="http://schemas.openxmlformats.org/officeDocument/2006/relationships/hyperlink" Target="https://kafka.apache.org/documentation/#monitoring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710E-66B5-D045-AB89-1BE9AB2D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03C680-59B2-4960-AE5A-1900BA5AD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4" b="694"/>
          <a:stretch/>
        </p:blipFill>
        <p:spPr>
          <a:xfrm>
            <a:off x="6979024" y="0"/>
            <a:ext cx="5212976" cy="6854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BE14054-DCC9-435E-8837-CB4131E05F1B}"/>
              </a:ext>
            </a:extLst>
          </p:cNvPr>
          <p:cNvSpPr txBox="1">
            <a:spLocks/>
          </p:cNvSpPr>
          <p:nvPr/>
        </p:nvSpPr>
        <p:spPr>
          <a:xfrm>
            <a:off x="640977" y="1861951"/>
            <a:ext cx="6338047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/>
              <a:t>Queues Crash Course</a:t>
            </a:r>
            <a:endParaRPr lang="en-RU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6953C8D-FB77-61AF-0EF7-8A42B654AD78}"/>
              </a:ext>
            </a:extLst>
          </p:cNvPr>
          <p:cNvSpPr txBox="1">
            <a:spLocks/>
          </p:cNvSpPr>
          <p:nvPr/>
        </p:nvSpPr>
        <p:spPr>
          <a:xfrm>
            <a:off x="640977" y="4341626"/>
            <a:ext cx="6338047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Apache Kafka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5672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8322-CA1E-42CE-26DD-48C777E2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What is Apache Kafka?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22967-E787-5CC4-3C24-D54E50FF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Distributed streaming platform</a:t>
            </a:r>
          </a:p>
          <a:p>
            <a:r>
              <a:rPr lang="en-GB" dirty="0"/>
              <a:t>For creation, storage, and processing of real-time data streams</a:t>
            </a:r>
          </a:p>
          <a:p>
            <a:r>
              <a:rPr lang="en-GB" dirty="0"/>
              <a:t>Developed by LinkedIn and donated to Apache Software Foundation</a:t>
            </a:r>
          </a:p>
          <a:p>
            <a:r>
              <a:rPr lang="en-GB" dirty="0"/>
              <a:t>Core infrastructure technology for data streams in real time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7524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12D4-15CE-8552-E3B1-D052C717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The purpouse of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DCED-0479-2BDB-A262-3B1959DC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Publish/Subscribe: </a:t>
            </a:r>
            <a:r>
              <a:rPr lang="en-GB" dirty="0"/>
              <a:t>Kafka acts as a message broker, allowing producers to publish data and consumers to subscribe to the data streams.</a:t>
            </a:r>
          </a:p>
          <a:p>
            <a:r>
              <a:rPr lang="en-GB" b="1" dirty="0">
                <a:effectLst/>
              </a:rPr>
              <a:t>Storage: </a:t>
            </a:r>
            <a:r>
              <a:rPr lang="en-GB" dirty="0"/>
              <a:t>Kafka provides durable storage for streams of records. It can store data with configurable retention policies, ensuring data availability for a specified period.</a:t>
            </a:r>
          </a:p>
          <a:p>
            <a:r>
              <a:rPr lang="en-GB" b="1" dirty="0">
                <a:effectLst/>
              </a:rPr>
              <a:t>Data Processing:</a:t>
            </a:r>
            <a:r>
              <a:rPr lang="en-GB" dirty="0"/>
              <a:t> Kafka Streams and Kafka Connect frameworks allow for real-time stream processing and integration with various data sources and sinks.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5955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F8DB-8298-164D-1AC2-05092BD1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usecases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3DCA-4B19-606D-0CAC-B4EA0697D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Real-Time Analytics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147CC-8F62-4946-35EB-F2381BF52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Process and </a:t>
            </a:r>
            <a:r>
              <a:rPr lang="en-GB" dirty="0" err="1"/>
              <a:t>analyze</a:t>
            </a:r>
            <a:r>
              <a:rPr lang="en-GB" dirty="0"/>
              <a:t> data in real-time, gaining insights that drive business decisions.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74989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F8DB-8298-164D-1AC2-05092BD1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usecases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3DCA-4B19-606D-0CAC-B4EA0697D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/>
                </a:solidFill>
                <a:effectLst/>
              </a:rPr>
              <a:t>Real-Time Analytics</a:t>
            </a:r>
          </a:p>
          <a:p>
            <a:r>
              <a:rPr lang="en-GB" b="1" dirty="0">
                <a:effectLst/>
              </a:rPr>
              <a:t>Event Sourcing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147CC-8F62-4946-35EB-F2381BF52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Kafka’s ability to handle high volumes of event data makes it ideal for event sourcing architectures, where state changes are captured as a series of immutable events.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2762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F8DB-8298-164D-1AC2-05092BD1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usecases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3DCA-4B19-606D-0CAC-B4EA0697D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/>
                </a:solidFill>
                <a:effectLst/>
              </a:rPr>
              <a:t>Real-Time Analytics</a:t>
            </a:r>
          </a:p>
          <a:p>
            <a:r>
              <a:rPr lang="en-GB" b="1" dirty="0">
                <a:solidFill>
                  <a:schemeClr val="bg2"/>
                </a:solidFill>
                <a:effectLst/>
              </a:rPr>
              <a:t>Event Sourcing</a:t>
            </a:r>
          </a:p>
          <a:p>
            <a:r>
              <a:rPr lang="en-GB" b="1" dirty="0">
                <a:effectLst/>
              </a:rPr>
              <a:t>Log Aggregation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147CC-8F62-4946-35EB-F2381BF52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Kafka aggregates log files from multiple servers and systems, centralizing the log data for further processing and analysis.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7019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F8DB-8298-164D-1AC2-05092BD1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usecases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3DCA-4B19-606D-0CAC-B4EA0697D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/>
                </a:solidFill>
                <a:effectLst/>
              </a:rPr>
              <a:t>Real-Time Analytics</a:t>
            </a:r>
          </a:p>
          <a:p>
            <a:r>
              <a:rPr lang="en-GB" b="1" dirty="0">
                <a:solidFill>
                  <a:schemeClr val="bg2"/>
                </a:solidFill>
                <a:effectLst/>
              </a:rPr>
              <a:t>Event Sourcing</a:t>
            </a:r>
          </a:p>
          <a:p>
            <a:r>
              <a:rPr lang="en-GB" b="1" dirty="0">
                <a:solidFill>
                  <a:schemeClr val="bg2"/>
                </a:solidFill>
                <a:effectLst/>
              </a:rPr>
              <a:t>Log Aggregation</a:t>
            </a:r>
          </a:p>
          <a:p>
            <a:r>
              <a:rPr lang="en-GB" b="1" dirty="0">
                <a:effectLst/>
              </a:rPr>
              <a:t>Metrics Collection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147CC-8F62-4946-35EB-F2381BF52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Kafka collects and stores metrics data, enabling monitoring and alerting systems to function effectively.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4291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F8DB-8298-164D-1AC2-05092BD1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usecases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3DCA-4B19-606D-0CAC-B4EA0697D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2"/>
                </a:solidFill>
                <a:effectLst/>
              </a:rPr>
              <a:t>Real-Time Analytics</a:t>
            </a:r>
          </a:p>
          <a:p>
            <a:r>
              <a:rPr lang="en-GB" b="1" dirty="0">
                <a:solidFill>
                  <a:schemeClr val="bg2"/>
                </a:solidFill>
                <a:effectLst/>
              </a:rPr>
              <a:t>Event Sourcing</a:t>
            </a:r>
          </a:p>
          <a:p>
            <a:r>
              <a:rPr lang="en-GB" b="1" dirty="0">
                <a:solidFill>
                  <a:schemeClr val="bg2"/>
                </a:solidFill>
                <a:effectLst/>
              </a:rPr>
              <a:t>Log Aggregation</a:t>
            </a:r>
          </a:p>
          <a:p>
            <a:r>
              <a:rPr lang="en-GB" b="1" dirty="0">
                <a:solidFill>
                  <a:schemeClr val="bg2"/>
                </a:solidFill>
                <a:effectLst/>
              </a:rPr>
              <a:t>Metrics Collection</a:t>
            </a:r>
          </a:p>
          <a:p>
            <a:r>
              <a:rPr lang="en-GB" b="1" dirty="0">
                <a:effectLst/>
              </a:rPr>
              <a:t>Data Integration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147CC-8F62-4946-35EB-F2381BF52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Kafka integrates data across various systems, acting as a bridge between different data platforms and ensuring seamless data flow.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2062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F8DB-8298-164D-1AC2-05092BD1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RU" dirty="0"/>
              <a:t>Kafka usecases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3DCA-4B19-606D-0CAC-B4EA0697D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GB" dirty="0"/>
              <a:t>Real-Time Analytics</a:t>
            </a:r>
          </a:p>
          <a:p>
            <a:r>
              <a:rPr lang="en-GB" dirty="0"/>
              <a:t>Event Sourcing</a:t>
            </a:r>
          </a:p>
          <a:p>
            <a:r>
              <a:rPr lang="en-GB" dirty="0"/>
              <a:t>Log Aggregation</a:t>
            </a:r>
          </a:p>
          <a:p>
            <a:r>
              <a:rPr lang="en-GB" dirty="0"/>
              <a:t>Metrics Collection</a:t>
            </a:r>
          </a:p>
          <a:p>
            <a:r>
              <a:rPr lang="en-GB" dirty="0"/>
              <a:t>Data Integration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147CC-8F62-4946-35EB-F2381BF52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It’s design and capabilities make it an essential tool for modern data infrastructure, supporting a wide range of applications that require robust, scalable, and real-time data processing capabilities.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0335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CF05-B747-98AA-30D4-C5E10719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The history behind Kafka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5E3FB-3F07-81E2-7533-343306011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6154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05F062-8EA5-5A0D-886E-9C52B063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Linkedin. 2008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32AE69-A616-2887-D196-E8AF252E1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User activity logs, application metrics, and operational monitoring</a:t>
            </a:r>
          </a:p>
          <a:p>
            <a:r>
              <a:rPr lang="en-GB" dirty="0"/>
              <a:t>Existing solutions were not scalable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45607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74A4-7949-583F-9FE4-DB1944C9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Initial Challenges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ABFA2-933F-3DE8-CDDA-8798F9575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Scalability:</a:t>
            </a:r>
            <a:r>
              <a:rPr lang="en-GB" dirty="0"/>
              <a:t> LinkedIn needed a system that could scale horizontally to handle the vast and ever-growing amount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Durability:</a:t>
            </a:r>
            <a:r>
              <a:rPr lang="en-GB" dirty="0"/>
              <a:t> Ensuring data integrity and reliability was critical, as data loss or corruption could have significant business implications.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Latency:</a:t>
            </a:r>
            <a:r>
              <a:rPr lang="en-GB" dirty="0"/>
              <a:t> Real-time data processing was essential for timely analytics and operational insights.</a:t>
            </a:r>
          </a:p>
        </p:txBody>
      </p:sp>
    </p:spTree>
    <p:extLst>
      <p:ext uri="{BB962C8B-B14F-4D97-AF65-F5344CB8AC3E}">
        <p14:creationId xmlns:p14="http://schemas.microsoft.com/office/powerpoint/2010/main" val="2679060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D9A5-91EE-057E-F20C-B13A0572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Origin story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634B-6732-361F-D58D-DB215D523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Designed from the ground up to be a distributed, partitioned, and replicated log service.</a:t>
            </a:r>
          </a:p>
          <a:p>
            <a:r>
              <a:rPr lang="en-GB" dirty="0"/>
              <a:t>By 2010 demonstrating its effectiveness in </a:t>
            </a:r>
            <a:r>
              <a:rPr lang="en-GB" dirty="0" err="1"/>
              <a:t>Linkedin</a:t>
            </a:r>
            <a:endParaRPr lang="en-GB" dirty="0"/>
          </a:p>
          <a:p>
            <a:r>
              <a:rPr lang="en-GB" dirty="0"/>
              <a:t>In 2011 </a:t>
            </a:r>
            <a:r>
              <a:rPr lang="en-GB" dirty="0" err="1"/>
              <a:t>Linkedin</a:t>
            </a:r>
            <a:r>
              <a:rPr lang="en-GB" dirty="0"/>
              <a:t> donated it to Apache Software Foundation</a:t>
            </a:r>
          </a:p>
          <a:p>
            <a:pPr lvl="1"/>
            <a:r>
              <a:rPr lang="en-GB" dirty="0">
                <a:effectLst/>
              </a:rPr>
              <a:t>Community Collaboration</a:t>
            </a:r>
          </a:p>
          <a:p>
            <a:pPr lvl="1"/>
            <a:r>
              <a:rPr lang="en-GB" dirty="0">
                <a:effectLst/>
              </a:rPr>
              <a:t>Wider Adoption</a:t>
            </a:r>
          </a:p>
          <a:p>
            <a:pPr lvl="1"/>
            <a:r>
              <a:rPr lang="en-GB" dirty="0">
                <a:effectLst/>
              </a:rPr>
              <a:t>Standardization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10540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E82B-BDC8-67A7-F0E0-9BFE4563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contributors and milestones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C7E6A-BB35-9DEC-88EA-C155BADD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4713" cy="466725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2011:</a:t>
            </a:r>
            <a:r>
              <a:rPr lang="en-GB" dirty="0"/>
              <a:t> Kafka is open-sourced under the Apache Software Foundation.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2012:</a:t>
            </a:r>
            <a:r>
              <a:rPr lang="en-GB" dirty="0"/>
              <a:t> v0.7 is released, major improvements in performance and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2013:</a:t>
            </a:r>
            <a:r>
              <a:rPr lang="en-GB" dirty="0"/>
              <a:t> v0.8 introduces replication, enhancing durability and fault tolerance.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2014:</a:t>
            </a:r>
            <a:r>
              <a:rPr lang="en-GB" dirty="0"/>
              <a:t> Confluent is established to provide commercial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2015:</a:t>
            </a:r>
            <a:r>
              <a:rPr lang="en-GB" dirty="0"/>
              <a:t> v0.9 adds security features, SSL encryption and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2016:</a:t>
            </a:r>
            <a:r>
              <a:rPr lang="en-GB" dirty="0"/>
              <a:t> v0.10 introduces Kafka Streams: native stream processing capabilities.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2017:</a:t>
            </a:r>
            <a:r>
              <a:rPr lang="en-GB" dirty="0"/>
              <a:t> v1.0 is released, marking its maturity and widespread adoption.</a:t>
            </a:r>
          </a:p>
          <a:p>
            <a:pPr marL="0" indent="0">
              <a:buNone/>
            </a:pPr>
            <a:r>
              <a:rPr lang="en-GB" b="1" dirty="0"/>
              <a:t> 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 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 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16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E3665-875B-716D-1B8B-C4565BDA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5687-25E7-BAB0-6DCA-F914ACBE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contributors and milestones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357EE-E500-73C9-4BD2-0E143FAE5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4713" cy="466725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2011:</a:t>
            </a:r>
            <a:r>
              <a:rPr lang="en-GB" dirty="0"/>
              <a:t> Kafka is open-sourced under the Apache Software Foundation.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2012:</a:t>
            </a:r>
            <a:r>
              <a:rPr lang="en-GB" dirty="0"/>
              <a:t> v0.7 is released, major improvements in performance and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2013:</a:t>
            </a:r>
            <a:r>
              <a:rPr lang="en-GB" dirty="0"/>
              <a:t> v0.8 introduces replication, enhancing durability and fault tolerance.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2014:</a:t>
            </a:r>
            <a:r>
              <a:rPr lang="en-GB" dirty="0"/>
              <a:t> Confluent is established to provide commercial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2015:</a:t>
            </a:r>
            <a:r>
              <a:rPr lang="en-GB" dirty="0"/>
              <a:t> v0.9 adds security features, SSL encryption and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2016:</a:t>
            </a:r>
            <a:r>
              <a:rPr lang="en-GB" dirty="0"/>
              <a:t> v0.10 introduces Kafka Streams: native stream processing capabilities.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2017:</a:t>
            </a:r>
            <a:r>
              <a:rPr lang="en-GB" dirty="0"/>
              <a:t> v1.0 is released, marking its maturity and widespread adoption.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2020:</a:t>
            </a:r>
            <a:r>
              <a:rPr lang="en-GB" dirty="0"/>
              <a:t> Kafka introduces the </a:t>
            </a:r>
            <a:r>
              <a:rPr lang="en-GB" dirty="0" err="1"/>
              <a:t>KRaft</a:t>
            </a:r>
            <a:r>
              <a:rPr lang="en-GB" dirty="0"/>
              <a:t> mode, get rid of dep on </a:t>
            </a:r>
            <a:r>
              <a:rPr lang="en-GB" dirty="0" err="1"/>
              <a:t>ZooKeeper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2022: </a:t>
            </a:r>
            <a:r>
              <a:rPr lang="en-GB" dirty="0"/>
              <a:t>v3.0, stable support for </a:t>
            </a:r>
            <a:r>
              <a:rPr lang="en-GB" dirty="0" err="1"/>
              <a:t>KRaft</a:t>
            </a:r>
            <a:r>
              <a:rPr lang="en-GB" dirty="0"/>
              <a:t>.</a:t>
            </a:r>
          </a:p>
          <a:p>
            <a:r>
              <a:rPr lang="en-GB" b="1" dirty="0"/>
              <a:t>2024:</a:t>
            </a:r>
            <a:r>
              <a:rPr lang="en-GB" dirty="0"/>
              <a:t> v4.0 preview. 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Major milestone with </a:t>
            </a:r>
            <a:r>
              <a:rPr lang="en-GB" dirty="0" err="1">
                <a:solidFill>
                  <a:srgbClr val="0E0E0E"/>
                </a:solidFill>
                <a:effectLst/>
                <a:latin typeface=".SF NS"/>
              </a:rPr>
              <a:t>KRaft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 fully replacing </a:t>
            </a:r>
            <a:r>
              <a:rPr lang="en-GB" dirty="0" err="1">
                <a:solidFill>
                  <a:srgbClr val="0E0E0E"/>
                </a:solidFill>
                <a:effectLst/>
                <a:latin typeface=".SF NS"/>
              </a:rPr>
              <a:t>ZooKeeper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1759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36AA-30CD-58F2-184E-5B2E7F1C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2A75-4093-6478-600A-57BBFF05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contributors and milestones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3234-5787-E18F-B3D5-C040151A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4713" cy="46672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2020:</a:t>
            </a:r>
            <a:r>
              <a:rPr lang="en-GB" dirty="0"/>
              <a:t> Kafka introduces the </a:t>
            </a:r>
            <a:r>
              <a:rPr lang="en-GB" dirty="0" err="1"/>
              <a:t>KRaft</a:t>
            </a:r>
            <a:r>
              <a:rPr lang="en-GB" dirty="0"/>
              <a:t> mode, get rid of dep on </a:t>
            </a:r>
            <a:r>
              <a:rPr lang="en-GB" dirty="0" err="1"/>
              <a:t>ZooKeeper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2022: </a:t>
            </a:r>
            <a:r>
              <a:rPr lang="en-GB" dirty="0"/>
              <a:t>v3.0, stable support for </a:t>
            </a:r>
            <a:r>
              <a:rPr lang="en-GB" dirty="0" err="1"/>
              <a:t>KRaft</a:t>
            </a:r>
            <a:r>
              <a:rPr lang="en-GB" dirty="0"/>
              <a:t>.</a:t>
            </a:r>
          </a:p>
          <a:p>
            <a:r>
              <a:rPr lang="en-GB" b="1" dirty="0"/>
              <a:t>2024:</a:t>
            </a:r>
            <a:r>
              <a:rPr lang="en-GB" dirty="0"/>
              <a:t> v4.0 preview. 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Major milestone with </a:t>
            </a:r>
            <a:r>
              <a:rPr lang="en-GB" dirty="0" err="1">
                <a:solidFill>
                  <a:srgbClr val="0E0E0E"/>
                </a:solidFill>
                <a:effectLst/>
                <a:latin typeface=".SF NS"/>
              </a:rPr>
              <a:t>KRaft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 fully replacing </a:t>
            </a:r>
            <a:r>
              <a:rPr lang="en-GB" dirty="0" err="1">
                <a:solidFill>
                  <a:srgbClr val="0E0E0E"/>
                </a:solidFill>
                <a:effectLst/>
                <a:latin typeface=".SF NS"/>
              </a:rPr>
              <a:t>ZooKeeper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2025</a:t>
            </a:r>
            <a:r>
              <a:rPr lang="en-US" b="1" dirty="0"/>
              <a:t>: </a:t>
            </a:r>
            <a:r>
              <a:rPr lang="en-US" dirty="0"/>
              <a:t>v4.0</a:t>
            </a:r>
          </a:p>
          <a:p>
            <a:pPr lvl="1"/>
            <a:r>
              <a:rPr lang="en-US" dirty="0"/>
              <a:t>Kafka Raft (</a:t>
            </a:r>
            <a:r>
              <a:rPr lang="en-US" dirty="0" err="1"/>
              <a:t>KRaft</a:t>
            </a:r>
            <a:r>
              <a:rPr lang="en-US" dirty="0"/>
              <a:t>) instead of ZK</a:t>
            </a:r>
            <a:endParaRPr lang="ru-RU" dirty="0"/>
          </a:p>
          <a:p>
            <a:pPr lvl="1"/>
            <a:r>
              <a:rPr lang="en-US" dirty="0"/>
              <a:t>Tiered Storage</a:t>
            </a:r>
          </a:p>
          <a:p>
            <a:pPr lvl="1"/>
            <a:r>
              <a:rPr lang="en-US" dirty="0"/>
              <a:t>Kafka Queues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1696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ADC3-1DE5-27BB-E917-A926BEEC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cartoon of two people in clothing&#10;&#10;AI-generated content may be incorrect.">
            <a:extLst>
              <a:ext uri="{FF2B5EF4-FFF2-40B4-BE49-F238E27FC236}">
                <a16:creationId xmlns:a16="http://schemas.microsoft.com/office/drawing/2014/main" id="{B1142079-9A27-10D3-8F54-6C19F176E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0737" y="440668"/>
            <a:ext cx="6510526" cy="5976664"/>
          </a:xfrm>
        </p:spPr>
      </p:pic>
    </p:spTree>
    <p:extLst>
      <p:ext uri="{BB962C8B-B14F-4D97-AF65-F5344CB8AC3E}">
        <p14:creationId xmlns:p14="http://schemas.microsoft.com/office/powerpoint/2010/main" val="1588196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922CAC-9A50-E569-D5BC-2E16F31C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Architecture of Apache Kafka</a:t>
            </a:r>
            <a:endParaRPr lang="en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BFCE2-69E4-083E-2998-C9362D912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6471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/>
              <a:t>Brokers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Brokers are the servers that form the Kafka cluster.</a:t>
            </a:r>
          </a:p>
          <a:p>
            <a:r>
              <a:rPr lang="en-GB" dirty="0"/>
              <a:t>Each broker is identified by a unique ID and is responsible for storing and managing the data for its assigned partitions.</a:t>
            </a:r>
          </a:p>
          <a:p>
            <a:r>
              <a:rPr lang="en-GB" dirty="0"/>
              <a:t>Each partition has one broker acting as the leader and one or more brokers acting as followers.</a:t>
            </a:r>
          </a:p>
        </p:txBody>
      </p:sp>
    </p:spTree>
    <p:extLst>
      <p:ext uri="{BB962C8B-B14F-4D97-AF65-F5344CB8AC3E}">
        <p14:creationId xmlns:p14="http://schemas.microsoft.com/office/powerpoint/2010/main" val="947861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5B53-0501-5421-F4BF-6092BDBB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Brokers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23D5A-D1A5-7D56-B5E0-9B5BF3237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Data Storage:</a:t>
            </a:r>
            <a:r>
              <a:rPr lang="en-GB" dirty="0"/>
              <a:t> Brokers store data in the form of logs on disk.</a:t>
            </a:r>
            <a:br>
              <a:rPr lang="en-GB" dirty="0"/>
            </a:br>
            <a:r>
              <a:rPr lang="en-GB" dirty="0"/>
              <a:t>Each log is a sequence of records that are appended to a partition.</a:t>
            </a:r>
          </a:p>
          <a:p>
            <a:r>
              <a:rPr lang="en-GB" b="1" dirty="0">
                <a:effectLst/>
              </a:rPr>
              <a:t>Replication:</a:t>
            </a:r>
            <a:r>
              <a:rPr lang="en-GB" dirty="0"/>
              <a:t> Brokers replicate data to ensure fault tolerance.</a:t>
            </a:r>
            <a:br>
              <a:rPr lang="en-GB" dirty="0"/>
            </a:br>
            <a:r>
              <a:rPr lang="en-GB" dirty="0"/>
              <a:t>If a leader broker fails, one of the followers is promoted to the leader.</a:t>
            </a:r>
          </a:p>
          <a:p>
            <a:r>
              <a:rPr lang="en-GB" b="1" dirty="0">
                <a:effectLst/>
              </a:rPr>
              <a:t>Load Balancing:</a:t>
            </a:r>
            <a:r>
              <a:rPr lang="en-GB" dirty="0"/>
              <a:t> partitions distributed across multiple brokers.</a:t>
            </a:r>
            <a:br>
              <a:rPr lang="en-GB" dirty="0"/>
            </a:br>
            <a:r>
              <a:rPr lang="en-GB" dirty="0"/>
              <a:t>The load is balanced, preventing any broker becoming a bottleneck.</a:t>
            </a:r>
          </a:p>
          <a:p>
            <a:r>
              <a:rPr lang="en-GB" b="1" dirty="0">
                <a:effectLst/>
              </a:rPr>
              <a:t>Fault Tolerance:</a:t>
            </a:r>
            <a:r>
              <a:rPr lang="en-GB" dirty="0"/>
              <a:t> Brokers monitor each other’s health through heartbeats. In case of failure, remaining brokers take over.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32463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4A51-D131-3293-26C2-21EB4087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Brokers: leader and follower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88BC8-AECB-E9C6-EBAE-90588D79D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Leader Broker:</a:t>
            </a:r>
            <a:r>
              <a:rPr lang="en-GB" dirty="0"/>
              <a:t> For each partition, one broker is designated as the leader. The leader is responsible for all read and write operations for its partition.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Follower Brokers:</a:t>
            </a:r>
            <a:r>
              <a:rPr lang="en-GB" dirty="0"/>
              <a:t> Brokers that replicate the partition are called followers. Followers constantly replicate the data from the leader.</a:t>
            </a:r>
            <a:br>
              <a:rPr lang="en-GB" dirty="0"/>
            </a:br>
            <a:r>
              <a:rPr lang="en-GB" dirty="0"/>
              <a:t>They do not serve client requests directly but are ready to take 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In-Sync Replicas (ISR):</a:t>
            </a:r>
            <a:r>
              <a:rPr lang="en-GB" dirty="0"/>
              <a:t> Brokers that are fully in sync with the leader.</a:t>
            </a:r>
            <a:br>
              <a:rPr lang="en-GB" dirty="0"/>
            </a:br>
            <a:r>
              <a:rPr lang="en-GB" dirty="0"/>
              <a:t>Data is written to all ISRs to guarantee durability and fault tolerance.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Leader Election:</a:t>
            </a:r>
            <a:r>
              <a:rPr lang="en-GB" dirty="0"/>
              <a:t> When a leader broker fails, a new leader is elected from the ISR. This election is managed either by </a:t>
            </a:r>
            <a:r>
              <a:rPr lang="en-GB" dirty="0" err="1"/>
              <a:t>ZooKeeper</a:t>
            </a:r>
            <a:r>
              <a:rPr lang="en-GB" dirty="0"/>
              <a:t> or by the </a:t>
            </a:r>
            <a:r>
              <a:rPr lang="en-GB" dirty="0" err="1"/>
              <a:t>KRaft</a:t>
            </a:r>
            <a:r>
              <a:rPr lang="en-GB" dirty="0"/>
              <a:t> (Kafka Raft).</a:t>
            </a:r>
          </a:p>
        </p:txBody>
      </p:sp>
    </p:spTree>
    <p:extLst>
      <p:ext uri="{BB962C8B-B14F-4D97-AF65-F5344CB8AC3E}">
        <p14:creationId xmlns:p14="http://schemas.microsoft.com/office/powerpoint/2010/main" val="3011399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>
                <a:solidFill>
                  <a:schemeClr val="bg2"/>
                </a:solidFill>
              </a:rPr>
              <a:t>Brokers</a:t>
            </a:r>
          </a:p>
          <a:p>
            <a:r>
              <a:rPr lang="en-RU" dirty="0"/>
              <a:t>Topics and Partitions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Topic is a media, to which records are published</a:t>
            </a:r>
          </a:p>
          <a:p>
            <a:r>
              <a:rPr lang="en-GB" dirty="0"/>
              <a:t>Topics are always multi-subscriber</a:t>
            </a:r>
          </a:p>
          <a:p>
            <a:r>
              <a:rPr lang="en-GB" dirty="0"/>
              <a:t>Each topic is split into partitions for parallelism and scalability</a:t>
            </a:r>
          </a:p>
          <a:p>
            <a:r>
              <a:rPr lang="en-GB" dirty="0"/>
              <a:t>Partitions can be assigned based on keys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854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C1E797-9D40-67C8-AA82-35ED289D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FC398-149E-DA68-0346-7311445C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Topic</a:t>
            </a:r>
            <a:r>
              <a:rPr lang="en-GB" dirty="0"/>
              <a:t> is a logical channel to which records are published</a:t>
            </a:r>
            <a:br>
              <a:rPr lang="en-GB" dirty="0"/>
            </a:br>
            <a:r>
              <a:rPr lang="en-GB" dirty="0"/>
              <a:t>and from which consumers can read.</a:t>
            </a:r>
            <a:endParaRPr lang="en-GB" b="1" dirty="0">
              <a:effectLst/>
            </a:endParaRPr>
          </a:p>
          <a:p>
            <a:r>
              <a:rPr lang="en-GB" b="1" dirty="0">
                <a:effectLst/>
              </a:rPr>
              <a:t>Multi-Subscriber Model:</a:t>
            </a:r>
            <a:br>
              <a:rPr lang="en-GB" b="1" dirty="0">
                <a:effectLst/>
              </a:rPr>
            </a:br>
            <a:r>
              <a:rPr lang="en-GB" dirty="0"/>
              <a:t>Topics support multiple producers and consumers.</a:t>
            </a:r>
          </a:p>
          <a:p>
            <a:r>
              <a:rPr lang="en-GB" b="1" dirty="0">
                <a:effectLst/>
              </a:rPr>
              <a:t>Immutable Logs:</a:t>
            </a:r>
            <a:br>
              <a:rPr lang="en-GB" b="1" dirty="0">
                <a:effectLst/>
              </a:rPr>
            </a:br>
            <a:r>
              <a:rPr lang="en-GB" dirty="0"/>
              <a:t>Records written to a topic are immutable.</a:t>
            </a:r>
          </a:p>
          <a:p>
            <a:r>
              <a:rPr lang="en-US" b="1" dirty="0"/>
              <a:t>Strict Order:</a:t>
            </a:r>
            <a:br>
              <a:rPr lang="en-GB" b="1" dirty="0"/>
            </a:br>
            <a:r>
              <a:rPr lang="en-GB" dirty="0"/>
              <a:t>Records are stored in the order they were produced.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04302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4416EF-252A-248E-D3A9-CDD528E8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Topics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F60338D-7621-9678-9058-2A1F068A1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Topic</a:t>
            </a:r>
            <a:r>
              <a:rPr lang="en-GB" dirty="0"/>
              <a:t> is a logical channel to which records are published</a:t>
            </a:r>
            <a:br>
              <a:rPr lang="en-GB" dirty="0"/>
            </a:br>
            <a:r>
              <a:rPr lang="en-GB" dirty="0"/>
              <a:t>and from which consumers can read.</a:t>
            </a:r>
            <a:endParaRPr lang="en-GB" b="1" dirty="0">
              <a:effectLst/>
            </a:endParaRPr>
          </a:p>
          <a:p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D186E-6316-4082-D1C3-AD99988851F2}"/>
              </a:ext>
            </a:extLst>
          </p:cNvPr>
          <p:cNvSpPr/>
          <p:nvPr/>
        </p:nvSpPr>
        <p:spPr>
          <a:xfrm>
            <a:off x="2848304" y="3640414"/>
            <a:ext cx="6495392" cy="1045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Topic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6B9AFA-186E-C477-FB74-4E38EF006E3B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EE591-BAA1-7450-DE38-7CFE3AB332CA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2271713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164546D-1DDB-31BA-82A1-075ECF1569E7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202BA0-A885-8B70-2611-285FE90A0FAF}"/>
              </a:ext>
            </a:extLst>
          </p:cNvPr>
          <p:cNvCxnSpPr>
            <a:cxnSpLocks/>
            <a:stCxn id="5" idx="3"/>
            <a:endCxn id="23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512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4416EF-252A-248E-D3A9-CDD528E8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D186E-6316-4082-D1C3-AD99988851F2}"/>
              </a:ext>
            </a:extLst>
          </p:cNvPr>
          <p:cNvSpPr/>
          <p:nvPr/>
        </p:nvSpPr>
        <p:spPr>
          <a:xfrm>
            <a:off x="2848304" y="3640413"/>
            <a:ext cx="6495392" cy="1045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6B9AFA-186E-C477-FB74-4E38EF006E3B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EE591-BAA1-7450-DE38-7CFE3AB332CA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2271713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B38CCC-2B34-5588-419A-1177E116E6B3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4F4DCC-706E-B752-5875-FC1A2E823BC9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1288A1-B9E0-B271-F79F-E397BBE98B97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982B1AE-125B-C082-EF7A-41DFACE9DFBD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45A2AB-09EB-09B9-247F-9D608BD03FC4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C8E148-A4E2-2268-2EE4-EC1221BBC4CB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159816D-77FF-B01D-C352-D596339603FF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14CC3C-7D0D-8342-56E8-0A11938FC78B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519BA3-6829-4FF2-63F9-A314D99F50FC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E913A9-A5A3-D1E0-D30E-15610D95951E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49ACF35-1153-35F0-DE9B-6AF7127AAC7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9DE26D-986A-86D2-BD4C-59444298FB65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m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6C09093-4B2A-59F7-DFCE-2597F6FB5FBC}"/>
              </a:ext>
            </a:extLst>
          </p:cNvPr>
          <p:cNvSpPr/>
          <p:nvPr/>
        </p:nvSpPr>
        <p:spPr>
          <a:xfrm rot="5400000">
            <a:off x="5789737" y="328070"/>
            <a:ext cx="604126" cy="5863020"/>
          </a:xfrm>
          <a:prstGeom prst="leftBrac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FE1BC1-27AD-6AA4-0E7A-AE7F6C84945B}"/>
              </a:ext>
            </a:extLst>
          </p:cNvPr>
          <p:cNvSpPr txBox="1"/>
          <p:nvPr/>
        </p:nvSpPr>
        <p:spPr>
          <a:xfrm>
            <a:off x="5628115" y="2480884"/>
            <a:ext cx="92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Records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CFA1771-449F-39DE-ED81-276954DC5FA4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14D670-7C8F-5098-FB8C-BF16CD4A8B1D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356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44B8B3-907E-63C6-1A4C-8F785C794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 partitioning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084D1-3034-1654-7C88-49F7384D2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topic can have one or more partitions</a:t>
            </a:r>
          </a:p>
          <a:p>
            <a:r>
              <a:rPr lang="en-GB" dirty="0"/>
              <a:t>Each partition is an ordered, immutable sequence of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Scalability:</a:t>
            </a:r>
            <a:r>
              <a:rPr lang="en-GB" dirty="0"/>
              <a:t> Partitions enable Kafka to scale horizontally.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Parallelism:</a:t>
            </a:r>
            <a:r>
              <a:rPr lang="en-GB" dirty="0"/>
              <a:t> Partitions allow multiple consumers to read from a topic concurrently.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consumer in a consumer group can read from a different partition, enabling parallel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2512475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4416EF-252A-248E-D3A9-CDD528E8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 partitioning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D186E-6316-4082-D1C3-AD99988851F2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6B9AFA-186E-C477-FB74-4E38EF006E3B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EE591-BAA1-7450-DE38-7CFE3AB332CA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2271713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B38CCC-2B34-5588-419A-1177E116E6B3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4F4DCC-706E-B752-5875-FC1A2E823BC9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1288A1-B9E0-B271-F79F-E397BBE98B97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982B1AE-125B-C082-EF7A-41DFACE9DFBD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45A2AB-09EB-09B9-247F-9D608BD03FC4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C8E148-A4E2-2268-2EE4-EC1221BBC4CB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159816D-77FF-B01D-C352-D596339603FF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14CC3C-7D0D-8342-56E8-0A11938FC78B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519BA3-6829-4FF2-63F9-A314D99F50FC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E913A9-A5A3-D1E0-D30E-15610D95951E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49ACF35-1153-35F0-DE9B-6AF7127AAC7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9DE26D-986A-86D2-BD4C-59444298FB65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C87170-6C16-4729-F565-934A8C234B03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8051D4-BC73-C5B7-0331-92ECA3B87640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425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8D186E-6316-4082-D1C3-AD99988851F2}"/>
              </a:ext>
            </a:extLst>
          </p:cNvPr>
          <p:cNvSpPr/>
          <p:nvPr/>
        </p:nvSpPr>
        <p:spPr>
          <a:xfrm>
            <a:off x="2848304" y="3626260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6B9AFA-186E-C477-FB74-4E38EF006E3B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EE591-BAA1-7450-DE38-7CFE3AB332CA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 flipV="1">
            <a:off x="2271713" y="4147754"/>
            <a:ext cx="576591" cy="136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6320CB0-FE32-80C2-8D36-FC0478A8672B}"/>
              </a:ext>
            </a:extLst>
          </p:cNvPr>
          <p:cNvSpPr/>
          <p:nvPr/>
        </p:nvSpPr>
        <p:spPr>
          <a:xfrm>
            <a:off x="2848304" y="5064535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9275F5-2BD6-1685-A23B-82E560C7C126}"/>
              </a:ext>
            </a:extLst>
          </p:cNvPr>
          <p:cNvSpPr/>
          <p:nvPr/>
        </p:nvSpPr>
        <p:spPr>
          <a:xfrm>
            <a:off x="2848304" y="2185988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B8615E-D801-7FC8-5539-912C1EF4D879}"/>
              </a:ext>
            </a:extLst>
          </p:cNvPr>
          <p:cNvCxnSpPr>
            <a:cxnSpLocks/>
            <a:stCxn id="6" idx="7"/>
            <a:endCxn id="29" idx="1"/>
          </p:cNvCxnSpPr>
          <p:nvPr/>
        </p:nvCxnSpPr>
        <p:spPr>
          <a:xfrm flipV="1">
            <a:off x="2031381" y="2707482"/>
            <a:ext cx="816923" cy="9852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CBFBFB-2617-25AF-0B51-8CFF8798A59E}"/>
              </a:ext>
            </a:extLst>
          </p:cNvPr>
          <p:cNvCxnSpPr>
            <a:cxnSpLocks/>
            <a:stCxn id="6" idx="5"/>
            <a:endCxn id="2" idx="1"/>
          </p:cNvCxnSpPr>
          <p:nvPr/>
        </p:nvCxnSpPr>
        <p:spPr>
          <a:xfrm>
            <a:off x="2031381" y="4630016"/>
            <a:ext cx="816923" cy="9560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itle 64">
            <a:extLst>
              <a:ext uri="{FF2B5EF4-FFF2-40B4-BE49-F238E27FC236}">
                <a16:creationId xmlns:a16="http://schemas.microsoft.com/office/drawing/2014/main" id="{A8F1E3A5-3AC6-BD2D-13DF-08C229BE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partitioning</a:t>
            </a:r>
            <a:endParaRPr lang="en-RU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31B64C2-0AA9-9BB2-9796-A91BF33BFFD5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40B1515-553B-587C-4CB4-4C9C1ACCC5C1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196EAF5-C30C-6D99-EDB8-ACE1064B4D45}"/>
              </a:ext>
            </a:extLst>
          </p:cNvPr>
          <p:cNvCxnSpPr>
            <a:cxnSpLocks/>
            <a:stCxn id="29" idx="3"/>
            <a:endCxn id="66" idx="1"/>
          </p:cNvCxnSpPr>
          <p:nvPr/>
        </p:nvCxnSpPr>
        <p:spPr>
          <a:xfrm>
            <a:off x="9343696" y="2707482"/>
            <a:ext cx="816923" cy="9852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8734B9-FE08-7956-E728-F25DA9070293}"/>
              </a:ext>
            </a:extLst>
          </p:cNvPr>
          <p:cNvCxnSpPr>
            <a:cxnSpLocks/>
            <a:stCxn id="2" idx="3"/>
            <a:endCxn id="66" idx="3"/>
          </p:cNvCxnSpPr>
          <p:nvPr/>
        </p:nvCxnSpPr>
        <p:spPr>
          <a:xfrm flipV="1">
            <a:off x="9343696" y="4630016"/>
            <a:ext cx="816923" cy="9560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F87505-006B-D0AC-F460-FF2AA3953D4B}"/>
              </a:ext>
            </a:extLst>
          </p:cNvPr>
          <p:cNvSpPr/>
          <p:nvPr/>
        </p:nvSpPr>
        <p:spPr>
          <a:xfrm>
            <a:off x="3130591" y="2344081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80DD38-B286-8491-2549-6FC80DA822AF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673D2D2-1E8D-900F-5E4F-D70C457D91D7}"/>
              </a:ext>
            </a:extLst>
          </p:cNvPr>
          <p:cNvSpPr/>
          <p:nvPr/>
        </p:nvSpPr>
        <p:spPr>
          <a:xfrm>
            <a:off x="4140353" y="5222628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67984A-CB0D-5014-A9CD-07B415F351F5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BE1FA7-1419-A127-E06A-12E3284893E9}"/>
              </a:ext>
            </a:extLst>
          </p:cNvPr>
          <p:cNvSpPr/>
          <p:nvPr/>
        </p:nvSpPr>
        <p:spPr>
          <a:xfrm>
            <a:off x="5150115" y="2344081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E5C29B-7D70-133B-E8BE-04E3926FEA1A}"/>
              </a:ext>
            </a:extLst>
          </p:cNvPr>
          <p:cNvSpPr/>
          <p:nvPr/>
        </p:nvSpPr>
        <p:spPr>
          <a:xfrm>
            <a:off x="5654996" y="5222628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7FB448B-AFF5-457E-B873-E6839F8F86EE}"/>
              </a:ext>
            </a:extLst>
          </p:cNvPr>
          <p:cNvSpPr/>
          <p:nvPr/>
        </p:nvSpPr>
        <p:spPr>
          <a:xfrm>
            <a:off x="6159877" y="2344081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C5AA492-764E-4BA8-F7A1-F21CCD1CC9FD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387471-40E8-B305-2B8C-FB663486D370}"/>
              </a:ext>
            </a:extLst>
          </p:cNvPr>
          <p:cNvSpPr/>
          <p:nvPr/>
        </p:nvSpPr>
        <p:spPr>
          <a:xfrm>
            <a:off x="7169639" y="2344081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EDF589B-A89D-04B8-6F9F-C97BA24310DA}"/>
              </a:ext>
            </a:extLst>
          </p:cNvPr>
          <p:cNvSpPr/>
          <p:nvPr/>
        </p:nvSpPr>
        <p:spPr>
          <a:xfrm>
            <a:off x="7674520" y="5222628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D57609A-D9F1-67CB-09CC-6529705524C8}"/>
              </a:ext>
            </a:extLst>
          </p:cNvPr>
          <p:cNvSpPr/>
          <p:nvPr/>
        </p:nvSpPr>
        <p:spPr>
          <a:xfrm>
            <a:off x="8179401" y="5222628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666383E-DD81-B642-EEBB-EF9FAF1E3CD7}"/>
              </a:ext>
            </a:extLst>
          </p:cNvPr>
          <p:cNvSpPr/>
          <p:nvPr/>
        </p:nvSpPr>
        <p:spPr>
          <a:xfrm>
            <a:off x="8685499" y="2344081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82869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7DE3-FF09-99AE-7BBD-74A2724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F83B42-8ACD-F3F0-F59D-04B06C50D0BA}"/>
              </a:ext>
            </a:extLst>
          </p:cNvPr>
          <p:cNvSpPr/>
          <p:nvPr/>
        </p:nvSpPr>
        <p:spPr>
          <a:xfrm>
            <a:off x="2848304" y="3626260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1FA8A0-04D6-B5AB-0FCF-3B485745A9B9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924E18-794B-1DD5-B483-22D3F607CD87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 flipV="1">
            <a:off x="2271713" y="4147754"/>
            <a:ext cx="576591" cy="136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C59F662-00DA-4CD2-6CE6-BBFC2B8AA5E8}"/>
              </a:ext>
            </a:extLst>
          </p:cNvPr>
          <p:cNvSpPr/>
          <p:nvPr/>
        </p:nvSpPr>
        <p:spPr>
          <a:xfrm>
            <a:off x="301537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34E2E80-84EF-8A4D-FA4B-8E80F876CCCC}"/>
              </a:ext>
            </a:extLst>
          </p:cNvPr>
          <p:cNvSpPr/>
          <p:nvPr/>
        </p:nvSpPr>
        <p:spPr>
          <a:xfrm>
            <a:off x="352025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10754D9-0139-9424-F6A8-B1A8AA13DB45}"/>
              </a:ext>
            </a:extLst>
          </p:cNvPr>
          <p:cNvSpPr/>
          <p:nvPr/>
        </p:nvSpPr>
        <p:spPr>
          <a:xfrm>
            <a:off x="402513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536D8C-39B1-F44E-7967-F1B8638E04A2}"/>
              </a:ext>
            </a:extLst>
          </p:cNvPr>
          <p:cNvSpPr/>
          <p:nvPr/>
        </p:nvSpPr>
        <p:spPr>
          <a:xfrm>
            <a:off x="2848304" y="5064535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50C6AC-B7E9-9A19-46AE-3694210B0131}"/>
              </a:ext>
            </a:extLst>
          </p:cNvPr>
          <p:cNvSpPr/>
          <p:nvPr/>
        </p:nvSpPr>
        <p:spPr>
          <a:xfrm>
            <a:off x="3015376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981DAD-E32F-9D14-FFF3-29DD47CE7A5C}"/>
              </a:ext>
            </a:extLst>
          </p:cNvPr>
          <p:cNvSpPr/>
          <p:nvPr/>
        </p:nvSpPr>
        <p:spPr>
          <a:xfrm>
            <a:off x="3520257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15D6E3D-E5C2-BB48-8555-A0F51D3ED081}"/>
              </a:ext>
            </a:extLst>
          </p:cNvPr>
          <p:cNvSpPr/>
          <p:nvPr/>
        </p:nvSpPr>
        <p:spPr>
          <a:xfrm>
            <a:off x="4025138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07AF7FE-3CFA-FD06-9BB0-DE8BF1EAD810}"/>
              </a:ext>
            </a:extLst>
          </p:cNvPr>
          <p:cNvSpPr/>
          <p:nvPr/>
        </p:nvSpPr>
        <p:spPr>
          <a:xfrm>
            <a:off x="4530019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8618F9-5B09-2B21-3B70-D048AD83354B}"/>
              </a:ext>
            </a:extLst>
          </p:cNvPr>
          <p:cNvSpPr/>
          <p:nvPr/>
        </p:nvSpPr>
        <p:spPr>
          <a:xfrm>
            <a:off x="2848304" y="2185988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31456BA-B0F2-52B7-66A1-2600A2D5D362}"/>
              </a:ext>
            </a:extLst>
          </p:cNvPr>
          <p:cNvSpPr/>
          <p:nvPr/>
        </p:nvSpPr>
        <p:spPr>
          <a:xfrm>
            <a:off x="3015376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2082247-C624-D829-FBB2-03ECD0EDC5E2}"/>
              </a:ext>
            </a:extLst>
          </p:cNvPr>
          <p:cNvSpPr/>
          <p:nvPr/>
        </p:nvSpPr>
        <p:spPr>
          <a:xfrm>
            <a:off x="3520257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C192194-62EF-2051-93ED-5B48694C2CE6}"/>
              </a:ext>
            </a:extLst>
          </p:cNvPr>
          <p:cNvSpPr/>
          <p:nvPr/>
        </p:nvSpPr>
        <p:spPr>
          <a:xfrm>
            <a:off x="4025138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A61C4CE-C8DD-FA36-972B-018B5FD222EF}"/>
              </a:ext>
            </a:extLst>
          </p:cNvPr>
          <p:cNvSpPr/>
          <p:nvPr/>
        </p:nvSpPr>
        <p:spPr>
          <a:xfrm>
            <a:off x="4530019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F206CC-9FF9-58F3-7FBA-9C7B22F61555}"/>
              </a:ext>
            </a:extLst>
          </p:cNvPr>
          <p:cNvSpPr/>
          <p:nvPr/>
        </p:nvSpPr>
        <p:spPr>
          <a:xfrm>
            <a:off x="5034900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6A3AD5-4097-B822-6FF4-A9F790C5D3E3}"/>
              </a:ext>
            </a:extLst>
          </p:cNvPr>
          <p:cNvCxnSpPr>
            <a:cxnSpLocks/>
            <a:stCxn id="6" idx="7"/>
            <a:endCxn id="29" idx="1"/>
          </p:cNvCxnSpPr>
          <p:nvPr/>
        </p:nvCxnSpPr>
        <p:spPr>
          <a:xfrm flipV="1">
            <a:off x="2031381" y="2707482"/>
            <a:ext cx="816923" cy="9852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85F188-4D61-FD41-4EA6-4BCD2DF289AC}"/>
              </a:ext>
            </a:extLst>
          </p:cNvPr>
          <p:cNvCxnSpPr>
            <a:cxnSpLocks/>
            <a:stCxn id="6" idx="5"/>
            <a:endCxn id="2" idx="1"/>
          </p:cNvCxnSpPr>
          <p:nvPr/>
        </p:nvCxnSpPr>
        <p:spPr>
          <a:xfrm>
            <a:off x="2031381" y="4630016"/>
            <a:ext cx="816923" cy="9560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itle 64">
            <a:extLst>
              <a:ext uri="{FF2B5EF4-FFF2-40B4-BE49-F238E27FC236}">
                <a16:creationId xmlns:a16="http://schemas.microsoft.com/office/drawing/2014/main" id="{B9911E6A-DA49-ED65-1756-0016CE44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partitioning</a:t>
            </a:r>
            <a:endParaRPr lang="en-RU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78A4668-1C1D-83EB-29D0-E8CF1CF954A0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1E82659-B0EE-58B0-41B7-CD092BB5CD64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E42E695-0887-BC19-4781-63ECAB82083E}"/>
              </a:ext>
            </a:extLst>
          </p:cNvPr>
          <p:cNvCxnSpPr>
            <a:cxnSpLocks/>
            <a:stCxn id="29" idx="3"/>
            <a:endCxn id="66" idx="1"/>
          </p:cNvCxnSpPr>
          <p:nvPr/>
        </p:nvCxnSpPr>
        <p:spPr>
          <a:xfrm>
            <a:off x="9343696" y="2707482"/>
            <a:ext cx="816923" cy="9852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EEB631C-CBD3-CC70-DC54-B248AF0274FE}"/>
              </a:ext>
            </a:extLst>
          </p:cNvPr>
          <p:cNvCxnSpPr>
            <a:cxnSpLocks/>
            <a:stCxn id="2" idx="3"/>
            <a:endCxn id="66" idx="3"/>
          </p:cNvCxnSpPr>
          <p:nvPr/>
        </p:nvCxnSpPr>
        <p:spPr>
          <a:xfrm flipV="1">
            <a:off x="9343696" y="4630016"/>
            <a:ext cx="816923" cy="9560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561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8D186E-6316-4082-D1C3-AD99988851F2}"/>
              </a:ext>
            </a:extLst>
          </p:cNvPr>
          <p:cNvSpPr/>
          <p:nvPr/>
        </p:nvSpPr>
        <p:spPr>
          <a:xfrm>
            <a:off x="2848304" y="3626260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6B9AFA-186E-C477-FB74-4E38EF006E3B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EE591-BAA1-7450-DE38-7CFE3AB332CA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 flipV="1">
            <a:off x="2271713" y="4147754"/>
            <a:ext cx="576591" cy="136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B38CCC-2B34-5588-419A-1177E116E6B3}"/>
              </a:ext>
            </a:extLst>
          </p:cNvPr>
          <p:cNvSpPr/>
          <p:nvPr/>
        </p:nvSpPr>
        <p:spPr>
          <a:xfrm>
            <a:off x="301537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4F4DCC-706E-B752-5875-FC1A2E823BC9}"/>
              </a:ext>
            </a:extLst>
          </p:cNvPr>
          <p:cNvSpPr/>
          <p:nvPr/>
        </p:nvSpPr>
        <p:spPr>
          <a:xfrm>
            <a:off x="352025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1288A1-B9E0-B271-F79F-E397BBE98B97}"/>
              </a:ext>
            </a:extLst>
          </p:cNvPr>
          <p:cNvSpPr/>
          <p:nvPr/>
        </p:nvSpPr>
        <p:spPr>
          <a:xfrm>
            <a:off x="402513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320CB0-FE32-80C2-8D36-FC0478A8672B}"/>
              </a:ext>
            </a:extLst>
          </p:cNvPr>
          <p:cNvSpPr/>
          <p:nvPr/>
        </p:nvSpPr>
        <p:spPr>
          <a:xfrm>
            <a:off x="2848304" y="5064535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72F507-86C8-7808-22A9-26ADD17BFD2A}"/>
              </a:ext>
            </a:extLst>
          </p:cNvPr>
          <p:cNvSpPr/>
          <p:nvPr/>
        </p:nvSpPr>
        <p:spPr>
          <a:xfrm>
            <a:off x="3015376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41DA8D-91C2-DA68-24D6-C342A0CCE8C5}"/>
              </a:ext>
            </a:extLst>
          </p:cNvPr>
          <p:cNvSpPr/>
          <p:nvPr/>
        </p:nvSpPr>
        <p:spPr>
          <a:xfrm>
            <a:off x="3520257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285BDA-6C30-44DD-1B0D-38ECBE050A81}"/>
              </a:ext>
            </a:extLst>
          </p:cNvPr>
          <p:cNvSpPr/>
          <p:nvPr/>
        </p:nvSpPr>
        <p:spPr>
          <a:xfrm>
            <a:off x="4025138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DFD7586-9741-EA72-EEEC-9605EE1F874C}"/>
              </a:ext>
            </a:extLst>
          </p:cNvPr>
          <p:cNvSpPr/>
          <p:nvPr/>
        </p:nvSpPr>
        <p:spPr>
          <a:xfrm>
            <a:off x="4530019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9275F5-2BD6-1685-A23B-82E560C7C126}"/>
              </a:ext>
            </a:extLst>
          </p:cNvPr>
          <p:cNvSpPr/>
          <p:nvPr/>
        </p:nvSpPr>
        <p:spPr>
          <a:xfrm>
            <a:off x="2848304" y="2185988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F9E0124-93DD-6D6C-DC96-B5F26F00A385}"/>
              </a:ext>
            </a:extLst>
          </p:cNvPr>
          <p:cNvSpPr/>
          <p:nvPr/>
        </p:nvSpPr>
        <p:spPr>
          <a:xfrm>
            <a:off x="3015376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707253E-E443-4694-86B4-58CFC0922364}"/>
              </a:ext>
            </a:extLst>
          </p:cNvPr>
          <p:cNvSpPr/>
          <p:nvPr/>
        </p:nvSpPr>
        <p:spPr>
          <a:xfrm>
            <a:off x="3520257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EBEA9ED-3C19-839E-3DBA-3B2EA2E31DCB}"/>
              </a:ext>
            </a:extLst>
          </p:cNvPr>
          <p:cNvSpPr/>
          <p:nvPr/>
        </p:nvSpPr>
        <p:spPr>
          <a:xfrm>
            <a:off x="4025138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52900A-DB7B-9C75-9406-88CF767C42AA}"/>
              </a:ext>
            </a:extLst>
          </p:cNvPr>
          <p:cNvSpPr/>
          <p:nvPr/>
        </p:nvSpPr>
        <p:spPr>
          <a:xfrm>
            <a:off x="4530019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FB0644B-4093-B0AA-D18C-79A0A935A885}"/>
              </a:ext>
            </a:extLst>
          </p:cNvPr>
          <p:cNvSpPr/>
          <p:nvPr/>
        </p:nvSpPr>
        <p:spPr>
          <a:xfrm>
            <a:off x="5034900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B8615E-D801-7FC8-5539-912C1EF4D879}"/>
              </a:ext>
            </a:extLst>
          </p:cNvPr>
          <p:cNvCxnSpPr>
            <a:cxnSpLocks/>
            <a:stCxn id="6" idx="7"/>
            <a:endCxn id="29" idx="1"/>
          </p:cNvCxnSpPr>
          <p:nvPr/>
        </p:nvCxnSpPr>
        <p:spPr>
          <a:xfrm flipV="1">
            <a:off x="2031381" y="2707482"/>
            <a:ext cx="816923" cy="9852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CBFBFB-2617-25AF-0B51-8CFF8798A59E}"/>
              </a:ext>
            </a:extLst>
          </p:cNvPr>
          <p:cNvCxnSpPr>
            <a:cxnSpLocks/>
            <a:stCxn id="6" idx="5"/>
            <a:endCxn id="2" idx="1"/>
          </p:cNvCxnSpPr>
          <p:nvPr/>
        </p:nvCxnSpPr>
        <p:spPr>
          <a:xfrm>
            <a:off x="2031381" y="4630016"/>
            <a:ext cx="816923" cy="9560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itle 64">
            <a:extLst>
              <a:ext uri="{FF2B5EF4-FFF2-40B4-BE49-F238E27FC236}">
                <a16:creationId xmlns:a16="http://schemas.microsoft.com/office/drawing/2014/main" id="{A8F1E3A5-3AC6-BD2D-13DF-08C229BE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partitioning</a:t>
            </a:r>
            <a:endParaRPr lang="en-RU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31B64C2-0AA9-9BB2-9796-A91BF33BFFD5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40B1515-553B-587C-4CB4-4C9C1ACCC5C1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196EAF5-C30C-6D99-EDB8-ACE1064B4D45}"/>
              </a:ext>
            </a:extLst>
          </p:cNvPr>
          <p:cNvCxnSpPr>
            <a:cxnSpLocks/>
            <a:stCxn id="29" idx="3"/>
            <a:endCxn id="12" idx="2"/>
          </p:cNvCxnSpPr>
          <p:nvPr/>
        </p:nvCxnSpPr>
        <p:spPr>
          <a:xfrm flipV="1">
            <a:off x="9343696" y="2707481"/>
            <a:ext cx="576591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8734B9-FE08-7956-E728-F25DA9070293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>
            <a:off x="9343696" y="5586029"/>
            <a:ext cx="576591" cy="1360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360CAB4-B1BA-E253-5F0A-3CEA2260F741}"/>
              </a:ext>
            </a:extLst>
          </p:cNvPr>
          <p:cNvSpPr/>
          <p:nvPr/>
        </p:nvSpPr>
        <p:spPr>
          <a:xfrm>
            <a:off x="9920287" y="4936851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75A6A-FE48-47F3-D55F-8348787C07D2}"/>
              </a:ext>
            </a:extLst>
          </p:cNvPr>
          <p:cNvSpPr/>
          <p:nvPr/>
        </p:nvSpPr>
        <p:spPr>
          <a:xfrm>
            <a:off x="9920287" y="2044699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845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0CB6CC-0C9C-595A-CF28-CC95B3EA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 </a:t>
            </a:r>
            <a:r>
              <a:rPr lang="en-GB" dirty="0"/>
              <a:t>Partitioning Strategy</a:t>
            </a:r>
            <a:endParaRPr lang="en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DE072-81BA-4D0A-C999-FF746DFDF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DefaultPartitioner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US" b="1" dirty="0" err="1"/>
              <a:t>UniformStickyPartitioner</a:t>
            </a:r>
            <a:r>
              <a:rPr lang="ru-RU" b="1" dirty="0"/>
              <a:t>)</a:t>
            </a:r>
            <a:br>
              <a:rPr lang="ru-RU" b="1" dirty="0"/>
            </a:br>
            <a:r>
              <a:rPr lang="en-US" dirty="0"/>
              <a:t>Producers can specify partition</a:t>
            </a:r>
            <a:br>
              <a:rPr lang="ru-RU" b="1" dirty="0"/>
            </a:br>
            <a:r>
              <a:rPr lang="en-GB" dirty="0"/>
              <a:t>Producers can specify a key for each record.</a:t>
            </a:r>
            <a:br>
              <a:rPr lang="en-GB" dirty="0"/>
            </a:br>
            <a:r>
              <a:rPr lang="en-GB" dirty="0"/>
              <a:t>Kafka uses this key to determine the partition.</a:t>
            </a:r>
            <a:br>
              <a:rPr lang="en-GB" dirty="0"/>
            </a:br>
            <a:r>
              <a:rPr lang="en-GB" dirty="0"/>
              <a:t>Records with the same key are sent to the same partition.</a:t>
            </a:r>
            <a:br>
              <a:rPr lang="en-GB" dirty="0"/>
            </a:br>
            <a:r>
              <a:rPr lang="en-GB" dirty="0"/>
              <a:t>Stickiness: producer sticks to partition.</a:t>
            </a:r>
          </a:p>
          <a:p>
            <a:r>
              <a:rPr lang="en-GB" b="1" dirty="0"/>
              <a:t>Round-Robin:</a:t>
            </a:r>
            <a:br>
              <a:rPr lang="en-GB" b="1" dirty="0"/>
            </a:br>
            <a:r>
              <a:rPr lang="en-GB" dirty="0"/>
              <a:t>If no key is provided, records distributed in a round-robin manner.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Custom Partitioners:</a:t>
            </a:r>
            <a:br>
              <a:rPr lang="en-GB" b="1" dirty="0"/>
            </a:br>
            <a:r>
              <a:rPr lang="en-GB" dirty="0"/>
              <a:t>Kafka allows for custom partitioning logic to be implemented.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874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0CB6CC-0C9C-595A-CF28-CC95B3EA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Partition Configuration</a:t>
            </a:r>
            <a:endParaRPr lang="en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DE072-81BA-4D0A-C999-FF746DFDF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Number of Partitions:</a:t>
            </a:r>
            <a:br>
              <a:rPr lang="en-GB" b="1" dirty="0"/>
            </a:br>
            <a:r>
              <a:rPr lang="en-GB" dirty="0"/>
              <a:t>The number of partitions for a topic is specified on creation.</a:t>
            </a:r>
            <a:br>
              <a:rPr lang="en-GB" dirty="0"/>
            </a:br>
            <a:r>
              <a:rPr lang="en-GB" dirty="0"/>
              <a:t>This number can be increased later but not decreased.</a:t>
            </a:r>
            <a:br>
              <a:rPr lang="en-GB" dirty="0"/>
            </a:br>
            <a:r>
              <a:rPr lang="en-GB" dirty="0"/>
              <a:t>The number of partitions affects Kafka's performance.</a:t>
            </a:r>
            <a:br>
              <a:rPr lang="en-GB" dirty="0"/>
            </a:br>
            <a:r>
              <a:rPr lang="en-GB" dirty="0"/>
              <a:t>More partitions can improve throughput but increase the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Replication Factor:</a:t>
            </a:r>
            <a:br>
              <a:rPr lang="en-GB" b="1" dirty="0"/>
            </a:br>
            <a:r>
              <a:rPr lang="en-GB" dirty="0"/>
              <a:t>Each partition can be replicated across multiple brokers.</a:t>
            </a:r>
            <a:br>
              <a:rPr lang="en-GB" dirty="0"/>
            </a:br>
            <a:r>
              <a:rPr lang="en-GB" dirty="0"/>
              <a:t>The replication factor is defined at the topic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Retention Policies:</a:t>
            </a:r>
            <a:br>
              <a:rPr lang="en-GB" dirty="0"/>
            </a:br>
            <a:r>
              <a:rPr lang="en-GB" dirty="0"/>
              <a:t>Kafka allows to delete old records by time or by size</a:t>
            </a:r>
          </a:p>
        </p:txBody>
      </p:sp>
    </p:spTree>
    <p:extLst>
      <p:ext uri="{BB962C8B-B14F-4D97-AF65-F5344CB8AC3E}">
        <p14:creationId xmlns:p14="http://schemas.microsoft.com/office/powerpoint/2010/main" val="454559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8D186E-6316-4082-D1C3-AD99988851F2}"/>
              </a:ext>
            </a:extLst>
          </p:cNvPr>
          <p:cNvSpPr/>
          <p:nvPr/>
        </p:nvSpPr>
        <p:spPr>
          <a:xfrm>
            <a:off x="2848304" y="3626260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6B9AFA-186E-C477-FB74-4E38EF006E3B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EEE591-BAA1-7450-DE38-7CFE3AB332CA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 flipV="1">
            <a:off x="2271713" y="4147754"/>
            <a:ext cx="576591" cy="136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B38CCC-2B34-5588-419A-1177E116E6B3}"/>
              </a:ext>
            </a:extLst>
          </p:cNvPr>
          <p:cNvSpPr/>
          <p:nvPr/>
        </p:nvSpPr>
        <p:spPr>
          <a:xfrm>
            <a:off x="301537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4F4DCC-706E-B752-5875-FC1A2E823BC9}"/>
              </a:ext>
            </a:extLst>
          </p:cNvPr>
          <p:cNvSpPr/>
          <p:nvPr/>
        </p:nvSpPr>
        <p:spPr>
          <a:xfrm>
            <a:off x="352025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1288A1-B9E0-B271-F79F-E397BBE98B97}"/>
              </a:ext>
            </a:extLst>
          </p:cNvPr>
          <p:cNvSpPr/>
          <p:nvPr/>
        </p:nvSpPr>
        <p:spPr>
          <a:xfrm>
            <a:off x="402513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320CB0-FE32-80C2-8D36-FC0478A8672B}"/>
              </a:ext>
            </a:extLst>
          </p:cNvPr>
          <p:cNvSpPr/>
          <p:nvPr/>
        </p:nvSpPr>
        <p:spPr>
          <a:xfrm>
            <a:off x="2848304" y="5064535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72F507-86C8-7808-22A9-26ADD17BFD2A}"/>
              </a:ext>
            </a:extLst>
          </p:cNvPr>
          <p:cNvSpPr/>
          <p:nvPr/>
        </p:nvSpPr>
        <p:spPr>
          <a:xfrm>
            <a:off x="3015376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41DA8D-91C2-DA68-24D6-C342A0CCE8C5}"/>
              </a:ext>
            </a:extLst>
          </p:cNvPr>
          <p:cNvSpPr/>
          <p:nvPr/>
        </p:nvSpPr>
        <p:spPr>
          <a:xfrm>
            <a:off x="3520257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285BDA-6C30-44DD-1B0D-38ECBE050A81}"/>
              </a:ext>
            </a:extLst>
          </p:cNvPr>
          <p:cNvSpPr/>
          <p:nvPr/>
        </p:nvSpPr>
        <p:spPr>
          <a:xfrm>
            <a:off x="4025138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DFD7586-9741-EA72-EEEC-9605EE1F874C}"/>
              </a:ext>
            </a:extLst>
          </p:cNvPr>
          <p:cNvSpPr/>
          <p:nvPr/>
        </p:nvSpPr>
        <p:spPr>
          <a:xfrm>
            <a:off x="4530019" y="5236232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9275F5-2BD6-1685-A23B-82E560C7C126}"/>
              </a:ext>
            </a:extLst>
          </p:cNvPr>
          <p:cNvSpPr/>
          <p:nvPr/>
        </p:nvSpPr>
        <p:spPr>
          <a:xfrm>
            <a:off x="2848304" y="2185988"/>
            <a:ext cx="6495392" cy="10429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F9E0124-93DD-6D6C-DC96-B5F26F00A385}"/>
              </a:ext>
            </a:extLst>
          </p:cNvPr>
          <p:cNvSpPr/>
          <p:nvPr/>
        </p:nvSpPr>
        <p:spPr>
          <a:xfrm>
            <a:off x="3015376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707253E-E443-4694-86B4-58CFC0922364}"/>
              </a:ext>
            </a:extLst>
          </p:cNvPr>
          <p:cNvSpPr/>
          <p:nvPr/>
        </p:nvSpPr>
        <p:spPr>
          <a:xfrm>
            <a:off x="3520257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EBEA9ED-3C19-839E-3DBA-3B2EA2E31DCB}"/>
              </a:ext>
            </a:extLst>
          </p:cNvPr>
          <p:cNvSpPr/>
          <p:nvPr/>
        </p:nvSpPr>
        <p:spPr>
          <a:xfrm>
            <a:off x="4025138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52900A-DB7B-9C75-9406-88CF767C42AA}"/>
              </a:ext>
            </a:extLst>
          </p:cNvPr>
          <p:cNvSpPr/>
          <p:nvPr/>
        </p:nvSpPr>
        <p:spPr>
          <a:xfrm>
            <a:off x="4530019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FB0644B-4093-B0AA-D18C-79A0A935A885}"/>
              </a:ext>
            </a:extLst>
          </p:cNvPr>
          <p:cNvSpPr/>
          <p:nvPr/>
        </p:nvSpPr>
        <p:spPr>
          <a:xfrm>
            <a:off x="5034900" y="2357685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B8615E-D801-7FC8-5539-912C1EF4D879}"/>
              </a:ext>
            </a:extLst>
          </p:cNvPr>
          <p:cNvCxnSpPr>
            <a:cxnSpLocks/>
            <a:stCxn id="6" idx="7"/>
            <a:endCxn id="29" idx="1"/>
          </p:cNvCxnSpPr>
          <p:nvPr/>
        </p:nvCxnSpPr>
        <p:spPr>
          <a:xfrm flipV="1">
            <a:off x="2031381" y="2707482"/>
            <a:ext cx="816923" cy="98521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CBFBFB-2617-25AF-0B51-8CFF8798A59E}"/>
              </a:ext>
            </a:extLst>
          </p:cNvPr>
          <p:cNvCxnSpPr>
            <a:cxnSpLocks/>
            <a:stCxn id="6" idx="5"/>
            <a:endCxn id="2" idx="1"/>
          </p:cNvCxnSpPr>
          <p:nvPr/>
        </p:nvCxnSpPr>
        <p:spPr>
          <a:xfrm>
            <a:off x="2031381" y="4630016"/>
            <a:ext cx="816923" cy="9560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itle 64">
            <a:extLst>
              <a:ext uri="{FF2B5EF4-FFF2-40B4-BE49-F238E27FC236}">
                <a16:creationId xmlns:a16="http://schemas.microsoft.com/office/drawing/2014/main" id="{A8F1E3A5-3AC6-BD2D-13DF-08C229BE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partitioning</a:t>
            </a:r>
            <a:endParaRPr lang="en-RU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31B64C2-0AA9-9BB2-9796-A91BF33BFFD5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40B1515-553B-587C-4CB4-4C9C1ACCC5C1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9343696" y="4161359"/>
            <a:ext cx="576591" cy="19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196EAF5-C30C-6D99-EDB8-ACE1064B4D45}"/>
              </a:ext>
            </a:extLst>
          </p:cNvPr>
          <p:cNvCxnSpPr>
            <a:cxnSpLocks/>
            <a:stCxn id="29" idx="3"/>
            <a:endCxn id="12" idx="2"/>
          </p:cNvCxnSpPr>
          <p:nvPr/>
        </p:nvCxnSpPr>
        <p:spPr>
          <a:xfrm flipV="1">
            <a:off x="9343696" y="2707481"/>
            <a:ext cx="576591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8734B9-FE08-7956-E728-F25DA9070293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>
            <a:off x="9343696" y="5586029"/>
            <a:ext cx="576591" cy="1360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360CAB4-B1BA-E253-5F0A-3CEA2260F741}"/>
              </a:ext>
            </a:extLst>
          </p:cNvPr>
          <p:cNvSpPr/>
          <p:nvPr/>
        </p:nvSpPr>
        <p:spPr>
          <a:xfrm>
            <a:off x="9920287" y="4936851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75A6A-FE48-47F3-D55F-8348787C07D2}"/>
              </a:ext>
            </a:extLst>
          </p:cNvPr>
          <p:cNvSpPr/>
          <p:nvPr/>
        </p:nvSpPr>
        <p:spPr>
          <a:xfrm>
            <a:off x="9920287" y="2044699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532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E83DC84-2AAC-3205-3216-392F093EE8A7}"/>
              </a:ext>
            </a:extLst>
          </p:cNvPr>
          <p:cNvSpPr/>
          <p:nvPr/>
        </p:nvSpPr>
        <p:spPr>
          <a:xfrm>
            <a:off x="3817142" y="5253970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B06F24E-604D-75B5-4947-3F00CCA4B5DB}"/>
              </a:ext>
            </a:extLst>
          </p:cNvPr>
          <p:cNvSpPr/>
          <p:nvPr/>
        </p:nvSpPr>
        <p:spPr>
          <a:xfrm>
            <a:off x="3817143" y="3472329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758134C-1F7C-77CE-3235-A5B48AA11DC5}"/>
              </a:ext>
            </a:extLst>
          </p:cNvPr>
          <p:cNvSpPr/>
          <p:nvPr/>
        </p:nvSpPr>
        <p:spPr>
          <a:xfrm>
            <a:off x="3817144" y="1690688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921682-745F-8643-5528-D73F95B2F9B4}"/>
              </a:ext>
            </a:extLst>
          </p:cNvPr>
          <p:cNvGrpSpPr/>
          <p:nvPr/>
        </p:nvGrpSpPr>
        <p:grpSpPr>
          <a:xfrm>
            <a:off x="4314360" y="1860419"/>
            <a:ext cx="2952421" cy="474080"/>
            <a:chOff x="2848304" y="2185988"/>
            <a:chExt cx="6495392" cy="104298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B9275F5-2BD6-1685-A23B-82E560C7C126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F9E0124-93DD-6D6C-DC96-B5F26F00A385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707253E-E443-4694-86B4-58CFC0922364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4EBEA9ED-3C19-839E-3DBA-3B2EA2E31DCB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D52900A-DB7B-9C75-9406-88CF767C42AA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FFB0644B-4093-B0AA-D18C-79A0A935A885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99F31A2-CB5A-A8C2-543D-6360E76D624F}"/>
              </a:ext>
            </a:extLst>
          </p:cNvPr>
          <p:cNvGrpSpPr/>
          <p:nvPr/>
        </p:nvGrpSpPr>
        <p:grpSpPr>
          <a:xfrm>
            <a:off x="4925220" y="5985414"/>
            <a:ext cx="2952421" cy="474080"/>
            <a:chOff x="2848304" y="5064535"/>
            <a:chExt cx="6495392" cy="104298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3BF5FC5-1077-E182-0D2F-462E19EF597A}"/>
                </a:ext>
              </a:extLst>
            </p:cNvPr>
            <p:cNvSpPr/>
            <p:nvPr/>
          </p:nvSpPr>
          <p:spPr>
            <a:xfrm>
              <a:off x="2848304" y="5064535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54621335-BD6A-8224-45C4-190619523D7C}"/>
                </a:ext>
              </a:extLst>
            </p:cNvPr>
            <p:cNvSpPr/>
            <p:nvPr/>
          </p:nvSpPr>
          <p:spPr>
            <a:xfrm>
              <a:off x="3015376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3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470E96A5-AA45-D0AF-4D40-02E6EE72AF4A}"/>
                </a:ext>
              </a:extLst>
            </p:cNvPr>
            <p:cNvSpPr/>
            <p:nvPr/>
          </p:nvSpPr>
          <p:spPr>
            <a:xfrm>
              <a:off x="3520257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6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3627DE1-A2DF-22BE-0571-839D2308645A}"/>
                </a:ext>
              </a:extLst>
            </p:cNvPr>
            <p:cNvSpPr/>
            <p:nvPr/>
          </p:nvSpPr>
          <p:spPr>
            <a:xfrm>
              <a:off x="4025138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A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67CC47DA-1675-03AF-D2FC-E69504BACF6A}"/>
                </a:ext>
              </a:extLst>
            </p:cNvPr>
            <p:cNvSpPr/>
            <p:nvPr/>
          </p:nvSpPr>
          <p:spPr>
            <a:xfrm>
              <a:off x="4530019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B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2F0587-038C-B482-888B-0A5B3A42DDE0}"/>
              </a:ext>
            </a:extLst>
          </p:cNvPr>
          <p:cNvGrpSpPr/>
          <p:nvPr/>
        </p:nvGrpSpPr>
        <p:grpSpPr>
          <a:xfrm>
            <a:off x="4619790" y="3916733"/>
            <a:ext cx="2952421" cy="474080"/>
            <a:chOff x="2848304" y="3626260"/>
            <a:chExt cx="6495392" cy="104298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2227552-1EF0-21C2-EC50-6F030D84FCF0}"/>
                </a:ext>
              </a:extLst>
            </p:cNvPr>
            <p:cNvSpPr/>
            <p:nvPr/>
          </p:nvSpPr>
          <p:spPr>
            <a:xfrm>
              <a:off x="2848304" y="3626260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09D21B5-017A-931A-1EA4-240F9780142F}"/>
                </a:ext>
              </a:extLst>
            </p:cNvPr>
            <p:cNvSpPr/>
            <p:nvPr/>
          </p:nvSpPr>
          <p:spPr>
            <a:xfrm>
              <a:off x="3015376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2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65901FB-B377-83C1-B118-4FD02C8B37EC}"/>
                </a:ext>
              </a:extLst>
            </p:cNvPr>
            <p:cNvSpPr/>
            <p:nvPr/>
          </p:nvSpPr>
          <p:spPr>
            <a:xfrm>
              <a:off x="3520257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4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8F634314-6E30-2A93-70F2-28C8A64C9AD8}"/>
                </a:ext>
              </a:extLst>
            </p:cNvPr>
            <p:cNvSpPr/>
            <p:nvPr/>
          </p:nvSpPr>
          <p:spPr>
            <a:xfrm>
              <a:off x="4025138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8</a:t>
              </a:r>
            </a:p>
          </p:txBody>
        </p:sp>
      </p:grpSp>
      <p:sp>
        <p:nvSpPr>
          <p:cNvPr id="91" name="Title 90">
            <a:extLst>
              <a:ext uri="{FF2B5EF4-FFF2-40B4-BE49-F238E27FC236}">
                <a16:creationId xmlns:a16="http://schemas.microsoft.com/office/drawing/2014/main" id="{80A89EDE-AAC7-4F2B-4269-5A50E90B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 partitioning and replication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B0104F0-3FF9-4A08-B024-C978A4E596C2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E1D2D06-6649-7E14-18EB-E801CAC797BB}"/>
              </a:ext>
            </a:extLst>
          </p:cNvPr>
          <p:cNvCxnSpPr>
            <a:cxnSpLocks/>
            <a:stCxn id="93" idx="6"/>
            <a:endCxn id="88" idx="1"/>
          </p:cNvCxnSpPr>
          <p:nvPr/>
        </p:nvCxnSpPr>
        <p:spPr>
          <a:xfrm>
            <a:off x="2271713" y="4161359"/>
            <a:ext cx="1545430" cy="328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381200A-F388-1D28-F696-7C187AFCC549}"/>
              </a:ext>
            </a:extLst>
          </p:cNvPr>
          <p:cNvCxnSpPr>
            <a:cxnSpLocks/>
            <a:stCxn id="93" idx="7"/>
            <a:endCxn id="87" idx="1"/>
          </p:cNvCxnSpPr>
          <p:nvPr/>
        </p:nvCxnSpPr>
        <p:spPr>
          <a:xfrm flipV="1">
            <a:off x="2031381" y="2412542"/>
            <a:ext cx="1785763" cy="128015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DC6E22E-484F-13CB-A078-1C1770F96E23}"/>
              </a:ext>
            </a:extLst>
          </p:cNvPr>
          <p:cNvCxnSpPr>
            <a:cxnSpLocks/>
            <a:stCxn id="93" idx="5"/>
            <a:endCxn id="89" idx="1"/>
          </p:cNvCxnSpPr>
          <p:nvPr/>
        </p:nvCxnSpPr>
        <p:spPr>
          <a:xfrm>
            <a:off x="2031381" y="4630016"/>
            <a:ext cx="1785761" cy="134580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C4080802-B9A5-59B2-B098-0EB9C7A7C531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CC9C3F3-A9C7-62E2-9972-ACD2E1990D0D}"/>
              </a:ext>
            </a:extLst>
          </p:cNvPr>
          <p:cNvCxnSpPr>
            <a:cxnSpLocks/>
            <a:stCxn id="88" idx="3"/>
            <a:endCxn id="100" idx="2"/>
          </p:cNvCxnSpPr>
          <p:nvPr/>
        </p:nvCxnSpPr>
        <p:spPr>
          <a:xfrm flipV="1">
            <a:off x="8374857" y="4161359"/>
            <a:ext cx="1545430" cy="328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399911-B769-73D3-5A41-26959977AE7A}"/>
              </a:ext>
            </a:extLst>
          </p:cNvPr>
          <p:cNvCxnSpPr>
            <a:cxnSpLocks/>
            <a:stCxn id="87" idx="3"/>
            <a:endCxn id="105" idx="2"/>
          </p:cNvCxnSpPr>
          <p:nvPr/>
        </p:nvCxnSpPr>
        <p:spPr>
          <a:xfrm>
            <a:off x="8374858" y="2412542"/>
            <a:ext cx="1545429" cy="2949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27344FE-C30D-1A2A-9F6B-837B226516CA}"/>
              </a:ext>
            </a:extLst>
          </p:cNvPr>
          <p:cNvCxnSpPr>
            <a:cxnSpLocks/>
            <a:stCxn id="89" idx="3"/>
            <a:endCxn id="104" idx="2"/>
          </p:cNvCxnSpPr>
          <p:nvPr/>
        </p:nvCxnSpPr>
        <p:spPr>
          <a:xfrm flipV="1">
            <a:off x="8374856" y="5599633"/>
            <a:ext cx="1545431" cy="3761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E8F5CCB0-8091-D77A-B975-320A441C8580}"/>
              </a:ext>
            </a:extLst>
          </p:cNvPr>
          <p:cNvSpPr/>
          <p:nvPr/>
        </p:nvSpPr>
        <p:spPr>
          <a:xfrm>
            <a:off x="9920287" y="4936851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9589AF9-B05F-4D88-C08D-A40155CC5DCD}"/>
              </a:ext>
            </a:extLst>
          </p:cNvPr>
          <p:cNvSpPr/>
          <p:nvPr/>
        </p:nvSpPr>
        <p:spPr>
          <a:xfrm>
            <a:off x="9920287" y="2044699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30467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E83DC84-2AAC-3205-3216-392F093EE8A7}"/>
              </a:ext>
            </a:extLst>
          </p:cNvPr>
          <p:cNvSpPr/>
          <p:nvPr/>
        </p:nvSpPr>
        <p:spPr>
          <a:xfrm>
            <a:off x="3817142" y="5253970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B06F24E-604D-75B5-4947-3F00CCA4B5DB}"/>
              </a:ext>
            </a:extLst>
          </p:cNvPr>
          <p:cNvSpPr/>
          <p:nvPr/>
        </p:nvSpPr>
        <p:spPr>
          <a:xfrm>
            <a:off x="3817143" y="3472329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758134C-1F7C-77CE-3235-A5B48AA11DC5}"/>
              </a:ext>
            </a:extLst>
          </p:cNvPr>
          <p:cNvSpPr/>
          <p:nvPr/>
        </p:nvSpPr>
        <p:spPr>
          <a:xfrm>
            <a:off x="3817144" y="1690688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921682-745F-8643-5528-D73F95B2F9B4}"/>
              </a:ext>
            </a:extLst>
          </p:cNvPr>
          <p:cNvGrpSpPr/>
          <p:nvPr/>
        </p:nvGrpSpPr>
        <p:grpSpPr>
          <a:xfrm>
            <a:off x="4314360" y="1860419"/>
            <a:ext cx="2952421" cy="474080"/>
            <a:chOff x="2848304" y="2185988"/>
            <a:chExt cx="6495392" cy="104298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B9275F5-2BD6-1685-A23B-82E560C7C126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F9E0124-93DD-6D6C-DC96-B5F26F00A385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707253E-E443-4694-86B4-58CFC0922364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4EBEA9ED-3C19-839E-3DBA-3B2EA2E31DCB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D52900A-DB7B-9C75-9406-88CF767C42AA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FFB0644B-4093-B0AA-D18C-79A0A935A885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AD1745-7AD3-F9BB-9AE9-3E8E32DBB9FC}"/>
              </a:ext>
            </a:extLst>
          </p:cNvPr>
          <p:cNvGrpSpPr/>
          <p:nvPr/>
        </p:nvGrpSpPr>
        <p:grpSpPr>
          <a:xfrm>
            <a:off x="4314360" y="5433291"/>
            <a:ext cx="2952421" cy="474080"/>
            <a:chOff x="2848304" y="2185988"/>
            <a:chExt cx="6495392" cy="1042987"/>
          </a:xfrm>
          <a:solidFill>
            <a:schemeClr val="bg2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15BB904-E251-2234-77A0-6F57C4D3D59F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16199D1-003D-9143-903D-2E1B9C5ED6D7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0078C82F-08AD-5B31-F173-38C53E1BF338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28ACA33C-D5EB-62E1-96EE-15F7D09EF8B6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96ED71E1-03DE-8855-4ADF-7393C756CF69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3B5FAF3E-81BD-ED10-8EEC-8E4AEFDD7AA4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99F31A2-CB5A-A8C2-543D-6360E76D624F}"/>
              </a:ext>
            </a:extLst>
          </p:cNvPr>
          <p:cNvGrpSpPr/>
          <p:nvPr/>
        </p:nvGrpSpPr>
        <p:grpSpPr>
          <a:xfrm>
            <a:off x="4925220" y="5985414"/>
            <a:ext cx="2952421" cy="474080"/>
            <a:chOff x="2848304" y="5064535"/>
            <a:chExt cx="6495392" cy="104298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3BF5FC5-1077-E182-0D2F-462E19EF597A}"/>
                </a:ext>
              </a:extLst>
            </p:cNvPr>
            <p:cNvSpPr/>
            <p:nvPr/>
          </p:nvSpPr>
          <p:spPr>
            <a:xfrm>
              <a:off x="2848304" y="5064535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54621335-BD6A-8224-45C4-190619523D7C}"/>
                </a:ext>
              </a:extLst>
            </p:cNvPr>
            <p:cNvSpPr/>
            <p:nvPr/>
          </p:nvSpPr>
          <p:spPr>
            <a:xfrm>
              <a:off x="3015376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3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470E96A5-AA45-D0AF-4D40-02E6EE72AF4A}"/>
                </a:ext>
              </a:extLst>
            </p:cNvPr>
            <p:cNvSpPr/>
            <p:nvPr/>
          </p:nvSpPr>
          <p:spPr>
            <a:xfrm>
              <a:off x="3520257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6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3627DE1-A2DF-22BE-0571-839D2308645A}"/>
                </a:ext>
              </a:extLst>
            </p:cNvPr>
            <p:cNvSpPr/>
            <p:nvPr/>
          </p:nvSpPr>
          <p:spPr>
            <a:xfrm>
              <a:off x="4025138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A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67CC47DA-1675-03AF-D2FC-E69504BACF6A}"/>
                </a:ext>
              </a:extLst>
            </p:cNvPr>
            <p:cNvSpPr/>
            <p:nvPr/>
          </p:nvSpPr>
          <p:spPr>
            <a:xfrm>
              <a:off x="4530019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B</a:t>
              </a:r>
            </a:p>
          </p:txBody>
        </p: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4460478-6A48-F61B-D174-D8305F2FD855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4467075" y="2268823"/>
            <a:ext cx="0" cy="32425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29ABDA-E4C6-359D-E078-946F1A63E0C2}"/>
              </a:ext>
            </a:extLst>
          </p:cNvPr>
          <p:cNvGrpSpPr/>
          <p:nvPr/>
        </p:nvGrpSpPr>
        <p:grpSpPr>
          <a:xfrm>
            <a:off x="4314360" y="3646855"/>
            <a:ext cx="2952421" cy="474080"/>
            <a:chOff x="2848304" y="2185988"/>
            <a:chExt cx="6495392" cy="1042987"/>
          </a:xfrm>
          <a:solidFill>
            <a:schemeClr val="bg2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E1CF46-0ABD-ED33-AF16-72BD5F5ED28A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D2700FB-4A84-C4F2-B4DC-08D6CD959725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BF2860A6-079E-EE82-ACD5-F42D153E85AC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D98E7852-194D-4080-889E-F130106E78D5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04DC29D-5F49-9936-3340-03BFC57674BB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3AE39463-E058-52DD-F120-8ED63236AEF6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F4F719-92B8-1B18-2955-1016DB095FBD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>
            <a:off x="4467075" y="2268823"/>
            <a:ext cx="0" cy="14560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2F0587-038C-B482-888B-0A5B3A42DDE0}"/>
              </a:ext>
            </a:extLst>
          </p:cNvPr>
          <p:cNvGrpSpPr/>
          <p:nvPr/>
        </p:nvGrpSpPr>
        <p:grpSpPr>
          <a:xfrm>
            <a:off x="4619790" y="3916733"/>
            <a:ext cx="2952421" cy="474080"/>
            <a:chOff x="2848304" y="3626260"/>
            <a:chExt cx="6495392" cy="104298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2227552-1EF0-21C2-EC50-6F030D84FCF0}"/>
                </a:ext>
              </a:extLst>
            </p:cNvPr>
            <p:cNvSpPr/>
            <p:nvPr/>
          </p:nvSpPr>
          <p:spPr>
            <a:xfrm>
              <a:off x="2848304" y="3626260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09D21B5-017A-931A-1EA4-240F9780142F}"/>
                </a:ext>
              </a:extLst>
            </p:cNvPr>
            <p:cNvSpPr/>
            <p:nvPr/>
          </p:nvSpPr>
          <p:spPr>
            <a:xfrm>
              <a:off x="3015376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2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65901FB-B377-83C1-B118-4FD02C8B37EC}"/>
                </a:ext>
              </a:extLst>
            </p:cNvPr>
            <p:cNvSpPr/>
            <p:nvPr/>
          </p:nvSpPr>
          <p:spPr>
            <a:xfrm>
              <a:off x="3520257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4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8F634314-6E30-2A93-70F2-28C8A64C9AD8}"/>
                </a:ext>
              </a:extLst>
            </p:cNvPr>
            <p:cNvSpPr/>
            <p:nvPr/>
          </p:nvSpPr>
          <p:spPr>
            <a:xfrm>
              <a:off x="4025138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8</a:t>
              </a:r>
            </a:p>
          </p:txBody>
        </p:sp>
      </p:grpSp>
      <p:sp>
        <p:nvSpPr>
          <p:cNvPr id="91" name="Title 90">
            <a:extLst>
              <a:ext uri="{FF2B5EF4-FFF2-40B4-BE49-F238E27FC236}">
                <a16:creationId xmlns:a16="http://schemas.microsoft.com/office/drawing/2014/main" id="{80A89EDE-AAC7-4F2B-4269-5A50E90B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 partitioning and replication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B0104F0-3FF9-4A08-B024-C978A4E596C2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E1D2D06-6649-7E14-18EB-E801CAC797BB}"/>
              </a:ext>
            </a:extLst>
          </p:cNvPr>
          <p:cNvCxnSpPr>
            <a:cxnSpLocks/>
            <a:stCxn id="93" idx="6"/>
            <a:endCxn id="88" idx="1"/>
          </p:cNvCxnSpPr>
          <p:nvPr/>
        </p:nvCxnSpPr>
        <p:spPr>
          <a:xfrm>
            <a:off x="2271713" y="4161359"/>
            <a:ext cx="1545430" cy="328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381200A-F388-1D28-F696-7C187AFCC549}"/>
              </a:ext>
            </a:extLst>
          </p:cNvPr>
          <p:cNvCxnSpPr>
            <a:cxnSpLocks/>
            <a:stCxn id="93" idx="7"/>
            <a:endCxn id="87" idx="1"/>
          </p:cNvCxnSpPr>
          <p:nvPr/>
        </p:nvCxnSpPr>
        <p:spPr>
          <a:xfrm flipV="1">
            <a:off x="2031381" y="2412542"/>
            <a:ext cx="1785763" cy="128015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DC6E22E-484F-13CB-A078-1C1770F96E23}"/>
              </a:ext>
            </a:extLst>
          </p:cNvPr>
          <p:cNvCxnSpPr>
            <a:cxnSpLocks/>
            <a:stCxn id="93" idx="5"/>
            <a:endCxn id="89" idx="1"/>
          </p:cNvCxnSpPr>
          <p:nvPr/>
        </p:nvCxnSpPr>
        <p:spPr>
          <a:xfrm>
            <a:off x="2031381" y="4630016"/>
            <a:ext cx="1785761" cy="134580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C4080802-B9A5-59B2-B098-0EB9C7A7C531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CC9C3F3-A9C7-62E2-9972-ACD2E1990D0D}"/>
              </a:ext>
            </a:extLst>
          </p:cNvPr>
          <p:cNvCxnSpPr>
            <a:cxnSpLocks/>
            <a:stCxn id="88" idx="3"/>
            <a:endCxn id="100" idx="2"/>
          </p:cNvCxnSpPr>
          <p:nvPr/>
        </p:nvCxnSpPr>
        <p:spPr>
          <a:xfrm flipV="1">
            <a:off x="8374857" y="4161359"/>
            <a:ext cx="1545430" cy="328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399911-B769-73D3-5A41-26959977AE7A}"/>
              </a:ext>
            </a:extLst>
          </p:cNvPr>
          <p:cNvCxnSpPr>
            <a:cxnSpLocks/>
            <a:stCxn id="87" idx="3"/>
            <a:endCxn id="105" idx="2"/>
          </p:cNvCxnSpPr>
          <p:nvPr/>
        </p:nvCxnSpPr>
        <p:spPr>
          <a:xfrm>
            <a:off x="8374858" y="2412542"/>
            <a:ext cx="1545429" cy="2949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27344FE-C30D-1A2A-9F6B-837B226516CA}"/>
              </a:ext>
            </a:extLst>
          </p:cNvPr>
          <p:cNvCxnSpPr>
            <a:cxnSpLocks/>
            <a:stCxn id="89" idx="3"/>
            <a:endCxn id="104" idx="2"/>
          </p:cNvCxnSpPr>
          <p:nvPr/>
        </p:nvCxnSpPr>
        <p:spPr>
          <a:xfrm flipV="1">
            <a:off x="8374856" y="5599633"/>
            <a:ext cx="1545431" cy="3761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E8F5CCB0-8091-D77A-B975-320A441C8580}"/>
              </a:ext>
            </a:extLst>
          </p:cNvPr>
          <p:cNvSpPr/>
          <p:nvPr/>
        </p:nvSpPr>
        <p:spPr>
          <a:xfrm>
            <a:off x="9920287" y="4936851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9589AF9-B05F-4D88-C08D-A40155CC5DCD}"/>
              </a:ext>
            </a:extLst>
          </p:cNvPr>
          <p:cNvSpPr/>
          <p:nvPr/>
        </p:nvSpPr>
        <p:spPr>
          <a:xfrm>
            <a:off x="9920287" y="2044699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00782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E83DC84-2AAC-3205-3216-392F093EE8A7}"/>
              </a:ext>
            </a:extLst>
          </p:cNvPr>
          <p:cNvSpPr/>
          <p:nvPr/>
        </p:nvSpPr>
        <p:spPr>
          <a:xfrm>
            <a:off x="3817142" y="5253970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B06F24E-604D-75B5-4947-3F00CCA4B5DB}"/>
              </a:ext>
            </a:extLst>
          </p:cNvPr>
          <p:cNvSpPr/>
          <p:nvPr/>
        </p:nvSpPr>
        <p:spPr>
          <a:xfrm>
            <a:off x="3817143" y="3472329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758134C-1F7C-77CE-3235-A5B48AA11DC5}"/>
              </a:ext>
            </a:extLst>
          </p:cNvPr>
          <p:cNvSpPr/>
          <p:nvPr/>
        </p:nvSpPr>
        <p:spPr>
          <a:xfrm>
            <a:off x="3817144" y="1690688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6DFD3F-5C2F-9152-C7D6-4AECEF6E1785}"/>
              </a:ext>
            </a:extLst>
          </p:cNvPr>
          <p:cNvGrpSpPr/>
          <p:nvPr/>
        </p:nvGrpSpPr>
        <p:grpSpPr>
          <a:xfrm>
            <a:off x="4925220" y="2412542"/>
            <a:ext cx="2952421" cy="474080"/>
            <a:chOff x="2848304" y="5064535"/>
            <a:chExt cx="6495392" cy="1042987"/>
          </a:xfrm>
          <a:solidFill>
            <a:schemeClr val="bg2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6320CB0-FE32-80C2-8D36-FC0478A8672B}"/>
                </a:ext>
              </a:extLst>
            </p:cNvPr>
            <p:cNvSpPr/>
            <p:nvPr/>
          </p:nvSpPr>
          <p:spPr>
            <a:xfrm>
              <a:off x="2848304" y="5064535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DB72F507-86C8-7808-22A9-26ADD17BFD2A}"/>
                </a:ext>
              </a:extLst>
            </p:cNvPr>
            <p:cNvSpPr/>
            <p:nvPr/>
          </p:nvSpPr>
          <p:spPr>
            <a:xfrm>
              <a:off x="3015376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3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441DA8D-91C2-DA68-24D6-C342A0CCE8C5}"/>
                </a:ext>
              </a:extLst>
            </p:cNvPr>
            <p:cNvSpPr/>
            <p:nvPr/>
          </p:nvSpPr>
          <p:spPr>
            <a:xfrm>
              <a:off x="3520257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6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0285BDA-6C30-44DD-1B0D-38ECBE050A81}"/>
                </a:ext>
              </a:extLst>
            </p:cNvPr>
            <p:cNvSpPr/>
            <p:nvPr/>
          </p:nvSpPr>
          <p:spPr>
            <a:xfrm>
              <a:off x="4025138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A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DFD7586-9741-EA72-EEEC-9605EE1F874C}"/>
                </a:ext>
              </a:extLst>
            </p:cNvPr>
            <p:cNvSpPr/>
            <p:nvPr/>
          </p:nvSpPr>
          <p:spPr>
            <a:xfrm>
              <a:off x="4530019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B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F210B1-98D0-2A3D-461F-928180D172FC}"/>
              </a:ext>
            </a:extLst>
          </p:cNvPr>
          <p:cNvGrpSpPr/>
          <p:nvPr/>
        </p:nvGrpSpPr>
        <p:grpSpPr>
          <a:xfrm>
            <a:off x="4619790" y="2130297"/>
            <a:ext cx="2952421" cy="474080"/>
            <a:chOff x="2848304" y="3626260"/>
            <a:chExt cx="6495392" cy="1042987"/>
          </a:xfrm>
          <a:solidFill>
            <a:schemeClr val="bg2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8D186E-6316-4082-D1C3-AD99988851F2}"/>
                </a:ext>
              </a:extLst>
            </p:cNvPr>
            <p:cNvSpPr/>
            <p:nvPr/>
          </p:nvSpPr>
          <p:spPr>
            <a:xfrm>
              <a:off x="2848304" y="3626260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4B38CCC-2B34-5588-419A-1177E116E6B3}"/>
                </a:ext>
              </a:extLst>
            </p:cNvPr>
            <p:cNvSpPr/>
            <p:nvPr/>
          </p:nvSpPr>
          <p:spPr>
            <a:xfrm>
              <a:off x="3015376" y="3797957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2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54F4DCC-706E-B752-5875-FC1A2E823BC9}"/>
                </a:ext>
              </a:extLst>
            </p:cNvPr>
            <p:cNvSpPr/>
            <p:nvPr/>
          </p:nvSpPr>
          <p:spPr>
            <a:xfrm>
              <a:off x="3520257" y="3797957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4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B1288A1-B9E0-B271-F79F-E397BBE98B97}"/>
                </a:ext>
              </a:extLst>
            </p:cNvPr>
            <p:cNvSpPr/>
            <p:nvPr/>
          </p:nvSpPr>
          <p:spPr>
            <a:xfrm>
              <a:off x="4025138" y="3797957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8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4921682-745F-8643-5528-D73F95B2F9B4}"/>
              </a:ext>
            </a:extLst>
          </p:cNvPr>
          <p:cNvGrpSpPr/>
          <p:nvPr/>
        </p:nvGrpSpPr>
        <p:grpSpPr>
          <a:xfrm>
            <a:off x="4314360" y="1860419"/>
            <a:ext cx="2952421" cy="474080"/>
            <a:chOff x="2848304" y="2185988"/>
            <a:chExt cx="6495392" cy="104298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B9275F5-2BD6-1685-A23B-82E560C7C126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F9E0124-93DD-6D6C-DC96-B5F26F00A385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707253E-E443-4694-86B4-58CFC0922364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4EBEA9ED-3C19-839E-3DBA-3B2EA2E31DCB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D52900A-DB7B-9C75-9406-88CF767C42AA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FFB0644B-4093-B0AA-D18C-79A0A935A885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AD1745-7AD3-F9BB-9AE9-3E8E32DBB9FC}"/>
              </a:ext>
            </a:extLst>
          </p:cNvPr>
          <p:cNvGrpSpPr/>
          <p:nvPr/>
        </p:nvGrpSpPr>
        <p:grpSpPr>
          <a:xfrm>
            <a:off x="4314360" y="5433291"/>
            <a:ext cx="2952421" cy="474080"/>
            <a:chOff x="2848304" y="2185988"/>
            <a:chExt cx="6495392" cy="1042987"/>
          </a:xfrm>
          <a:solidFill>
            <a:schemeClr val="bg2"/>
          </a:solidFill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15BB904-E251-2234-77A0-6F57C4D3D59F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16199D1-003D-9143-903D-2E1B9C5ED6D7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0078C82F-08AD-5B31-F173-38C53E1BF338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28ACA33C-D5EB-62E1-96EE-15F7D09EF8B6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96ED71E1-03DE-8855-4ADF-7393C756CF69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3B5FAF3E-81BD-ED10-8EEC-8E4AEFDD7AA4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5AC6CD7-0420-6B84-C8A4-86FE76F75EB3}"/>
              </a:ext>
            </a:extLst>
          </p:cNvPr>
          <p:cNvGrpSpPr/>
          <p:nvPr/>
        </p:nvGrpSpPr>
        <p:grpSpPr>
          <a:xfrm>
            <a:off x="4619790" y="5703169"/>
            <a:ext cx="2952421" cy="474080"/>
            <a:chOff x="2848304" y="3626260"/>
            <a:chExt cx="6495392" cy="1042987"/>
          </a:xfrm>
          <a:solidFill>
            <a:schemeClr val="bg2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06B96E-CFD4-6AAC-D2FA-D631CF88F1F2}"/>
                </a:ext>
              </a:extLst>
            </p:cNvPr>
            <p:cNvSpPr/>
            <p:nvPr/>
          </p:nvSpPr>
          <p:spPr>
            <a:xfrm>
              <a:off x="2848304" y="3626260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3D99FB7-F8EF-95BE-D920-A6C40407B25A}"/>
                </a:ext>
              </a:extLst>
            </p:cNvPr>
            <p:cNvSpPr/>
            <p:nvPr/>
          </p:nvSpPr>
          <p:spPr>
            <a:xfrm>
              <a:off x="3015376" y="3797957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2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4A7F93CB-790D-3FF5-F072-5AAE3C8965C7}"/>
                </a:ext>
              </a:extLst>
            </p:cNvPr>
            <p:cNvSpPr/>
            <p:nvPr/>
          </p:nvSpPr>
          <p:spPr>
            <a:xfrm>
              <a:off x="3520257" y="3797957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4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36DD784A-17E8-15AB-F1B5-0D8DBECD2B72}"/>
                </a:ext>
              </a:extLst>
            </p:cNvPr>
            <p:cNvSpPr/>
            <p:nvPr/>
          </p:nvSpPr>
          <p:spPr>
            <a:xfrm>
              <a:off x="4025138" y="3797957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8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99F31A2-CB5A-A8C2-543D-6360E76D624F}"/>
              </a:ext>
            </a:extLst>
          </p:cNvPr>
          <p:cNvGrpSpPr/>
          <p:nvPr/>
        </p:nvGrpSpPr>
        <p:grpSpPr>
          <a:xfrm>
            <a:off x="4925220" y="5985414"/>
            <a:ext cx="2952421" cy="474080"/>
            <a:chOff x="2848304" y="5064535"/>
            <a:chExt cx="6495392" cy="104298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3BF5FC5-1077-E182-0D2F-462E19EF597A}"/>
                </a:ext>
              </a:extLst>
            </p:cNvPr>
            <p:cNvSpPr/>
            <p:nvPr/>
          </p:nvSpPr>
          <p:spPr>
            <a:xfrm>
              <a:off x="2848304" y="5064535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54621335-BD6A-8224-45C4-190619523D7C}"/>
                </a:ext>
              </a:extLst>
            </p:cNvPr>
            <p:cNvSpPr/>
            <p:nvPr/>
          </p:nvSpPr>
          <p:spPr>
            <a:xfrm>
              <a:off x="3015376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3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470E96A5-AA45-D0AF-4D40-02E6EE72AF4A}"/>
                </a:ext>
              </a:extLst>
            </p:cNvPr>
            <p:cNvSpPr/>
            <p:nvPr/>
          </p:nvSpPr>
          <p:spPr>
            <a:xfrm>
              <a:off x="3520257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6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3627DE1-A2DF-22BE-0571-839D2308645A}"/>
                </a:ext>
              </a:extLst>
            </p:cNvPr>
            <p:cNvSpPr/>
            <p:nvPr/>
          </p:nvSpPr>
          <p:spPr>
            <a:xfrm>
              <a:off x="4025138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A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67CC47DA-1675-03AF-D2FC-E69504BACF6A}"/>
                </a:ext>
              </a:extLst>
            </p:cNvPr>
            <p:cNvSpPr/>
            <p:nvPr/>
          </p:nvSpPr>
          <p:spPr>
            <a:xfrm>
              <a:off x="4530019" y="5236232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B</a:t>
              </a:r>
            </a:p>
          </p:txBody>
        </p: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4460478-6A48-F61B-D174-D8305F2FD855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4467075" y="2268823"/>
            <a:ext cx="0" cy="32425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29ABDA-E4C6-359D-E078-946F1A63E0C2}"/>
              </a:ext>
            </a:extLst>
          </p:cNvPr>
          <p:cNvGrpSpPr/>
          <p:nvPr/>
        </p:nvGrpSpPr>
        <p:grpSpPr>
          <a:xfrm>
            <a:off x="4314360" y="3646855"/>
            <a:ext cx="2952421" cy="474080"/>
            <a:chOff x="2848304" y="2185988"/>
            <a:chExt cx="6495392" cy="1042987"/>
          </a:xfrm>
          <a:solidFill>
            <a:schemeClr val="bg2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E1CF46-0ABD-ED33-AF16-72BD5F5ED28A}"/>
                </a:ext>
              </a:extLst>
            </p:cNvPr>
            <p:cNvSpPr/>
            <p:nvPr/>
          </p:nvSpPr>
          <p:spPr>
            <a:xfrm>
              <a:off x="2848304" y="2185988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D2700FB-4A84-C4F2-B4DC-08D6CD959725}"/>
                </a:ext>
              </a:extLst>
            </p:cNvPr>
            <p:cNvSpPr/>
            <p:nvPr/>
          </p:nvSpPr>
          <p:spPr>
            <a:xfrm>
              <a:off x="3015376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1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BF2860A6-079E-EE82-ACD5-F42D153E85AC}"/>
                </a:ext>
              </a:extLst>
            </p:cNvPr>
            <p:cNvSpPr/>
            <p:nvPr/>
          </p:nvSpPr>
          <p:spPr>
            <a:xfrm>
              <a:off x="3520257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5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D98E7852-194D-4080-889E-F130106E78D5}"/>
                </a:ext>
              </a:extLst>
            </p:cNvPr>
            <p:cNvSpPr/>
            <p:nvPr/>
          </p:nvSpPr>
          <p:spPr>
            <a:xfrm>
              <a:off x="4025138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7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04DC29D-5F49-9936-3340-03BFC57674BB}"/>
                </a:ext>
              </a:extLst>
            </p:cNvPr>
            <p:cNvSpPr/>
            <p:nvPr/>
          </p:nvSpPr>
          <p:spPr>
            <a:xfrm>
              <a:off x="4530019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9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3AE39463-E058-52DD-F120-8ED63236AEF6}"/>
                </a:ext>
              </a:extLst>
            </p:cNvPr>
            <p:cNvSpPr/>
            <p:nvPr/>
          </p:nvSpPr>
          <p:spPr>
            <a:xfrm>
              <a:off x="5034900" y="2357685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C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F4F719-92B8-1B18-2955-1016DB095FBD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>
            <a:off x="4467075" y="2268823"/>
            <a:ext cx="0" cy="14560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1972BE6-6660-FB01-BA16-79A8EFAC988E}"/>
              </a:ext>
            </a:extLst>
          </p:cNvPr>
          <p:cNvCxnSpPr>
            <a:cxnSpLocks/>
            <a:stCxn id="43" idx="0"/>
            <a:endCxn id="3" idx="2"/>
          </p:cNvCxnSpPr>
          <p:nvPr/>
        </p:nvCxnSpPr>
        <p:spPr>
          <a:xfrm flipV="1">
            <a:off x="5077935" y="2820946"/>
            <a:ext cx="0" cy="32425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49A9B3-EB2A-BAA4-F39B-C4DE42371D67}"/>
              </a:ext>
            </a:extLst>
          </p:cNvPr>
          <p:cNvGrpSpPr/>
          <p:nvPr/>
        </p:nvGrpSpPr>
        <p:grpSpPr>
          <a:xfrm>
            <a:off x="4925220" y="4198978"/>
            <a:ext cx="2952421" cy="474080"/>
            <a:chOff x="2848304" y="5064535"/>
            <a:chExt cx="6495392" cy="1042987"/>
          </a:xfrm>
          <a:solidFill>
            <a:schemeClr val="bg2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CC7454B-C541-10D6-FCC4-70AF34C62FBC}"/>
                </a:ext>
              </a:extLst>
            </p:cNvPr>
            <p:cNvSpPr/>
            <p:nvPr/>
          </p:nvSpPr>
          <p:spPr>
            <a:xfrm>
              <a:off x="2848304" y="5064535"/>
              <a:ext cx="6495392" cy="104298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E1433CE-8AC1-9DE2-9F03-7119471D1280}"/>
                </a:ext>
              </a:extLst>
            </p:cNvPr>
            <p:cNvSpPr/>
            <p:nvPr/>
          </p:nvSpPr>
          <p:spPr>
            <a:xfrm>
              <a:off x="3015376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3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67CF6192-3545-8974-C550-9A768EE12A1B}"/>
                </a:ext>
              </a:extLst>
            </p:cNvPr>
            <p:cNvSpPr/>
            <p:nvPr/>
          </p:nvSpPr>
          <p:spPr>
            <a:xfrm>
              <a:off x="3520257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6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03DC60D-F1DC-0F2B-317F-054D861715EA}"/>
                </a:ext>
              </a:extLst>
            </p:cNvPr>
            <p:cNvSpPr/>
            <p:nvPr/>
          </p:nvSpPr>
          <p:spPr>
            <a:xfrm>
              <a:off x="4025138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A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4164097-5367-123E-104B-F8431821A69A}"/>
                </a:ext>
              </a:extLst>
            </p:cNvPr>
            <p:cNvSpPr/>
            <p:nvPr/>
          </p:nvSpPr>
          <p:spPr>
            <a:xfrm>
              <a:off x="4530019" y="5236232"/>
              <a:ext cx="337809" cy="726802"/>
            </a:xfrm>
            <a:prstGeom prst="roundRect">
              <a:avLst/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B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2F0587-038C-B482-888B-0A5B3A42DDE0}"/>
              </a:ext>
            </a:extLst>
          </p:cNvPr>
          <p:cNvGrpSpPr/>
          <p:nvPr/>
        </p:nvGrpSpPr>
        <p:grpSpPr>
          <a:xfrm>
            <a:off x="4619790" y="3916733"/>
            <a:ext cx="2952421" cy="474080"/>
            <a:chOff x="2848304" y="3626260"/>
            <a:chExt cx="6495392" cy="104298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2227552-1EF0-21C2-EC50-6F030D84FCF0}"/>
                </a:ext>
              </a:extLst>
            </p:cNvPr>
            <p:cNvSpPr/>
            <p:nvPr/>
          </p:nvSpPr>
          <p:spPr>
            <a:xfrm>
              <a:off x="2848304" y="3626260"/>
              <a:ext cx="6495392" cy="1042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200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09D21B5-017A-931A-1EA4-240F9780142F}"/>
                </a:ext>
              </a:extLst>
            </p:cNvPr>
            <p:cNvSpPr/>
            <p:nvPr/>
          </p:nvSpPr>
          <p:spPr>
            <a:xfrm>
              <a:off x="3015376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2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65901FB-B377-83C1-B118-4FD02C8B37EC}"/>
                </a:ext>
              </a:extLst>
            </p:cNvPr>
            <p:cNvSpPr/>
            <p:nvPr/>
          </p:nvSpPr>
          <p:spPr>
            <a:xfrm>
              <a:off x="3520257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4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8F634314-6E30-2A93-70F2-28C8A64C9AD8}"/>
                </a:ext>
              </a:extLst>
            </p:cNvPr>
            <p:cNvSpPr/>
            <p:nvPr/>
          </p:nvSpPr>
          <p:spPr>
            <a:xfrm>
              <a:off x="4025138" y="3797957"/>
              <a:ext cx="337809" cy="726802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200" dirty="0"/>
                <a:t>8</a:t>
              </a: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D536C38-DD6B-8F07-CF38-A66BD823A3C2}"/>
              </a:ext>
            </a:extLst>
          </p:cNvPr>
          <p:cNvCxnSpPr>
            <a:cxnSpLocks/>
            <a:stCxn id="24" idx="0"/>
            <a:endCxn id="9" idx="2"/>
          </p:cNvCxnSpPr>
          <p:nvPr/>
        </p:nvCxnSpPr>
        <p:spPr>
          <a:xfrm flipV="1">
            <a:off x="4772505" y="2538701"/>
            <a:ext cx="0" cy="14560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B0910E0-3F3F-D7CD-6AC5-3C7182D5FBE6}"/>
              </a:ext>
            </a:extLst>
          </p:cNvPr>
          <p:cNvCxnSpPr>
            <a:cxnSpLocks/>
            <a:stCxn id="24" idx="2"/>
            <a:endCxn id="50" idx="0"/>
          </p:cNvCxnSpPr>
          <p:nvPr/>
        </p:nvCxnSpPr>
        <p:spPr>
          <a:xfrm>
            <a:off x="4772505" y="4325137"/>
            <a:ext cx="0" cy="14560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970BCA9-AEE5-F68A-7FC3-D87A2AAE90F0}"/>
              </a:ext>
            </a:extLst>
          </p:cNvPr>
          <p:cNvCxnSpPr>
            <a:cxnSpLocks/>
            <a:stCxn id="43" idx="0"/>
            <a:endCxn id="16" idx="2"/>
          </p:cNvCxnSpPr>
          <p:nvPr/>
        </p:nvCxnSpPr>
        <p:spPr>
          <a:xfrm flipV="1">
            <a:off x="5077935" y="4607382"/>
            <a:ext cx="0" cy="14560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itle 90">
            <a:extLst>
              <a:ext uri="{FF2B5EF4-FFF2-40B4-BE49-F238E27FC236}">
                <a16:creationId xmlns:a16="http://schemas.microsoft.com/office/drawing/2014/main" id="{80A89EDE-AAC7-4F2B-4269-5A50E90B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Topic partitioning and replication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B0104F0-3FF9-4A08-B024-C978A4E596C2}"/>
              </a:ext>
            </a:extLst>
          </p:cNvPr>
          <p:cNvSpPr/>
          <p:nvPr/>
        </p:nvSpPr>
        <p:spPr>
          <a:xfrm>
            <a:off x="630621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Producer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E1D2D06-6649-7E14-18EB-E801CAC797BB}"/>
              </a:ext>
            </a:extLst>
          </p:cNvPr>
          <p:cNvCxnSpPr>
            <a:cxnSpLocks/>
            <a:stCxn id="93" idx="6"/>
            <a:endCxn id="88" idx="1"/>
          </p:cNvCxnSpPr>
          <p:nvPr/>
        </p:nvCxnSpPr>
        <p:spPr>
          <a:xfrm>
            <a:off x="2271713" y="4161359"/>
            <a:ext cx="1545430" cy="328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381200A-F388-1D28-F696-7C187AFCC549}"/>
              </a:ext>
            </a:extLst>
          </p:cNvPr>
          <p:cNvCxnSpPr>
            <a:cxnSpLocks/>
            <a:stCxn id="93" idx="7"/>
            <a:endCxn id="87" idx="1"/>
          </p:cNvCxnSpPr>
          <p:nvPr/>
        </p:nvCxnSpPr>
        <p:spPr>
          <a:xfrm flipV="1">
            <a:off x="2031381" y="2412542"/>
            <a:ext cx="1785763" cy="128015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DC6E22E-484F-13CB-A078-1C1770F96E23}"/>
              </a:ext>
            </a:extLst>
          </p:cNvPr>
          <p:cNvCxnSpPr>
            <a:cxnSpLocks/>
            <a:stCxn id="93" idx="5"/>
            <a:endCxn id="89" idx="1"/>
          </p:cNvCxnSpPr>
          <p:nvPr/>
        </p:nvCxnSpPr>
        <p:spPr>
          <a:xfrm>
            <a:off x="2031381" y="4630016"/>
            <a:ext cx="1785761" cy="134580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C4080802-B9A5-59B2-B098-0EB9C7A7C531}"/>
              </a:ext>
            </a:extLst>
          </p:cNvPr>
          <p:cNvSpPr/>
          <p:nvPr/>
        </p:nvSpPr>
        <p:spPr>
          <a:xfrm>
            <a:off x="9920287" y="349857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CC9C3F3-A9C7-62E2-9972-ACD2E1990D0D}"/>
              </a:ext>
            </a:extLst>
          </p:cNvPr>
          <p:cNvCxnSpPr>
            <a:cxnSpLocks/>
            <a:stCxn id="88" idx="3"/>
            <a:endCxn id="100" idx="2"/>
          </p:cNvCxnSpPr>
          <p:nvPr/>
        </p:nvCxnSpPr>
        <p:spPr>
          <a:xfrm flipV="1">
            <a:off x="8374857" y="4161359"/>
            <a:ext cx="1545430" cy="328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399911-B769-73D3-5A41-26959977AE7A}"/>
              </a:ext>
            </a:extLst>
          </p:cNvPr>
          <p:cNvCxnSpPr>
            <a:cxnSpLocks/>
            <a:stCxn id="87" idx="3"/>
            <a:endCxn id="105" idx="2"/>
          </p:cNvCxnSpPr>
          <p:nvPr/>
        </p:nvCxnSpPr>
        <p:spPr>
          <a:xfrm>
            <a:off x="8374858" y="2412542"/>
            <a:ext cx="1545429" cy="2949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27344FE-C30D-1A2A-9F6B-837B226516CA}"/>
              </a:ext>
            </a:extLst>
          </p:cNvPr>
          <p:cNvCxnSpPr>
            <a:cxnSpLocks/>
            <a:stCxn id="89" idx="3"/>
            <a:endCxn id="104" idx="2"/>
          </p:cNvCxnSpPr>
          <p:nvPr/>
        </p:nvCxnSpPr>
        <p:spPr>
          <a:xfrm flipV="1">
            <a:off x="8374856" y="5599633"/>
            <a:ext cx="1545431" cy="3761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E8F5CCB0-8091-D77A-B975-320A441C8580}"/>
              </a:ext>
            </a:extLst>
          </p:cNvPr>
          <p:cNvSpPr/>
          <p:nvPr/>
        </p:nvSpPr>
        <p:spPr>
          <a:xfrm>
            <a:off x="9920287" y="4936851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9589AF9-B05F-4D88-C08D-A40155CC5DCD}"/>
              </a:ext>
            </a:extLst>
          </p:cNvPr>
          <p:cNvSpPr/>
          <p:nvPr/>
        </p:nvSpPr>
        <p:spPr>
          <a:xfrm>
            <a:off x="9920287" y="2044699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25086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E83DC84-2AAC-3205-3216-392F093EE8A7}"/>
              </a:ext>
            </a:extLst>
          </p:cNvPr>
          <p:cNvSpPr/>
          <p:nvPr/>
        </p:nvSpPr>
        <p:spPr>
          <a:xfrm>
            <a:off x="3817142" y="4788825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B06F24E-604D-75B5-4947-3F00CCA4B5DB}"/>
              </a:ext>
            </a:extLst>
          </p:cNvPr>
          <p:cNvSpPr/>
          <p:nvPr/>
        </p:nvSpPr>
        <p:spPr>
          <a:xfrm>
            <a:off x="3817143" y="3007184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758134C-1F7C-77CE-3235-A5B48AA11DC5}"/>
              </a:ext>
            </a:extLst>
          </p:cNvPr>
          <p:cNvSpPr/>
          <p:nvPr/>
        </p:nvSpPr>
        <p:spPr>
          <a:xfrm>
            <a:off x="3817144" y="1225543"/>
            <a:ext cx="4557714" cy="14437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96C70F-E9A5-1382-52B1-3916429347CF}"/>
              </a:ext>
            </a:extLst>
          </p:cNvPr>
          <p:cNvGrpSpPr/>
          <p:nvPr/>
        </p:nvGrpSpPr>
        <p:grpSpPr>
          <a:xfrm>
            <a:off x="4314360" y="1395274"/>
            <a:ext cx="1614953" cy="465097"/>
            <a:chOff x="4314360" y="1095236"/>
            <a:chExt cx="3563281" cy="102620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F6DFD3F-5C2F-9152-C7D6-4AECEF6E1785}"/>
                </a:ext>
              </a:extLst>
            </p:cNvPr>
            <p:cNvGrpSpPr/>
            <p:nvPr/>
          </p:nvGrpSpPr>
          <p:grpSpPr>
            <a:xfrm>
              <a:off x="4925220" y="1647359"/>
              <a:ext cx="2952421" cy="474080"/>
              <a:chOff x="2848304" y="5064535"/>
              <a:chExt cx="6495393" cy="1042987"/>
            </a:xfrm>
            <a:solidFill>
              <a:schemeClr val="bg2"/>
            </a:solidFill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320CB0-FE32-80C2-8D36-FC0478A8672B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B72F507-86C8-7808-22A9-26ADD17BFD2A}"/>
                  </a:ext>
                </a:extLst>
              </p:cNvPr>
              <p:cNvSpPr/>
              <p:nvPr/>
            </p:nvSpPr>
            <p:spPr>
              <a:xfrm>
                <a:off x="3015376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441DA8D-91C2-DA68-24D6-C342A0CCE8C5}"/>
                  </a:ext>
                </a:extLst>
              </p:cNvPr>
              <p:cNvSpPr/>
              <p:nvPr/>
            </p:nvSpPr>
            <p:spPr>
              <a:xfrm>
                <a:off x="3520257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0285BDA-6C30-44DD-1B0D-38ECBE050A81}"/>
                  </a:ext>
                </a:extLst>
              </p:cNvPr>
              <p:cNvSpPr/>
              <p:nvPr/>
            </p:nvSpPr>
            <p:spPr>
              <a:xfrm>
                <a:off x="4025138" y="5236233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8DFD7586-9741-EA72-EEEC-9605EE1F874C}"/>
                  </a:ext>
                </a:extLst>
              </p:cNvPr>
              <p:cNvSpPr/>
              <p:nvPr/>
            </p:nvSpPr>
            <p:spPr>
              <a:xfrm>
                <a:off x="4530019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F210B1-98D0-2A3D-461F-928180D172FC}"/>
                </a:ext>
              </a:extLst>
            </p:cNvPr>
            <p:cNvGrpSpPr/>
            <p:nvPr/>
          </p:nvGrpSpPr>
          <p:grpSpPr>
            <a:xfrm>
              <a:off x="4619790" y="1365114"/>
              <a:ext cx="2952421" cy="474080"/>
              <a:chOff x="2848304" y="3626262"/>
              <a:chExt cx="6495393" cy="1042987"/>
            </a:xfrm>
            <a:solidFill>
              <a:schemeClr val="bg2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E8D186E-6316-4082-D1C3-AD99988851F2}"/>
                  </a:ext>
                </a:extLst>
              </p:cNvPr>
              <p:cNvSpPr/>
              <p:nvPr/>
            </p:nvSpPr>
            <p:spPr>
              <a:xfrm>
                <a:off x="2848304" y="3626262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4B38CCC-2B34-5588-419A-1177E116E6B3}"/>
                  </a:ext>
                </a:extLst>
              </p:cNvPr>
              <p:cNvSpPr/>
              <p:nvPr/>
            </p:nvSpPr>
            <p:spPr>
              <a:xfrm>
                <a:off x="3015376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754F4DCC-706E-B752-5875-FC1A2E823BC9}"/>
                  </a:ext>
                </a:extLst>
              </p:cNvPr>
              <p:cNvSpPr/>
              <p:nvPr/>
            </p:nvSpPr>
            <p:spPr>
              <a:xfrm>
                <a:off x="3520257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B1288A1-B9E0-B271-F79F-E397BBE98B97}"/>
                  </a:ext>
                </a:extLst>
              </p:cNvPr>
              <p:cNvSpPr/>
              <p:nvPr/>
            </p:nvSpPr>
            <p:spPr>
              <a:xfrm>
                <a:off x="4025138" y="3797956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4921682-745F-8643-5528-D73F95B2F9B4}"/>
                </a:ext>
              </a:extLst>
            </p:cNvPr>
            <p:cNvGrpSpPr/>
            <p:nvPr/>
          </p:nvGrpSpPr>
          <p:grpSpPr>
            <a:xfrm>
              <a:off x="4314360" y="1095236"/>
              <a:ext cx="2952421" cy="474080"/>
              <a:chOff x="2848304" y="2185988"/>
              <a:chExt cx="6495393" cy="104298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B9275F5-2BD6-1685-A23B-82E560C7C126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3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AF9E0124-93DD-6D6C-DC96-B5F26F00A385}"/>
                  </a:ext>
                </a:extLst>
              </p:cNvPr>
              <p:cNvSpPr/>
              <p:nvPr/>
            </p:nvSpPr>
            <p:spPr>
              <a:xfrm>
                <a:off x="3015376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F707253E-E443-4694-86B4-58CFC0922364}"/>
                  </a:ext>
                </a:extLst>
              </p:cNvPr>
              <p:cNvSpPr/>
              <p:nvPr/>
            </p:nvSpPr>
            <p:spPr>
              <a:xfrm>
                <a:off x="3520257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EBEA9ED-3C19-839E-3DBA-3B2EA2E31DCB}"/>
                  </a:ext>
                </a:extLst>
              </p:cNvPr>
              <p:cNvSpPr/>
              <p:nvPr/>
            </p:nvSpPr>
            <p:spPr>
              <a:xfrm>
                <a:off x="4025138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8D52900A-DB7B-9C75-9406-88CF767C42AA}"/>
                  </a:ext>
                </a:extLst>
              </p:cNvPr>
              <p:cNvSpPr/>
              <p:nvPr/>
            </p:nvSpPr>
            <p:spPr>
              <a:xfrm>
                <a:off x="4530019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FFB0644B-4093-B0AA-D18C-79A0A935A885}"/>
                  </a:ext>
                </a:extLst>
              </p:cNvPr>
              <p:cNvSpPr/>
              <p:nvPr/>
            </p:nvSpPr>
            <p:spPr>
              <a:xfrm>
                <a:off x="5034900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06B4AD7-1D77-FE28-9278-F986A3A43AA7}"/>
              </a:ext>
            </a:extLst>
          </p:cNvPr>
          <p:cNvGrpSpPr/>
          <p:nvPr/>
        </p:nvGrpSpPr>
        <p:grpSpPr>
          <a:xfrm>
            <a:off x="4314360" y="4968146"/>
            <a:ext cx="1614953" cy="465097"/>
            <a:chOff x="4314360" y="4668108"/>
            <a:chExt cx="3563281" cy="102620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4AD1745-7AD3-F9BB-9AE9-3E8E32DBB9FC}"/>
                </a:ext>
              </a:extLst>
            </p:cNvPr>
            <p:cNvGrpSpPr/>
            <p:nvPr/>
          </p:nvGrpSpPr>
          <p:grpSpPr>
            <a:xfrm>
              <a:off x="4314360" y="4668108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15BB904-E251-2234-77A0-6F57C4D3D59F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516199D1-003D-9143-903D-2E1B9C5ED6D7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0078C82F-08AD-5B31-F173-38C53E1BF338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28ACA33C-D5EB-62E1-96EE-15F7D09EF8B6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96ED71E1-03DE-8855-4ADF-7393C756CF69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3B5FAF3E-81BD-ED10-8EEC-8E4AEFDD7AA4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5AC6CD7-0420-6B84-C8A4-86FE76F75EB3}"/>
                </a:ext>
              </a:extLst>
            </p:cNvPr>
            <p:cNvGrpSpPr/>
            <p:nvPr/>
          </p:nvGrpSpPr>
          <p:grpSpPr>
            <a:xfrm>
              <a:off x="4619790" y="4937986"/>
              <a:ext cx="2952421" cy="474080"/>
              <a:chOff x="2848304" y="3626260"/>
              <a:chExt cx="6495392" cy="1042987"/>
            </a:xfrm>
            <a:solidFill>
              <a:schemeClr val="bg2"/>
            </a:solidFill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D06B96E-CFD4-6AAC-D2FA-D631CF88F1F2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F3D99FB7-F8EF-95BE-D920-A6C40407B25A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4A7F93CB-790D-3FF5-F072-5AAE3C8965C7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36DD784A-17E8-15AB-F1B5-0D8DBECD2B72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99F31A2-CB5A-A8C2-543D-6360E76D624F}"/>
                </a:ext>
              </a:extLst>
            </p:cNvPr>
            <p:cNvGrpSpPr/>
            <p:nvPr/>
          </p:nvGrpSpPr>
          <p:grpSpPr>
            <a:xfrm>
              <a:off x="4925220" y="5220231"/>
              <a:ext cx="2952421" cy="474080"/>
              <a:chOff x="2848304" y="5064535"/>
              <a:chExt cx="6495392" cy="1042987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3BF5FC5-1077-E182-0D2F-462E19EF597A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54621335-BD6A-8224-45C4-190619523D7C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470E96A5-AA45-D0AF-4D40-02E6EE72AF4A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93627DE1-A2DF-22BE-0571-839D2308645A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67CC47DA-1675-03AF-D2FC-E69504BACF6A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9C1A88-64C0-0BCD-443E-A46885D445DC}"/>
              </a:ext>
            </a:extLst>
          </p:cNvPr>
          <p:cNvGrpSpPr/>
          <p:nvPr/>
        </p:nvGrpSpPr>
        <p:grpSpPr>
          <a:xfrm>
            <a:off x="4314360" y="3181710"/>
            <a:ext cx="1614953" cy="465097"/>
            <a:chOff x="4314360" y="2881672"/>
            <a:chExt cx="3563281" cy="10262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029ABDA-E4C6-359D-E078-946F1A63E0C2}"/>
                </a:ext>
              </a:extLst>
            </p:cNvPr>
            <p:cNvGrpSpPr/>
            <p:nvPr/>
          </p:nvGrpSpPr>
          <p:grpSpPr>
            <a:xfrm>
              <a:off x="4314360" y="2881672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5E1CF46-0ABD-ED33-AF16-72BD5F5ED28A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0D2700FB-4A84-C4F2-B4DC-08D6CD959725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BF2860A6-079E-EE82-ACD5-F42D153E85AC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D98E7852-194D-4080-889E-F130106E78D5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904DC29D-5F49-9936-3340-03BFC57674BB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AE39463-E058-52DD-F120-8ED63236AEF6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F49A9B3-EB2A-BAA4-F39B-C4DE42371D67}"/>
                </a:ext>
              </a:extLst>
            </p:cNvPr>
            <p:cNvGrpSpPr/>
            <p:nvPr/>
          </p:nvGrpSpPr>
          <p:grpSpPr>
            <a:xfrm>
              <a:off x="4925220" y="3433795"/>
              <a:ext cx="2952421" cy="474080"/>
              <a:chOff x="2848304" y="5064535"/>
              <a:chExt cx="6495392" cy="1042987"/>
            </a:xfrm>
            <a:solidFill>
              <a:schemeClr val="bg2"/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CC7454B-C541-10D6-FCC4-70AF34C62FBC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3E1433CE-8AC1-9DE2-9F03-7119471D1280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7CF6192-3545-8974-C550-9A768EE12A1B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03DC60D-F1DC-0F2B-317F-054D861715EA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74164097-5367-123E-104B-F8431821A69A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E2F0587-038C-B482-888B-0A5B3A42DDE0}"/>
                </a:ext>
              </a:extLst>
            </p:cNvPr>
            <p:cNvGrpSpPr/>
            <p:nvPr/>
          </p:nvGrpSpPr>
          <p:grpSpPr>
            <a:xfrm>
              <a:off x="4619790" y="3151550"/>
              <a:ext cx="2952421" cy="474080"/>
              <a:chOff x="2848304" y="3626260"/>
              <a:chExt cx="6495392" cy="104298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2227552-1EF0-21C2-EC50-6F030D84FCF0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509D21B5-017A-931A-1EA4-240F9780142F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B65901FB-B377-83C1-B118-4FD02C8B37EC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8F634314-6E30-2A93-70F2-28C8A64C9AD8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0271B3F-88D5-5BC3-E111-F2ABC5FF569A}"/>
              </a:ext>
            </a:extLst>
          </p:cNvPr>
          <p:cNvGrpSpPr/>
          <p:nvPr/>
        </p:nvGrpSpPr>
        <p:grpSpPr>
          <a:xfrm>
            <a:off x="3966069" y="2040618"/>
            <a:ext cx="1614953" cy="465097"/>
            <a:chOff x="4314360" y="1095236"/>
            <a:chExt cx="3563281" cy="1026203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9CA12C3-6338-3C3A-EE24-735463774261}"/>
                </a:ext>
              </a:extLst>
            </p:cNvPr>
            <p:cNvGrpSpPr/>
            <p:nvPr/>
          </p:nvGrpSpPr>
          <p:grpSpPr>
            <a:xfrm>
              <a:off x="4925220" y="1647359"/>
              <a:ext cx="2952421" cy="474080"/>
              <a:chOff x="2848304" y="5064535"/>
              <a:chExt cx="6495393" cy="1042987"/>
            </a:xfrm>
            <a:solidFill>
              <a:schemeClr val="bg2"/>
            </a:solidFill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A8DB7AD2-4C30-3668-1D73-3B332371D198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B5A59C6F-08C6-C527-B0AA-821BF5883956}"/>
                  </a:ext>
                </a:extLst>
              </p:cNvPr>
              <p:cNvSpPr/>
              <p:nvPr/>
            </p:nvSpPr>
            <p:spPr>
              <a:xfrm>
                <a:off x="3015376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3DCE41E4-C50F-AD41-58DA-AC8DFB96A62A}"/>
                  </a:ext>
                </a:extLst>
              </p:cNvPr>
              <p:cNvSpPr/>
              <p:nvPr/>
            </p:nvSpPr>
            <p:spPr>
              <a:xfrm>
                <a:off x="3520257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B06F1447-6845-D9A8-5775-48261E9B1641}"/>
                  </a:ext>
                </a:extLst>
              </p:cNvPr>
              <p:cNvSpPr/>
              <p:nvPr/>
            </p:nvSpPr>
            <p:spPr>
              <a:xfrm>
                <a:off x="4025138" y="5236233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564CF555-B302-76A5-CCB9-97BA9AD54812}"/>
                  </a:ext>
                </a:extLst>
              </p:cNvPr>
              <p:cNvSpPr/>
              <p:nvPr/>
            </p:nvSpPr>
            <p:spPr>
              <a:xfrm>
                <a:off x="4530019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725B1BEC-0B95-8F2C-2C54-67681B741645}"/>
                </a:ext>
              </a:extLst>
            </p:cNvPr>
            <p:cNvGrpSpPr/>
            <p:nvPr/>
          </p:nvGrpSpPr>
          <p:grpSpPr>
            <a:xfrm>
              <a:off x="4619790" y="1365114"/>
              <a:ext cx="2952421" cy="474080"/>
              <a:chOff x="2848304" y="3626262"/>
              <a:chExt cx="6495393" cy="1042987"/>
            </a:xfrm>
            <a:solidFill>
              <a:schemeClr val="bg2"/>
            </a:solidFill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0BD9DBAF-545C-180D-3BA5-B88948AFDFC2}"/>
                  </a:ext>
                </a:extLst>
              </p:cNvPr>
              <p:cNvSpPr/>
              <p:nvPr/>
            </p:nvSpPr>
            <p:spPr>
              <a:xfrm>
                <a:off x="2848304" y="3626262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36" name="Rounded Rectangle 135">
                <a:extLst>
                  <a:ext uri="{FF2B5EF4-FFF2-40B4-BE49-F238E27FC236}">
                    <a16:creationId xmlns:a16="http://schemas.microsoft.com/office/drawing/2014/main" id="{77B1C12A-619B-3708-4518-13DB77A82085}"/>
                  </a:ext>
                </a:extLst>
              </p:cNvPr>
              <p:cNvSpPr/>
              <p:nvPr/>
            </p:nvSpPr>
            <p:spPr>
              <a:xfrm>
                <a:off x="3015376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37" name="Rounded Rectangle 136">
                <a:extLst>
                  <a:ext uri="{FF2B5EF4-FFF2-40B4-BE49-F238E27FC236}">
                    <a16:creationId xmlns:a16="http://schemas.microsoft.com/office/drawing/2014/main" id="{4C92FBCA-E0B4-4672-1D28-4C5EFAFD720A}"/>
                  </a:ext>
                </a:extLst>
              </p:cNvPr>
              <p:cNvSpPr/>
              <p:nvPr/>
            </p:nvSpPr>
            <p:spPr>
              <a:xfrm>
                <a:off x="3520257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38" name="Rounded Rectangle 137">
                <a:extLst>
                  <a:ext uri="{FF2B5EF4-FFF2-40B4-BE49-F238E27FC236}">
                    <a16:creationId xmlns:a16="http://schemas.microsoft.com/office/drawing/2014/main" id="{6E41849D-3007-A285-5332-31A7FC9519B5}"/>
                  </a:ext>
                </a:extLst>
              </p:cNvPr>
              <p:cNvSpPr/>
              <p:nvPr/>
            </p:nvSpPr>
            <p:spPr>
              <a:xfrm>
                <a:off x="4025138" y="3797956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788E7FE8-19DB-83DF-0175-5ABAA8F95BA9}"/>
                </a:ext>
              </a:extLst>
            </p:cNvPr>
            <p:cNvGrpSpPr/>
            <p:nvPr/>
          </p:nvGrpSpPr>
          <p:grpSpPr>
            <a:xfrm>
              <a:off x="4314360" y="1095236"/>
              <a:ext cx="2952421" cy="474080"/>
              <a:chOff x="2848304" y="2185988"/>
              <a:chExt cx="6495393" cy="1042987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7CCCB89-FCDF-DC66-FDF4-CC0C7E37ADC1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3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30" name="Rounded Rectangle 129">
                <a:extLst>
                  <a:ext uri="{FF2B5EF4-FFF2-40B4-BE49-F238E27FC236}">
                    <a16:creationId xmlns:a16="http://schemas.microsoft.com/office/drawing/2014/main" id="{11591E55-934A-6CA5-8A21-DA828A6E6F6A}"/>
                  </a:ext>
                </a:extLst>
              </p:cNvPr>
              <p:cNvSpPr/>
              <p:nvPr/>
            </p:nvSpPr>
            <p:spPr>
              <a:xfrm>
                <a:off x="3015376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F3EC4A29-D25D-63F4-A943-809085E2B65F}"/>
                  </a:ext>
                </a:extLst>
              </p:cNvPr>
              <p:cNvSpPr/>
              <p:nvPr/>
            </p:nvSpPr>
            <p:spPr>
              <a:xfrm>
                <a:off x="3520257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32" name="Rounded Rectangle 131">
                <a:extLst>
                  <a:ext uri="{FF2B5EF4-FFF2-40B4-BE49-F238E27FC236}">
                    <a16:creationId xmlns:a16="http://schemas.microsoft.com/office/drawing/2014/main" id="{1A983DAE-50A1-497D-0796-CE01C1136E56}"/>
                  </a:ext>
                </a:extLst>
              </p:cNvPr>
              <p:cNvSpPr/>
              <p:nvPr/>
            </p:nvSpPr>
            <p:spPr>
              <a:xfrm>
                <a:off x="4025138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33" name="Rounded Rectangle 132">
                <a:extLst>
                  <a:ext uri="{FF2B5EF4-FFF2-40B4-BE49-F238E27FC236}">
                    <a16:creationId xmlns:a16="http://schemas.microsoft.com/office/drawing/2014/main" id="{84F68523-BF09-9976-69D7-B8BE9399B0C6}"/>
                  </a:ext>
                </a:extLst>
              </p:cNvPr>
              <p:cNvSpPr/>
              <p:nvPr/>
            </p:nvSpPr>
            <p:spPr>
              <a:xfrm>
                <a:off x="4530019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34" name="Rounded Rectangle 133">
                <a:extLst>
                  <a:ext uri="{FF2B5EF4-FFF2-40B4-BE49-F238E27FC236}">
                    <a16:creationId xmlns:a16="http://schemas.microsoft.com/office/drawing/2014/main" id="{27140575-396C-AAD7-C145-A901B6ABD996}"/>
                  </a:ext>
                </a:extLst>
              </p:cNvPr>
              <p:cNvSpPr/>
              <p:nvPr/>
            </p:nvSpPr>
            <p:spPr>
              <a:xfrm>
                <a:off x="5034900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A498DE2-1CAB-9CF7-AE83-52B0E594752D}"/>
              </a:ext>
            </a:extLst>
          </p:cNvPr>
          <p:cNvGrpSpPr/>
          <p:nvPr/>
        </p:nvGrpSpPr>
        <p:grpSpPr>
          <a:xfrm>
            <a:off x="3966069" y="5613490"/>
            <a:ext cx="1614953" cy="465097"/>
            <a:chOff x="4314360" y="4668108"/>
            <a:chExt cx="3563281" cy="1026203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DD259C2-6D19-64E9-0A15-5D20FA8F2574}"/>
                </a:ext>
              </a:extLst>
            </p:cNvPr>
            <p:cNvGrpSpPr/>
            <p:nvPr/>
          </p:nvGrpSpPr>
          <p:grpSpPr>
            <a:xfrm>
              <a:off x="4314360" y="4668108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192D43C1-977E-B096-72EA-87E39B4CDE34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58" name="Rounded Rectangle 157">
                <a:extLst>
                  <a:ext uri="{FF2B5EF4-FFF2-40B4-BE49-F238E27FC236}">
                    <a16:creationId xmlns:a16="http://schemas.microsoft.com/office/drawing/2014/main" id="{E37A36B6-69A6-2D27-BD4A-A22847984A18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59" name="Rounded Rectangle 158">
                <a:extLst>
                  <a:ext uri="{FF2B5EF4-FFF2-40B4-BE49-F238E27FC236}">
                    <a16:creationId xmlns:a16="http://schemas.microsoft.com/office/drawing/2014/main" id="{73748948-6610-F480-F557-FB03365B6C6B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03B93205-67B7-2BE5-E462-E8AB9496C436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3A59193B-A5BA-C6FC-E479-674D0FE9B3F6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62" name="Rounded Rectangle 161">
                <a:extLst>
                  <a:ext uri="{FF2B5EF4-FFF2-40B4-BE49-F238E27FC236}">
                    <a16:creationId xmlns:a16="http://schemas.microsoft.com/office/drawing/2014/main" id="{1F1C3A66-DF75-C64F-E148-1BCB86C63D50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C93F9FE4-D673-A5F4-CD5F-49E6BB71203E}"/>
                </a:ext>
              </a:extLst>
            </p:cNvPr>
            <p:cNvGrpSpPr/>
            <p:nvPr/>
          </p:nvGrpSpPr>
          <p:grpSpPr>
            <a:xfrm>
              <a:off x="4619790" y="4937986"/>
              <a:ext cx="2952421" cy="474080"/>
              <a:chOff x="2848304" y="3626260"/>
              <a:chExt cx="6495392" cy="1042987"/>
            </a:xfrm>
            <a:solidFill>
              <a:schemeClr val="bg2"/>
            </a:solidFill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0022E3CF-47EA-0E37-BD78-3B48DEA6C6EA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54" name="Rounded Rectangle 153">
                <a:extLst>
                  <a:ext uri="{FF2B5EF4-FFF2-40B4-BE49-F238E27FC236}">
                    <a16:creationId xmlns:a16="http://schemas.microsoft.com/office/drawing/2014/main" id="{6B6E7846-49D6-44FC-CCEA-252AEFE63E0F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55" name="Rounded Rectangle 154">
                <a:extLst>
                  <a:ext uri="{FF2B5EF4-FFF2-40B4-BE49-F238E27FC236}">
                    <a16:creationId xmlns:a16="http://schemas.microsoft.com/office/drawing/2014/main" id="{816E30C3-40E5-908A-2E13-D01E19F6CE61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56" name="Rounded Rectangle 155">
                <a:extLst>
                  <a:ext uri="{FF2B5EF4-FFF2-40B4-BE49-F238E27FC236}">
                    <a16:creationId xmlns:a16="http://schemas.microsoft.com/office/drawing/2014/main" id="{BEB07F60-D1F7-5DF3-E57E-AEE831CBA6E1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56696521-F375-8A3B-498D-260ACA30A42B}"/>
                </a:ext>
              </a:extLst>
            </p:cNvPr>
            <p:cNvGrpSpPr/>
            <p:nvPr/>
          </p:nvGrpSpPr>
          <p:grpSpPr>
            <a:xfrm>
              <a:off x="4925220" y="5220231"/>
              <a:ext cx="2952421" cy="474080"/>
              <a:chOff x="2848304" y="5064535"/>
              <a:chExt cx="6495392" cy="1042987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0B966180-D446-DA72-7A68-DDE5FBD786CF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49" name="Rounded Rectangle 148">
                <a:extLst>
                  <a:ext uri="{FF2B5EF4-FFF2-40B4-BE49-F238E27FC236}">
                    <a16:creationId xmlns:a16="http://schemas.microsoft.com/office/drawing/2014/main" id="{4FAAD1FA-A64D-8B0E-A1B3-57E7F85F75B2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F13C6300-754F-48DC-1B1A-D11481A21B5A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B2AB3B61-58C8-1A9D-E317-5C6964AFE6AF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A13ED57B-CCFA-6E50-31AF-73E800B12E2A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B0FE414-E6D2-60B5-28D8-02A3F0D41354}"/>
              </a:ext>
            </a:extLst>
          </p:cNvPr>
          <p:cNvGrpSpPr/>
          <p:nvPr/>
        </p:nvGrpSpPr>
        <p:grpSpPr>
          <a:xfrm>
            <a:off x="3966069" y="3827054"/>
            <a:ext cx="1614953" cy="465097"/>
            <a:chOff x="4314360" y="2881672"/>
            <a:chExt cx="3563281" cy="102620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E5ADDDEB-6E2A-F8A9-FF4D-C7F0E40ACAFE}"/>
                </a:ext>
              </a:extLst>
            </p:cNvPr>
            <p:cNvGrpSpPr/>
            <p:nvPr/>
          </p:nvGrpSpPr>
          <p:grpSpPr>
            <a:xfrm>
              <a:off x="4314360" y="2881672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3B416861-BA10-3322-611A-47647C611515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77" name="Rounded Rectangle 176">
                <a:extLst>
                  <a:ext uri="{FF2B5EF4-FFF2-40B4-BE49-F238E27FC236}">
                    <a16:creationId xmlns:a16="http://schemas.microsoft.com/office/drawing/2014/main" id="{FA88519B-8211-086C-8C46-CBE7A398170F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07D87998-2888-9786-D8A5-8FEC64F67495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1F96D191-86E9-5895-4FBB-26B9E0620C95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80" name="Rounded Rectangle 179">
                <a:extLst>
                  <a:ext uri="{FF2B5EF4-FFF2-40B4-BE49-F238E27FC236}">
                    <a16:creationId xmlns:a16="http://schemas.microsoft.com/office/drawing/2014/main" id="{FDF48841-B9ED-E3F4-670A-35F52AB26C5B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D1C33FAC-D1D8-1107-04BD-69DBD4BC09B8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E6B4F333-580D-EA04-5AEE-56C03E22308B}"/>
                </a:ext>
              </a:extLst>
            </p:cNvPr>
            <p:cNvGrpSpPr/>
            <p:nvPr/>
          </p:nvGrpSpPr>
          <p:grpSpPr>
            <a:xfrm>
              <a:off x="4925220" y="3433795"/>
              <a:ext cx="2952421" cy="474080"/>
              <a:chOff x="2848304" y="5064535"/>
              <a:chExt cx="6495392" cy="1042987"/>
            </a:xfrm>
            <a:solidFill>
              <a:schemeClr val="bg2"/>
            </a:solidFill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17BC7E7B-0527-CB30-D321-F51DAEDE78F4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EF96174E-4FD0-D4B6-F73D-3D381C5C7D47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3" name="Rounded Rectangle 172">
                <a:extLst>
                  <a:ext uri="{FF2B5EF4-FFF2-40B4-BE49-F238E27FC236}">
                    <a16:creationId xmlns:a16="http://schemas.microsoft.com/office/drawing/2014/main" id="{32A93C8B-0FB0-AA8B-C3AF-DE2095B50B45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4" name="Rounded Rectangle 173">
                <a:extLst>
                  <a:ext uri="{FF2B5EF4-FFF2-40B4-BE49-F238E27FC236}">
                    <a16:creationId xmlns:a16="http://schemas.microsoft.com/office/drawing/2014/main" id="{8B619E72-E06B-829A-E0E3-725E4C0D74DD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E6DB1B6-2E03-14F2-D663-9E61D1B2C56A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146955B4-5F09-A844-D55D-E2BC4941EC94}"/>
                </a:ext>
              </a:extLst>
            </p:cNvPr>
            <p:cNvGrpSpPr/>
            <p:nvPr/>
          </p:nvGrpSpPr>
          <p:grpSpPr>
            <a:xfrm>
              <a:off x="4619790" y="3151550"/>
              <a:ext cx="2952421" cy="474080"/>
              <a:chOff x="2848304" y="3626260"/>
              <a:chExt cx="6495392" cy="1042987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51B4020-7BE5-7371-E06B-D500A8A21ED1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68" name="Rounded Rectangle 167">
                <a:extLst>
                  <a:ext uri="{FF2B5EF4-FFF2-40B4-BE49-F238E27FC236}">
                    <a16:creationId xmlns:a16="http://schemas.microsoft.com/office/drawing/2014/main" id="{11B15008-3C44-1275-37E4-ABF7978669A8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69" name="Rounded Rectangle 168">
                <a:extLst>
                  <a:ext uri="{FF2B5EF4-FFF2-40B4-BE49-F238E27FC236}">
                    <a16:creationId xmlns:a16="http://schemas.microsoft.com/office/drawing/2014/main" id="{B265B8C6-0607-6C4C-47C8-F078CEEF000A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61344E0F-8884-DF90-184D-36BC0DB4489C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2B4FD50-3EC8-E444-19C4-91B6F5048DBF}"/>
              </a:ext>
            </a:extLst>
          </p:cNvPr>
          <p:cNvGrpSpPr/>
          <p:nvPr/>
        </p:nvGrpSpPr>
        <p:grpSpPr>
          <a:xfrm>
            <a:off x="5835044" y="1882933"/>
            <a:ext cx="1614953" cy="465097"/>
            <a:chOff x="4314360" y="1095236"/>
            <a:chExt cx="3563281" cy="1026203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13D2B9E0-EEBF-5B6E-E0F9-80B8A4593956}"/>
                </a:ext>
              </a:extLst>
            </p:cNvPr>
            <p:cNvGrpSpPr/>
            <p:nvPr/>
          </p:nvGrpSpPr>
          <p:grpSpPr>
            <a:xfrm>
              <a:off x="4925220" y="1647359"/>
              <a:ext cx="2952421" cy="474080"/>
              <a:chOff x="2848304" y="5064535"/>
              <a:chExt cx="6495393" cy="1042987"/>
            </a:xfrm>
            <a:solidFill>
              <a:schemeClr val="bg2"/>
            </a:solidFill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9D9EA164-23FD-88D6-0DC6-065F8E9E3FE9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97" name="Rounded Rectangle 196">
                <a:extLst>
                  <a:ext uri="{FF2B5EF4-FFF2-40B4-BE49-F238E27FC236}">
                    <a16:creationId xmlns:a16="http://schemas.microsoft.com/office/drawing/2014/main" id="{E2511B04-F517-B7A0-D31C-7F587B018D78}"/>
                  </a:ext>
                </a:extLst>
              </p:cNvPr>
              <p:cNvSpPr/>
              <p:nvPr/>
            </p:nvSpPr>
            <p:spPr>
              <a:xfrm>
                <a:off x="3015376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8" name="Rounded Rectangle 197">
                <a:extLst>
                  <a:ext uri="{FF2B5EF4-FFF2-40B4-BE49-F238E27FC236}">
                    <a16:creationId xmlns:a16="http://schemas.microsoft.com/office/drawing/2014/main" id="{1AEE8734-2D7E-81C6-326F-483D851E9AF8}"/>
                  </a:ext>
                </a:extLst>
              </p:cNvPr>
              <p:cNvSpPr/>
              <p:nvPr/>
            </p:nvSpPr>
            <p:spPr>
              <a:xfrm>
                <a:off x="3520257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9" name="Rounded Rectangle 198">
                <a:extLst>
                  <a:ext uri="{FF2B5EF4-FFF2-40B4-BE49-F238E27FC236}">
                    <a16:creationId xmlns:a16="http://schemas.microsoft.com/office/drawing/2014/main" id="{17DE39C8-6072-44E7-B8E1-29C686F52AE4}"/>
                  </a:ext>
                </a:extLst>
              </p:cNvPr>
              <p:cNvSpPr/>
              <p:nvPr/>
            </p:nvSpPr>
            <p:spPr>
              <a:xfrm>
                <a:off x="4025138" y="5236233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00" name="Rounded Rectangle 199">
                <a:extLst>
                  <a:ext uri="{FF2B5EF4-FFF2-40B4-BE49-F238E27FC236}">
                    <a16:creationId xmlns:a16="http://schemas.microsoft.com/office/drawing/2014/main" id="{EF868E3C-37F0-D62E-E9C8-4B6BB84695F0}"/>
                  </a:ext>
                </a:extLst>
              </p:cNvPr>
              <p:cNvSpPr/>
              <p:nvPr/>
            </p:nvSpPr>
            <p:spPr>
              <a:xfrm>
                <a:off x="4530019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56A8271-16B5-B623-69B0-6143DE700009}"/>
                </a:ext>
              </a:extLst>
            </p:cNvPr>
            <p:cNvGrpSpPr/>
            <p:nvPr/>
          </p:nvGrpSpPr>
          <p:grpSpPr>
            <a:xfrm>
              <a:off x="4619790" y="1365114"/>
              <a:ext cx="2952421" cy="474080"/>
              <a:chOff x="2848304" y="3626262"/>
              <a:chExt cx="6495393" cy="1042987"/>
            </a:xfrm>
            <a:solidFill>
              <a:schemeClr val="bg2"/>
            </a:solidFill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BF92631-1883-1FA7-F516-F6F4246FDC37}"/>
                  </a:ext>
                </a:extLst>
              </p:cNvPr>
              <p:cNvSpPr/>
              <p:nvPr/>
            </p:nvSpPr>
            <p:spPr>
              <a:xfrm>
                <a:off x="2848304" y="3626262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5B49EE51-05C4-D3FA-5615-97DF36F83EE4}"/>
                  </a:ext>
                </a:extLst>
              </p:cNvPr>
              <p:cNvSpPr/>
              <p:nvPr/>
            </p:nvSpPr>
            <p:spPr>
              <a:xfrm>
                <a:off x="3015376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4" name="Rounded Rectangle 193">
                <a:extLst>
                  <a:ext uri="{FF2B5EF4-FFF2-40B4-BE49-F238E27FC236}">
                    <a16:creationId xmlns:a16="http://schemas.microsoft.com/office/drawing/2014/main" id="{AE34078F-F005-03B8-5998-1B6AC62797DF}"/>
                  </a:ext>
                </a:extLst>
              </p:cNvPr>
              <p:cNvSpPr/>
              <p:nvPr/>
            </p:nvSpPr>
            <p:spPr>
              <a:xfrm>
                <a:off x="3520257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5" name="Rounded Rectangle 194">
                <a:extLst>
                  <a:ext uri="{FF2B5EF4-FFF2-40B4-BE49-F238E27FC236}">
                    <a16:creationId xmlns:a16="http://schemas.microsoft.com/office/drawing/2014/main" id="{97AD06D1-93FE-EA0E-828E-AE93D490B290}"/>
                  </a:ext>
                </a:extLst>
              </p:cNvPr>
              <p:cNvSpPr/>
              <p:nvPr/>
            </p:nvSpPr>
            <p:spPr>
              <a:xfrm>
                <a:off x="4025138" y="3797956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9DA915-EC12-4CFB-3FE4-CF3D5CB0D6ED}"/>
                </a:ext>
              </a:extLst>
            </p:cNvPr>
            <p:cNvGrpSpPr/>
            <p:nvPr/>
          </p:nvGrpSpPr>
          <p:grpSpPr>
            <a:xfrm>
              <a:off x="4314360" y="1095236"/>
              <a:ext cx="2952421" cy="474080"/>
              <a:chOff x="2848304" y="2185988"/>
              <a:chExt cx="6495393" cy="1042987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A42535CD-EE47-1559-FAF0-DF217227BF43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3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187" name="Rounded Rectangle 186">
                <a:extLst>
                  <a:ext uri="{FF2B5EF4-FFF2-40B4-BE49-F238E27FC236}">
                    <a16:creationId xmlns:a16="http://schemas.microsoft.com/office/drawing/2014/main" id="{004B3889-C520-E76A-506C-28E20CE48C90}"/>
                  </a:ext>
                </a:extLst>
              </p:cNvPr>
              <p:cNvSpPr/>
              <p:nvPr/>
            </p:nvSpPr>
            <p:spPr>
              <a:xfrm>
                <a:off x="3015376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88" name="Rounded Rectangle 187">
                <a:extLst>
                  <a:ext uri="{FF2B5EF4-FFF2-40B4-BE49-F238E27FC236}">
                    <a16:creationId xmlns:a16="http://schemas.microsoft.com/office/drawing/2014/main" id="{20A7238B-B7E5-2E92-E964-26CDA291D76F}"/>
                  </a:ext>
                </a:extLst>
              </p:cNvPr>
              <p:cNvSpPr/>
              <p:nvPr/>
            </p:nvSpPr>
            <p:spPr>
              <a:xfrm>
                <a:off x="3520257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89" name="Rounded Rectangle 188">
                <a:extLst>
                  <a:ext uri="{FF2B5EF4-FFF2-40B4-BE49-F238E27FC236}">
                    <a16:creationId xmlns:a16="http://schemas.microsoft.com/office/drawing/2014/main" id="{D73353DF-F740-EE81-A776-1AB76D827EAA}"/>
                  </a:ext>
                </a:extLst>
              </p:cNvPr>
              <p:cNvSpPr/>
              <p:nvPr/>
            </p:nvSpPr>
            <p:spPr>
              <a:xfrm>
                <a:off x="4025138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0" name="Rounded Rectangle 189">
                <a:extLst>
                  <a:ext uri="{FF2B5EF4-FFF2-40B4-BE49-F238E27FC236}">
                    <a16:creationId xmlns:a16="http://schemas.microsoft.com/office/drawing/2014/main" id="{E890E8E8-D193-7063-5999-31DA847BB9D0}"/>
                  </a:ext>
                </a:extLst>
              </p:cNvPr>
              <p:cNvSpPr/>
              <p:nvPr/>
            </p:nvSpPr>
            <p:spPr>
              <a:xfrm>
                <a:off x="4530019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191" name="Rounded Rectangle 190">
                <a:extLst>
                  <a:ext uri="{FF2B5EF4-FFF2-40B4-BE49-F238E27FC236}">
                    <a16:creationId xmlns:a16="http://schemas.microsoft.com/office/drawing/2014/main" id="{F9095060-DF17-6A12-61FC-9C26A4AF6D0E}"/>
                  </a:ext>
                </a:extLst>
              </p:cNvPr>
              <p:cNvSpPr/>
              <p:nvPr/>
            </p:nvSpPr>
            <p:spPr>
              <a:xfrm>
                <a:off x="5034900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EC78DE3-DE95-E69F-7CA2-E1F78F263E3E}"/>
              </a:ext>
            </a:extLst>
          </p:cNvPr>
          <p:cNvGrpSpPr/>
          <p:nvPr/>
        </p:nvGrpSpPr>
        <p:grpSpPr>
          <a:xfrm>
            <a:off x="5835044" y="5455805"/>
            <a:ext cx="1614953" cy="465097"/>
            <a:chOff x="4314360" y="4668108"/>
            <a:chExt cx="3563281" cy="1026203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3ED5A27F-F17D-EDEE-3F57-2586E2DFFDDD}"/>
                </a:ext>
              </a:extLst>
            </p:cNvPr>
            <p:cNvGrpSpPr/>
            <p:nvPr/>
          </p:nvGrpSpPr>
          <p:grpSpPr>
            <a:xfrm>
              <a:off x="4314360" y="4668108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EB834920-409B-B07D-9243-302845CD2039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15" name="Rounded Rectangle 214">
                <a:extLst>
                  <a:ext uri="{FF2B5EF4-FFF2-40B4-BE49-F238E27FC236}">
                    <a16:creationId xmlns:a16="http://schemas.microsoft.com/office/drawing/2014/main" id="{709407E4-5B12-2C02-2635-CF69D150A945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6" name="Rounded Rectangle 215">
                <a:extLst>
                  <a:ext uri="{FF2B5EF4-FFF2-40B4-BE49-F238E27FC236}">
                    <a16:creationId xmlns:a16="http://schemas.microsoft.com/office/drawing/2014/main" id="{8F7E5602-D75F-C4AC-7FDC-FB74E209548E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7" name="Rounded Rectangle 216">
                <a:extLst>
                  <a:ext uri="{FF2B5EF4-FFF2-40B4-BE49-F238E27FC236}">
                    <a16:creationId xmlns:a16="http://schemas.microsoft.com/office/drawing/2014/main" id="{43066271-4575-8FA5-BFB9-A04E51DC1808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8" name="Rounded Rectangle 217">
                <a:extLst>
                  <a:ext uri="{FF2B5EF4-FFF2-40B4-BE49-F238E27FC236}">
                    <a16:creationId xmlns:a16="http://schemas.microsoft.com/office/drawing/2014/main" id="{DFE4C080-E8F0-2E48-95FF-08C2F2820F19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9" name="Rounded Rectangle 218">
                <a:extLst>
                  <a:ext uri="{FF2B5EF4-FFF2-40B4-BE49-F238E27FC236}">
                    <a16:creationId xmlns:a16="http://schemas.microsoft.com/office/drawing/2014/main" id="{8DE32964-3537-A653-8DCC-50264A4B3D51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77510213-49E3-1CFF-627A-56E089F35BCD}"/>
                </a:ext>
              </a:extLst>
            </p:cNvPr>
            <p:cNvGrpSpPr/>
            <p:nvPr/>
          </p:nvGrpSpPr>
          <p:grpSpPr>
            <a:xfrm>
              <a:off x="4619790" y="4937986"/>
              <a:ext cx="2952421" cy="474080"/>
              <a:chOff x="2848304" y="3626260"/>
              <a:chExt cx="6495392" cy="1042987"/>
            </a:xfrm>
            <a:solidFill>
              <a:schemeClr val="bg2"/>
            </a:solidFill>
          </p:grpSpPr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2016CB7-53B2-C4B5-3F87-B7F5C8A8B3C5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11" name="Rounded Rectangle 210">
                <a:extLst>
                  <a:ext uri="{FF2B5EF4-FFF2-40B4-BE49-F238E27FC236}">
                    <a16:creationId xmlns:a16="http://schemas.microsoft.com/office/drawing/2014/main" id="{0212E120-40E3-A229-79C2-9D680FC020E9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2" name="Rounded Rectangle 211">
                <a:extLst>
                  <a:ext uri="{FF2B5EF4-FFF2-40B4-BE49-F238E27FC236}">
                    <a16:creationId xmlns:a16="http://schemas.microsoft.com/office/drawing/2014/main" id="{D4644770-A4CD-9361-F742-A19A8909FC6C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13" name="Rounded Rectangle 212">
                <a:extLst>
                  <a:ext uri="{FF2B5EF4-FFF2-40B4-BE49-F238E27FC236}">
                    <a16:creationId xmlns:a16="http://schemas.microsoft.com/office/drawing/2014/main" id="{A32C56F8-3267-03CA-7D0B-2E86194BC69C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399D4246-C4C0-307B-0C29-818C945753A6}"/>
                </a:ext>
              </a:extLst>
            </p:cNvPr>
            <p:cNvGrpSpPr/>
            <p:nvPr/>
          </p:nvGrpSpPr>
          <p:grpSpPr>
            <a:xfrm>
              <a:off x="4925220" y="5220231"/>
              <a:ext cx="2952421" cy="474080"/>
              <a:chOff x="2848304" y="5064535"/>
              <a:chExt cx="6495392" cy="1042987"/>
            </a:xfrm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23258E44-6ABA-D54B-C4FB-ACB1EBE31048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06" name="Rounded Rectangle 205">
                <a:extLst>
                  <a:ext uri="{FF2B5EF4-FFF2-40B4-BE49-F238E27FC236}">
                    <a16:creationId xmlns:a16="http://schemas.microsoft.com/office/drawing/2014/main" id="{28026000-A499-F91D-0060-32A0DA04B618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07" name="Rounded Rectangle 206">
                <a:extLst>
                  <a:ext uri="{FF2B5EF4-FFF2-40B4-BE49-F238E27FC236}">
                    <a16:creationId xmlns:a16="http://schemas.microsoft.com/office/drawing/2014/main" id="{75282237-E04C-C041-2F1B-66F485128473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08" name="Rounded Rectangle 207">
                <a:extLst>
                  <a:ext uri="{FF2B5EF4-FFF2-40B4-BE49-F238E27FC236}">
                    <a16:creationId xmlns:a16="http://schemas.microsoft.com/office/drawing/2014/main" id="{42203EF2-E5D1-E3FD-753C-A0A4BD9264C3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09" name="Rounded Rectangle 208">
                <a:extLst>
                  <a:ext uri="{FF2B5EF4-FFF2-40B4-BE49-F238E27FC236}">
                    <a16:creationId xmlns:a16="http://schemas.microsoft.com/office/drawing/2014/main" id="{3F515586-5C2D-F578-AA38-5EEDA69D3574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8E03A9B-B4C7-F283-A73A-4A5A8932794E}"/>
              </a:ext>
            </a:extLst>
          </p:cNvPr>
          <p:cNvGrpSpPr/>
          <p:nvPr/>
        </p:nvGrpSpPr>
        <p:grpSpPr>
          <a:xfrm>
            <a:off x="5835044" y="3669369"/>
            <a:ext cx="1614953" cy="465097"/>
            <a:chOff x="4314360" y="2881672"/>
            <a:chExt cx="3563281" cy="1026203"/>
          </a:xfrm>
        </p:grpSpPr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B2FD5E28-F097-6EEA-441B-EC475CE7B128}"/>
                </a:ext>
              </a:extLst>
            </p:cNvPr>
            <p:cNvGrpSpPr/>
            <p:nvPr/>
          </p:nvGrpSpPr>
          <p:grpSpPr>
            <a:xfrm>
              <a:off x="4314360" y="2881672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6719F510-9C3F-85A4-76DC-BF3403FE75F8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34" name="Rounded Rectangle 233">
                <a:extLst>
                  <a:ext uri="{FF2B5EF4-FFF2-40B4-BE49-F238E27FC236}">
                    <a16:creationId xmlns:a16="http://schemas.microsoft.com/office/drawing/2014/main" id="{5A517A54-F7E9-559A-6845-0FF0213CAB8A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5" name="Rounded Rectangle 234">
                <a:extLst>
                  <a:ext uri="{FF2B5EF4-FFF2-40B4-BE49-F238E27FC236}">
                    <a16:creationId xmlns:a16="http://schemas.microsoft.com/office/drawing/2014/main" id="{844319CD-03A0-A16D-3335-28CA6AADE9FA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6" name="Rounded Rectangle 235">
                <a:extLst>
                  <a:ext uri="{FF2B5EF4-FFF2-40B4-BE49-F238E27FC236}">
                    <a16:creationId xmlns:a16="http://schemas.microsoft.com/office/drawing/2014/main" id="{3F95A881-9410-91EA-CB5F-72BC6304D018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7" name="Rounded Rectangle 236">
                <a:extLst>
                  <a:ext uri="{FF2B5EF4-FFF2-40B4-BE49-F238E27FC236}">
                    <a16:creationId xmlns:a16="http://schemas.microsoft.com/office/drawing/2014/main" id="{1E3ABA02-5105-0FF0-209E-6C51D48654EB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A2ACB131-522F-68BE-6A6C-48558FC1B23C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F7C49241-7F63-161A-CAE2-3E129A360AD5}"/>
                </a:ext>
              </a:extLst>
            </p:cNvPr>
            <p:cNvGrpSpPr/>
            <p:nvPr/>
          </p:nvGrpSpPr>
          <p:grpSpPr>
            <a:xfrm>
              <a:off x="4925220" y="3433795"/>
              <a:ext cx="2952421" cy="474080"/>
              <a:chOff x="2848304" y="5064535"/>
              <a:chExt cx="6495392" cy="1042987"/>
            </a:xfrm>
            <a:solidFill>
              <a:schemeClr val="bg2"/>
            </a:solidFill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5DCDA6B-1F98-C8C9-56AE-5E83BADB2B4E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B5BE1CD0-30B4-81D3-1DA1-A68882F305B7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0" name="Rounded Rectangle 229">
                <a:extLst>
                  <a:ext uri="{FF2B5EF4-FFF2-40B4-BE49-F238E27FC236}">
                    <a16:creationId xmlns:a16="http://schemas.microsoft.com/office/drawing/2014/main" id="{771B027E-05C8-374A-8A62-A9B8B4936DE6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1" name="Rounded Rectangle 230">
                <a:extLst>
                  <a:ext uri="{FF2B5EF4-FFF2-40B4-BE49-F238E27FC236}">
                    <a16:creationId xmlns:a16="http://schemas.microsoft.com/office/drawing/2014/main" id="{DC11C5C4-FF4B-477F-FEF4-4E9FDB0E5062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32" name="Rounded Rectangle 231">
                <a:extLst>
                  <a:ext uri="{FF2B5EF4-FFF2-40B4-BE49-F238E27FC236}">
                    <a16:creationId xmlns:a16="http://schemas.microsoft.com/office/drawing/2014/main" id="{DD076262-E096-55A9-D941-B1551A8D05EC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F54E2EE5-0983-3FF2-CD67-D9B97B44E953}"/>
                </a:ext>
              </a:extLst>
            </p:cNvPr>
            <p:cNvGrpSpPr/>
            <p:nvPr/>
          </p:nvGrpSpPr>
          <p:grpSpPr>
            <a:xfrm>
              <a:off x="4619790" y="3151550"/>
              <a:ext cx="2952421" cy="474080"/>
              <a:chOff x="2848304" y="3626260"/>
              <a:chExt cx="6495392" cy="1042987"/>
            </a:xfrm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103A3071-AA3B-BF93-5B5E-3B8F0123D46D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5F87A189-ABC1-1C12-2457-CBBED3F64785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087844C6-8D28-06D0-0FC6-D90BA906FF92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27" name="Rounded Rectangle 226">
                <a:extLst>
                  <a:ext uri="{FF2B5EF4-FFF2-40B4-BE49-F238E27FC236}">
                    <a16:creationId xmlns:a16="http://schemas.microsoft.com/office/drawing/2014/main" id="{5FA0FB7A-5CEF-344F-E33F-39FD006B8DDE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87FF0A7-0C89-2E9A-417D-E5FE18065809}"/>
              </a:ext>
            </a:extLst>
          </p:cNvPr>
          <p:cNvGrpSpPr/>
          <p:nvPr/>
        </p:nvGrpSpPr>
        <p:grpSpPr>
          <a:xfrm>
            <a:off x="6676937" y="1295270"/>
            <a:ext cx="1614953" cy="465097"/>
            <a:chOff x="4314360" y="1095236"/>
            <a:chExt cx="3563281" cy="1026203"/>
          </a:xfrm>
        </p:grpSpPr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A96FEAA1-2CBD-8FED-6469-7C37F75CB1AB}"/>
                </a:ext>
              </a:extLst>
            </p:cNvPr>
            <p:cNvGrpSpPr/>
            <p:nvPr/>
          </p:nvGrpSpPr>
          <p:grpSpPr>
            <a:xfrm>
              <a:off x="4925220" y="1647359"/>
              <a:ext cx="2952421" cy="474080"/>
              <a:chOff x="2848304" y="5064535"/>
              <a:chExt cx="6495393" cy="1042987"/>
            </a:xfrm>
            <a:solidFill>
              <a:schemeClr val="bg2"/>
            </a:solidFill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734D593F-3EA0-882C-18EE-BA5D8DA1D169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54" name="Rounded Rectangle 253">
                <a:extLst>
                  <a:ext uri="{FF2B5EF4-FFF2-40B4-BE49-F238E27FC236}">
                    <a16:creationId xmlns:a16="http://schemas.microsoft.com/office/drawing/2014/main" id="{29790296-AA85-7AA8-2F52-5351242F197A}"/>
                  </a:ext>
                </a:extLst>
              </p:cNvPr>
              <p:cNvSpPr/>
              <p:nvPr/>
            </p:nvSpPr>
            <p:spPr>
              <a:xfrm>
                <a:off x="3015376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55" name="Rounded Rectangle 254">
                <a:extLst>
                  <a:ext uri="{FF2B5EF4-FFF2-40B4-BE49-F238E27FC236}">
                    <a16:creationId xmlns:a16="http://schemas.microsoft.com/office/drawing/2014/main" id="{824A25D7-A2A5-AB9D-1EB4-AC42B53ED536}"/>
                  </a:ext>
                </a:extLst>
              </p:cNvPr>
              <p:cNvSpPr/>
              <p:nvPr/>
            </p:nvSpPr>
            <p:spPr>
              <a:xfrm>
                <a:off x="3520257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56" name="Rounded Rectangle 255">
                <a:extLst>
                  <a:ext uri="{FF2B5EF4-FFF2-40B4-BE49-F238E27FC236}">
                    <a16:creationId xmlns:a16="http://schemas.microsoft.com/office/drawing/2014/main" id="{BF1AF721-873D-39EB-8C10-B29C6B172613}"/>
                  </a:ext>
                </a:extLst>
              </p:cNvPr>
              <p:cNvSpPr/>
              <p:nvPr/>
            </p:nvSpPr>
            <p:spPr>
              <a:xfrm>
                <a:off x="4025138" y="5236233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57" name="Rounded Rectangle 256">
                <a:extLst>
                  <a:ext uri="{FF2B5EF4-FFF2-40B4-BE49-F238E27FC236}">
                    <a16:creationId xmlns:a16="http://schemas.microsoft.com/office/drawing/2014/main" id="{BC235704-81CD-2E33-7ABD-62CB3359066F}"/>
                  </a:ext>
                </a:extLst>
              </p:cNvPr>
              <p:cNvSpPr/>
              <p:nvPr/>
            </p:nvSpPr>
            <p:spPr>
              <a:xfrm>
                <a:off x="4530019" y="5236231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C454E586-E331-710C-E16D-9204388118F6}"/>
                </a:ext>
              </a:extLst>
            </p:cNvPr>
            <p:cNvGrpSpPr/>
            <p:nvPr/>
          </p:nvGrpSpPr>
          <p:grpSpPr>
            <a:xfrm>
              <a:off x="4619790" y="1365114"/>
              <a:ext cx="2952421" cy="474080"/>
              <a:chOff x="2848304" y="3626262"/>
              <a:chExt cx="6495393" cy="1042987"/>
            </a:xfrm>
            <a:solidFill>
              <a:schemeClr val="bg2"/>
            </a:solidFill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9290AC81-5ED5-7663-6EB6-D479E681C141}"/>
                  </a:ext>
                </a:extLst>
              </p:cNvPr>
              <p:cNvSpPr/>
              <p:nvPr/>
            </p:nvSpPr>
            <p:spPr>
              <a:xfrm>
                <a:off x="2848304" y="3626262"/>
                <a:ext cx="6495393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50" name="Rounded Rectangle 249">
                <a:extLst>
                  <a:ext uri="{FF2B5EF4-FFF2-40B4-BE49-F238E27FC236}">
                    <a16:creationId xmlns:a16="http://schemas.microsoft.com/office/drawing/2014/main" id="{A36F875E-B27A-00EA-6883-711E0B2C0165}"/>
                  </a:ext>
                </a:extLst>
              </p:cNvPr>
              <p:cNvSpPr/>
              <p:nvPr/>
            </p:nvSpPr>
            <p:spPr>
              <a:xfrm>
                <a:off x="3015376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B0D56313-08AA-3969-CDFD-B1847F083AB1}"/>
                  </a:ext>
                </a:extLst>
              </p:cNvPr>
              <p:cNvSpPr/>
              <p:nvPr/>
            </p:nvSpPr>
            <p:spPr>
              <a:xfrm>
                <a:off x="3520257" y="3797958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52" name="Rounded Rectangle 251">
                <a:extLst>
                  <a:ext uri="{FF2B5EF4-FFF2-40B4-BE49-F238E27FC236}">
                    <a16:creationId xmlns:a16="http://schemas.microsoft.com/office/drawing/2014/main" id="{477840C4-AECA-00E1-18D6-61ED2605137A}"/>
                  </a:ext>
                </a:extLst>
              </p:cNvPr>
              <p:cNvSpPr/>
              <p:nvPr/>
            </p:nvSpPr>
            <p:spPr>
              <a:xfrm>
                <a:off x="4025138" y="3797956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69DCD9A1-99B0-7624-C4DC-B3B311F0991B}"/>
                </a:ext>
              </a:extLst>
            </p:cNvPr>
            <p:cNvGrpSpPr/>
            <p:nvPr/>
          </p:nvGrpSpPr>
          <p:grpSpPr>
            <a:xfrm>
              <a:off x="4314360" y="1095236"/>
              <a:ext cx="2952421" cy="474080"/>
              <a:chOff x="2848304" y="2185988"/>
              <a:chExt cx="6495393" cy="1042987"/>
            </a:xfrm>
          </p:grpSpPr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B386580E-A388-269C-27B7-365F5814FC30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3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44" name="Rounded Rectangle 243">
                <a:extLst>
                  <a:ext uri="{FF2B5EF4-FFF2-40B4-BE49-F238E27FC236}">
                    <a16:creationId xmlns:a16="http://schemas.microsoft.com/office/drawing/2014/main" id="{D8C64A30-2415-F698-6A54-2B1110A5F1B9}"/>
                  </a:ext>
                </a:extLst>
              </p:cNvPr>
              <p:cNvSpPr/>
              <p:nvPr/>
            </p:nvSpPr>
            <p:spPr>
              <a:xfrm>
                <a:off x="3015376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45" name="Rounded Rectangle 244">
                <a:extLst>
                  <a:ext uri="{FF2B5EF4-FFF2-40B4-BE49-F238E27FC236}">
                    <a16:creationId xmlns:a16="http://schemas.microsoft.com/office/drawing/2014/main" id="{0A0792FD-5201-3D89-8B4C-635D35E92427}"/>
                  </a:ext>
                </a:extLst>
              </p:cNvPr>
              <p:cNvSpPr/>
              <p:nvPr/>
            </p:nvSpPr>
            <p:spPr>
              <a:xfrm>
                <a:off x="3520257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46" name="Rounded Rectangle 245">
                <a:extLst>
                  <a:ext uri="{FF2B5EF4-FFF2-40B4-BE49-F238E27FC236}">
                    <a16:creationId xmlns:a16="http://schemas.microsoft.com/office/drawing/2014/main" id="{3BA89CE8-272E-DC55-3010-9039D7D8D56F}"/>
                  </a:ext>
                </a:extLst>
              </p:cNvPr>
              <p:cNvSpPr/>
              <p:nvPr/>
            </p:nvSpPr>
            <p:spPr>
              <a:xfrm>
                <a:off x="4025138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47" name="Rounded Rectangle 246">
                <a:extLst>
                  <a:ext uri="{FF2B5EF4-FFF2-40B4-BE49-F238E27FC236}">
                    <a16:creationId xmlns:a16="http://schemas.microsoft.com/office/drawing/2014/main" id="{960C4216-0E62-2E07-750F-20D20CB8E450}"/>
                  </a:ext>
                </a:extLst>
              </p:cNvPr>
              <p:cNvSpPr/>
              <p:nvPr/>
            </p:nvSpPr>
            <p:spPr>
              <a:xfrm>
                <a:off x="4530019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48" name="Rounded Rectangle 247">
                <a:extLst>
                  <a:ext uri="{FF2B5EF4-FFF2-40B4-BE49-F238E27FC236}">
                    <a16:creationId xmlns:a16="http://schemas.microsoft.com/office/drawing/2014/main" id="{FCF3DFC6-886C-ADAF-34E8-ADAF17739CE1}"/>
                  </a:ext>
                </a:extLst>
              </p:cNvPr>
              <p:cNvSpPr/>
              <p:nvPr/>
            </p:nvSpPr>
            <p:spPr>
              <a:xfrm>
                <a:off x="5034900" y="2357684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EDCAB396-DDD6-7CB4-A9BA-A690EEB40F31}"/>
              </a:ext>
            </a:extLst>
          </p:cNvPr>
          <p:cNvGrpSpPr/>
          <p:nvPr/>
        </p:nvGrpSpPr>
        <p:grpSpPr>
          <a:xfrm>
            <a:off x="6676937" y="4868142"/>
            <a:ext cx="1614953" cy="465097"/>
            <a:chOff x="4314360" y="4668108"/>
            <a:chExt cx="3563281" cy="1026203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97382D45-FF3A-5847-DFB6-BB7BACBF5B31}"/>
                </a:ext>
              </a:extLst>
            </p:cNvPr>
            <p:cNvGrpSpPr/>
            <p:nvPr/>
          </p:nvGrpSpPr>
          <p:grpSpPr>
            <a:xfrm>
              <a:off x="4314360" y="4668108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9263842B-7BB3-7C0A-72AE-124AC81BA256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C56FF1D9-E5F7-0FD5-13DF-0DA2EA4F7706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73" name="Rounded Rectangle 272">
                <a:extLst>
                  <a:ext uri="{FF2B5EF4-FFF2-40B4-BE49-F238E27FC236}">
                    <a16:creationId xmlns:a16="http://schemas.microsoft.com/office/drawing/2014/main" id="{E9D30742-A518-310E-F0EB-D9743782C175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74" name="Rounded Rectangle 273">
                <a:extLst>
                  <a:ext uri="{FF2B5EF4-FFF2-40B4-BE49-F238E27FC236}">
                    <a16:creationId xmlns:a16="http://schemas.microsoft.com/office/drawing/2014/main" id="{FB89C748-B346-EF26-52DC-98B678694C05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75" name="Rounded Rectangle 274">
                <a:extLst>
                  <a:ext uri="{FF2B5EF4-FFF2-40B4-BE49-F238E27FC236}">
                    <a16:creationId xmlns:a16="http://schemas.microsoft.com/office/drawing/2014/main" id="{2DCDA979-92B5-1E78-D62E-9E539DC09A60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76" name="Rounded Rectangle 275">
                <a:extLst>
                  <a:ext uri="{FF2B5EF4-FFF2-40B4-BE49-F238E27FC236}">
                    <a16:creationId xmlns:a16="http://schemas.microsoft.com/office/drawing/2014/main" id="{2E863AA4-8A84-C41E-42D2-873D4BB0DCBF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46E73DF-0CAD-08FA-2049-ABE814844C31}"/>
                </a:ext>
              </a:extLst>
            </p:cNvPr>
            <p:cNvGrpSpPr/>
            <p:nvPr/>
          </p:nvGrpSpPr>
          <p:grpSpPr>
            <a:xfrm>
              <a:off x="4619790" y="4937986"/>
              <a:ext cx="2952421" cy="474080"/>
              <a:chOff x="2848304" y="3626260"/>
              <a:chExt cx="6495392" cy="1042987"/>
            </a:xfrm>
            <a:solidFill>
              <a:schemeClr val="bg2"/>
            </a:solidFill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B5DB43E6-7A6F-8E77-FE4F-49241D75C608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68" name="Rounded Rectangle 267">
                <a:extLst>
                  <a:ext uri="{FF2B5EF4-FFF2-40B4-BE49-F238E27FC236}">
                    <a16:creationId xmlns:a16="http://schemas.microsoft.com/office/drawing/2014/main" id="{343A910C-1D23-4A75-3C6E-785E814830C7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69" name="Rounded Rectangle 268">
                <a:extLst>
                  <a:ext uri="{FF2B5EF4-FFF2-40B4-BE49-F238E27FC236}">
                    <a16:creationId xmlns:a16="http://schemas.microsoft.com/office/drawing/2014/main" id="{DCFA8561-0A1D-C048-1838-D9694EF73C8B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70" name="Rounded Rectangle 269">
                <a:extLst>
                  <a:ext uri="{FF2B5EF4-FFF2-40B4-BE49-F238E27FC236}">
                    <a16:creationId xmlns:a16="http://schemas.microsoft.com/office/drawing/2014/main" id="{14698986-13ED-6D1D-BD41-DC7C5974D8E8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1578B7-0FF8-949E-EF13-BB3AB8F50C0E}"/>
                </a:ext>
              </a:extLst>
            </p:cNvPr>
            <p:cNvGrpSpPr/>
            <p:nvPr/>
          </p:nvGrpSpPr>
          <p:grpSpPr>
            <a:xfrm>
              <a:off x="4925220" y="5220231"/>
              <a:ext cx="2952421" cy="474080"/>
              <a:chOff x="2848304" y="5064535"/>
              <a:chExt cx="6495392" cy="1042987"/>
            </a:xfrm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107610E4-4EA3-149D-569E-CE1E90C6D4F3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63" name="Rounded Rectangle 262">
                <a:extLst>
                  <a:ext uri="{FF2B5EF4-FFF2-40B4-BE49-F238E27FC236}">
                    <a16:creationId xmlns:a16="http://schemas.microsoft.com/office/drawing/2014/main" id="{6BFA524D-0696-000F-69C4-8C45634B78A9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64" name="Rounded Rectangle 263">
                <a:extLst>
                  <a:ext uri="{FF2B5EF4-FFF2-40B4-BE49-F238E27FC236}">
                    <a16:creationId xmlns:a16="http://schemas.microsoft.com/office/drawing/2014/main" id="{201EE9A9-4CE9-CECA-9928-081ADDE1642B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65" name="Rounded Rectangle 264">
                <a:extLst>
                  <a:ext uri="{FF2B5EF4-FFF2-40B4-BE49-F238E27FC236}">
                    <a16:creationId xmlns:a16="http://schemas.microsoft.com/office/drawing/2014/main" id="{D766EBF0-1D4C-518B-80AD-0D824C6472A7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66" name="Rounded Rectangle 265">
                <a:extLst>
                  <a:ext uri="{FF2B5EF4-FFF2-40B4-BE49-F238E27FC236}">
                    <a16:creationId xmlns:a16="http://schemas.microsoft.com/office/drawing/2014/main" id="{F27BEEB7-3129-1C9F-C1D7-88493F5BDB8B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C1F7A29B-9B52-B022-3144-284143EFB807}"/>
              </a:ext>
            </a:extLst>
          </p:cNvPr>
          <p:cNvGrpSpPr/>
          <p:nvPr/>
        </p:nvGrpSpPr>
        <p:grpSpPr>
          <a:xfrm>
            <a:off x="6676937" y="3081706"/>
            <a:ext cx="1614953" cy="465097"/>
            <a:chOff x="4314360" y="2881672"/>
            <a:chExt cx="3563281" cy="1026203"/>
          </a:xfrm>
        </p:grpSpPr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DA241209-E075-1386-CAC5-58B3B06F4531}"/>
                </a:ext>
              </a:extLst>
            </p:cNvPr>
            <p:cNvGrpSpPr/>
            <p:nvPr/>
          </p:nvGrpSpPr>
          <p:grpSpPr>
            <a:xfrm>
              <a:off x="4314360" y="2881672"/>
              <a:ext cx="2952421" cy="474080"/>
              <a:chOff x="2848304" y="2185988"/>
              <a:chExt cx="6495392" cy="1042987"/>
            </a:xfrm>
            <a:solidFill>
              <a:schemeClr val="bg2"/>
            </a:solidFill>
          </p:grpSpPr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B98DE095-B1CC-D3B3-E48E-D8C2D80CFBCA}"/>
                  </a:ext>
                </a:extLst>
              </p:cNvPr>
              <p:cNvSpPr/>
              <p:nvPr/>
            </p:nvSpPr>
            <p:spPr>
              <a:xfrm>
                <a:off x="2848304" y="2185988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91" name="Rounded Rectangle 290">
                <a:extLst>
                  <a:ext uri="{FF2B5EF4-FFF2-40B4-BE49-F238E27FC236}">
                    <a16:creationId xmlns:a16="http://schemas.microsoft.com/office/drawing/2014/main" id="{7C58F112-6C75-622B-106F-3A12E4807BD4}"/>
                  </a:ext>
                </a:extLst>
              </p:cNvPr>
              <p:cNvSpPr/>
              <p:nvPr/>
            </p:nvSpPr>
            <p:spPr>
              <a:xfrm>
                <a:off x="3015376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92" name="Rounded Rectangle 291">
                <a:extLst>
                  <a:ext uri="{FF2B5EF4-FFF2-40B4-BE49-F238E27FC236}">
                    <a16:creationId xmlns:a16="http://schemas.microsoft.com/office/drawing/2014/main" id="{ED526640-CDBD-B077-35F7-EF7F88F02330}"/>
                  </a:ext>
                </a:extLst>
              </p:cNvPr>
              <p:cNvSpPr/>
              <p:nvPr/>
            </p:nvSpPr>
            <p:spPr>
              <a:xfrm>
                <a:off x="3520257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93" name="Rounded Rectangle 292">
                <a:extLst>
                  <a:ext uri="{FF2B5EF4-FFF2-40B4-BE49-F238E27FC236}">
                    <a16:creationId xmlns:a16="http://schemas.microsoft.com/office/drawing/2014/main" id="{C9D241B1-1DDB-235C-4EFD-E88DD56ADDA6}"/>
                  </a:ext>
                </a:extLst>
              </p:cNvPr>
              <p:cNvSpPr/>
              <p:nvPr/>
            </p:nvSpPr>
            <p:spPr>
              <a:xfrm>
                <a:off x="4025138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94" name="Rounded Rectangle 293">
                <a:extLst>
                  <a:ext uri="{FF2B5EF4-FFF2-40B4-BE49-F238E27FC236}">
                    <a16:creationId xmlns:a16="http://schemas.microsoft.com/office/drawing/2014/main" id="{DEC836F5-C438-6DE2-7932-3AE2EA4A6CD8}"/>
                  </a:ext>
                </a:extLst>
              </p:cNvPr>
              <p:cNvSpPr/>
              <p:nvPr/>
            </p:nvSpPr>
            <p:spPr>
              <a:xfrm>
                <a:off x="4530019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95" name="Rounded Rectangle 294">
                <a:extLst>
                  <a:ext uri="{FF2B5EF4-FFF2-40B4-BE49-F238E27FC236}">
                    <a16:creationId xmlns:a16="http://schemas.microsoft.com/office/drawing/2014/main" id="{F9A3CFBF-0157-5C00-7B69-835E95432E60}"/>
                  </a:ext>
                </a:extLst>
              </p:cNvPr>
              <p:cNvSpPr/>
              <p:nvPr/>
            </p:nvSpPr>
            <p:spPr>
              <a:xfrm>
                <a:off x="5034900" y="2357685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B1A00BD6-DF8A-D775-389E-72D9EFC15E5E}"/>
                </a:ext>
              </a:extLst>
            </p:cNvPr>
            <p:cNvGrpSpPr/>
            <p:nvPr/>
          </p:nvGrpSpPr>
          <p:grpSpPr>
            <a:xfrm>
              <a:off x="4925220" y="3433795"/>
              <a:ext cx="2952421" cy="474080"/>
              <a:chOff x="2848304" y="5064535"/>
              <a:chExt cx="6495392" cy="1042987"/>
            </a:xfrm>
            <a:solidFill>
              <a:schemeClr val="bg2"/>
            </a:solidFill>
          </p:grpSpPr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DFBF58C9-5C20-2FE2-AC0A-14A38321C020}"/>
                  </a:ext>
                </a:extLst>
              </p:cNvPr>
              <p:cNvSpPr/>
              <p:nvPr/>
            </p:nvSpPr>
            <p:spPr>
              <a:xfrm>
                <a:off x="2848304" y="5064535"/>
                <a:ext cx="6495392" cy="104298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86" name="Rounded Rectangle 285">
                <a:extLst>
                  <a:ext uri="{FF2B5EF4-FFF2-40B4-BE49-F238E27FC236}">
                    <a16:creationId xmlns:a16="http://schemas.microsoft.com/office/drawing/2014/main" id="{FBFC75D3-8814-D202-2C2E-02946CE5B81F}"/>
                  </a:ext>
                </a:extLst>
              </p:cNvPr>
              <p:cNvSpPr/>
              <p:nvPr/>
            </p:nvSpPr>
            <p:spPr>
              <a:xfrm>
                <a:off x="3015376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87" name="Rounded Rectangle 286">
                <a:extLst>
                  <a:ext uri="{FF2B5EF4-FFF2-40B4-BE49-F238E27FC236}">
                    <a16:creationId xmlns:a16="http://schemas.microsoft.com/office/drawing/2014/main" id="{D1589CC5-002C-A818-228D-B024DAAB46EE}"/>
                  </a:ext>
                </a:extLst>
              </p:cNvPr>
              <p:cNvSpPr/>
              <p:nvPr/>
            </p:nvSpPr>
            <p:spPr>
              <a:xfrm>
                <a:off x="3520257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88" name="Rounded Rectangle 287">
                <a:extLst>
                  <a:ext uri="{FF2B5EF4-FFF2-40B4-BE49-F238E27FC236}">
                    <a16:creationId xmlns:a16="http://schemas.microsoft.com/office/drawing/2014/main" id="{1B0AD19D-AF87-6707-88B0-D0E6F5CC0A42}"/>
                  </a:ext>
                </a:extLst>
              </p:cNvPr>
              <p:cNvSpPr/>
              <p:nvPr/>
            </p:nvSpPr>
            <p:spPr>
              <a:xfrm>
                <a:off x="4025138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89" name="Rounded Rectangle 288">
                <a:extLst>
                  <a:ext uri="{FF2B5EF4-FFF2-40B4-BE49-F238E27FC236}">
                    <a16:creationId xmlns:a16="http://schemas.microsoft.com/office/drawing/2014/main" id="{75E4F135-6C12-A62D-0A79-73947733CE94}"/>
                  </a:ext>
                </a:extLst>
              </p:cNvPr>
              <p:cNvSpPr/>
              <p:nvPr/>
            </p:nvSpPr>
            <p:spPr>
              <a:xfrm>
                <a:off x="4530019" y="5236232"/>
                <a:ext cx="337809" cy="726802"/>
              </a:xfrm>
              <a:prstGeom prst="roundRect">
                <a:avLst/>
              </a:prstGeom>
              <a:grpFill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E2E2FD14-5A7F-E192-7AE3-B0B067316CA4}"/>
                </a:ext>
              </a:extLst>
            </p:cNvPr>
            <p:cNvGrpSpPr/>
            <p:nvPr/>
          </p:nvGrpSpPr>
          <p:grpSpPr>
            <a:xfrm>
              <a:off x="4619790" y="3151550"/>
              <a:ext cx="2952421" cy="474080"/>
              <a:chOff x="2848304" y="3626260"/>
              <a:chExt cx="6495392" cy="1042987"/>
            </a:xfrm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83B26804-9A4C-951C-0DBE-7D080919FFA4}"/>
                  </a:ext>
                </a:extLst>
              </p:cNvPr>
              <p:cNvSpPr/>
              <p:nvPr/>
            </p:nvSpPr>
            <p:spPr>
              <a:xfrm>
                <a:off x="2848304" y="3626260"/>
                <a:ext cx="6495392" cy="10429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/>
              </a:p>
            </p:txBody>
          </p:sp>
          <p:sp>
            <p:nvSpPr>
              <p:cNvPr id="282" name="Rounded Rectangle 281">
                <a:extLst>
                  <a:ext uri="{FF2B5EF4-FFF2-40B4-BE49-F238E27FC236}">
                    <a16:creationId xmlns:a16="http://schemas.microsoft.com/office/drawing/2014/main" id="{19436BBB-6268-AEE1-A7CA-8D5632579BF1}"/>
                  </a:ext>
                </a:extLst>
              </p:cNvPr>
              <p:cNvSpPr/>
              <p:nvPr/>
            </p:nvSpPr>
            <p:spPr>
              <a:xfrm>
                <a:off x="3015376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83" name="Rounded Rectangle 282">
                <a:extLst>
                  <a:ext uri="{FF2B5EF4-FFF2-40B4-BE49-F238E27FC236}">
                    <a16:creationId xmlns:a16="http://schemas.microsoft.com/office/drawing/2014/main" id="{67C09A1E-756B-E687-1E39-FBAD8EFBE2FC}"/>
                  </a:ext>
                </a:extLst>
              </p:cNvPr>
              <p:cNvSpPr/>
              <p:nvPr/>
            </p:nvSpPr>
            <p:spPr>
              <a:xfrm>
                <a:off x="3520257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  <p:sp>
            <p:nvSpPr>
              <p:cNvPr id="284" name="Rounded Rectangle 283">
                <a:extLst>
                  <a:ext uri="{FF2B5EF4-FFF2-40B4-BE49-F238E27FC236}">
                    <a16:creationId xmlns:a16="http://schemas.microsoft.com/office/drawing/2014/main" id="{6958E7C6-EF3E-2A18-3899-19570FA53DA2}"/>
                  </a:ext>
                </a:extLst>
              </p:cNvPr>
              <p:cNvSpPr/>
              <p:nvPr/>
            </p:nvSpPr>
            <p:spPr>
              <a:xfrm>
                <a:off x="4025138" y="3797957"/>
                <a:ext cx="337809" cy="726802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 sz="1200" dirty="0"/>
              </a:p>
            </p:txBody>
          </p:sp>
        </p:grpSp>
      </p:grpSp>
      <p:sp>
        <p:nvSpPr>
          <p:cNvPr id="296" name="Oval 295">
            <a:extLst>
              <a:ext uri="{FF2B5EF4-FFF2-40B4-BE49-F238E27FC236}">
                <a16:creationId xmlns:a16="http://schemas.microsoft.com/office/drawing/2014/main" id="{E3EE4531-F83B-E365-3B03-F725006AD16B}"/>
              </a:ext>
            </a:extLst>
          </p:cNvPr>
          <p:cNvSpPr/>
          <p:nvPr/>
        </p:nvSpPr>
        <p:spPr>
          <a:xfrm>
            <a:off x="518621" y="1865455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1EE4AFAD-8540-DE06-F35F-B2DB7709EF6A}"/>
              </a:ext>
            </a:extLst>
          </p:cNvPr>
          <p:cNvSpPr/>
          <p:nvPr/>
        </p:nvSpPr>
        <p:spPr>
          <a:xfrm>
            <a:off x="518621" y="4104701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77A66BCB-724F-DF8A-026A-BA1CF545503B}"/>
              </a:ext>
            </a:extLst>
          </p:cNvPr>
          <p:cNvSpPr/>
          <p:nvPr/>
        </p:nvSpPr>
        <p:spPr>
          <a:xfrm>
            <a:off x="10032285" y="1295270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7D80CBBD-C59A-A4A5-E1E8-DB03D495B0A4}"/>
              </a:ext>
            </a:extLst>
          </p:cNvPr>
          <p:cNvSpPr/>
          <p:nvPr/>
        </p:nvSpPr>
        <p:spPr>
          <a:xfrm>
            <a:off x="10054284" y="3066256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9DE36530-B1AD-AA07-DF7D-6EAEF5D7FC54}"/>
              </a:ext>
            </a:extLst>
          </p:cNvPr>
          <p:cNvSpPr/>
          <p:nvPr/>
        </p:nvSpPr>
        <p:spPr>
          <a:xfrm>
            <a:off x="10032285" y="4847897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40D18BEB-B615-3FD4-66BE-61FCB0E5705A}"/>
              </a:ext>
            </a:extLst>
          </p:cNvPr>
          <p:cNvCxnSpPr>
            <a:stCxn id="301" idx="2"/>
            <a:endCxn id="89" idx="3"/>
          </p:cNvCxnSpPr>
          <p:nvPr/>
        </p:nvCxnSpPr>
        <p:spPr>
          <a:xfrm flipH="1">
            <a:off x="8374856" y="5510679"/>
            <a:ext cx="165742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74ED2A25-F2B5-28D5-F62B-46108ED77994}"/>
              </a:ext>
            </a:extLst>
          </p:cNvPr>
          <p:cNvCxnSpPr>
            <a:cxnSpLocks/>
            <a:stCxn id="300" idx="2"/>
            <a:endCxn id="88" idx="3"/>
          </p:cNvCxnSpPr>
          <p:nvPr/>
        </p:nvCxnSpPr>
        <p:spPr>
          <a:xfrm flipH="1">
            <a:off x="8374857" y="3729038"/>
            <a:ext cx="167942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6F9178C0-A4D0-4DC6-AED2-9101940DF29E}"/>
              </a:ext>
            </a:extLst>
          </p:cNvPr>
          <p:cNvCxnSpPr>
            <a:cxnSpLocks/>
            <a:stCxn id="299" idx="2"/>
            <a:endCxn id="87" idx="3"/>
          </p:cNvCxnSpPr>
          <p:nvPr/>
        </p:nvCxnSpPr>
        <p:spPr>
          <a:xfrm flipH="1" flipV="1">
            <a:off x="8374858" y="1947397"/>
            <a:ext cx="1657427" cy="106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C10C784-32E9-66E8-B565-556A94F169C6}"/>
              </a:ext>
            </a:extLst>
          </p:cNvPr>
          <p:cNvCxnSpPr>
            <a:cxnSpLocks/>
            <a:stCxn id="296" idx="6"/>
            <a:endCxn id="87" idx="1"/>
          </p:cNvCxnSpPr>
          <p:nvPr/>
        </p:nvCxnSpPr>
        <p:spPr>
          <a:xfrm flipV="1">
            <a:off x="2159713" y="1947397"/>
            <a:ext cx="1657431" cy="58084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CC95F058-6C16-B5CF-5EE9-35A5DE77ABB3}"/>
              </a:ext>
            </a:extLst>
          </p:cNvPr>
          <p:cNvCxnSpPr>
            <a:cxnSpLocks/>
            <a:stCxn id="296" idx="6"/>
            <a:endCxn id="88" idx="1"/>
          </p:cNvCxnSpPr>
          <p:nvPr/>
        </p:nvCxnSpPr>
        <p:spPr>
          <a:xfrm>
            <a:off x="2159713" y="2528237"/>
            <a:ext cx="1657430" cy="12008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1C654AB3-F848-263B-FAB6-CD8C5B652D33}"/>
              </a:ext>
            </a:extLst>
          </p:cNvPr>
          <p:cNvCxnSpPr>
            <a:cxnSpLocks/>
            <a:stCxn id="297" idx="6"/>
            <a:endCxn id="89" idx="1"/>
          </p:cNvCxnSpPr>
          <p:nvPr/>
        </p:nvCxnSpPr>
        <p:spPr>
          <a:xfrm>
            <a:off x="2159713" y="4767483"/>
            <a:ext cx="1657429" cy="74319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5272727F-FAED-8267-8D7F-D2CFFDF09DBC}"/>
              </a:ext>
            </a:extLst>
          </p:cNvPr>
          <p:cNvCxnSpPr>
            <a:cxnSpLocks/>
            <a:stCxn id="297" idx="6"/>
            <a:endCxn id="88" idx="1"/>
          </p:cNvCxnSpPr>
          <p:nvPr/>
        </p:nvCxnSpPr>
        <p:spPr>
          <a:xfrm flipV="1">
            <a:off x="2159713" y="3729038"/>
            <a:ext cx="1657430" cy="10384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A582D648-75B2-73DC-891B-6B277E78AEC5}"/>
              </a:ext>
            </a:extLst>
          </p:cNvPr>
          <p:cNvCxnSpPr>
            <a:cxnSpLocks/>
            <a:stCxn id="297" idx="6"/>
            <a:endCxn id="87" idx="1"/>
          </p:cNvCxnSpPr>
          <p:nvPr/>
        </p:nvCxnSpPr>
        <p:spPr>
          <a:xfrm flipV="1">
            <a:off x="2159713" y="1947397"/>
            <a:ext cx="1657431" cy="282008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C85C14AE-7679-2479-C66E-6BB0C023D965}"/>
              </a:ext>
            </a:extLst>
          </p:cNvPr>
          <p:cNvCxnSpPr>
            <a:cxnSpLocks/>
            <a:stCxn id="296" idx="6"/>
            <a:endCxn id="89" idx="1"/>
          </p:cNvCxnSpPr>
          <p:nvPr/>
        </p:nvCxnSpPr>
        <p:spPr>
          <a:xfrm>
            <a:off x="2159713" y="2528237"/>
            <a:ext cx="1657429" cy="298244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BDFA048E-1876-9028-2A00-B7E820B41704}"/>
              </a:ext>
            </a:extLst>
          </p:cNvPr>
          <p:cNvCxnSpPr>
            <a:cxnSpLocks/>
            <a:stCxn id="299" idx="2"/>
            <a:endCxn id="88" idx="3"/>
          </p:cNvCxnSpPr>
          <p:nvPr/>
        </p:nvCxnSpPr>
        <p:spPr>
          <a:xfrm flipH="1">
            <a:off x="8374857" y="1958052"/>
            <a:ext cx="1657428" cy="177098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AAE5609B-B392-8BCE-324E-FD6544E34BA0}"/>
              </a:ext>
            </a:extLst>
          </p:cNvPr>
          <p:cNvCxnSpPr>
            <a:cxnSpLocks/>
            <a:stCxn id="299" idx="2"/>
            <a:endCxn id="89" idx="3"/>
          </p:cNvCxnSpPr>
          <p:nvPr/>
        </p:nvCxnSpPr>
        <p:spPr>
          <a:xfrm flipH="1">
            <a:off x="8374856" y="1958052"/>
            <a:ext cx="1657429" cy="355262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C985E798-63A9-6929-AA0A-211940020A98}"/>
              </a:ext>
            </a:extLst>
          </p:cNvPr>
          <p:cNvCxnSpPr>
            <a:cxnSpLocks/>
            <a:stCxn id="300" idx="2"/>
            <a:endCxn id="87" idx="3"/>
          </p:cNvCxnSpPr>
          <p:nvPr/>
        </p:nvCxnSpPr>
        <p:spPr>
          <a:xfrm flipH="1" flipV="1">
            <a:off x="8374858" y="1947397"/>
            <a:ext cx="1679426" cy="17816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017DA618-2011-7912-8522-3EDE18903AE7}"/>
              </a:ext>
            </a:extLst>
          </p:cNvPr>
          <p:cNvCxnSpPr>
            <a:cxnSpLocks/>
            <a:stCxn id="300" idx="2"/>
            <a:endCxn id="89" idx="3"/>
          </p:cNvCxnSpPr>
          <p:nvPr/>
        </p:nvCxnSpPr>
        <p:spPr>
          <a:xfrm flipH="1">
            <a:off x="8374856" y="3729038"/>
            <a:ext cx="1679428" cy="17816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12F3655A-DEBD-A853-0D6C-1BD2B05DF7AF}"/>
              </a:ext>
            </a:extLst>
          </p:cNvPr>
          <p:cNvCxnSpPr>
            <a:cxnSpLocks/>
            <a:stCxn id="301" idx="2"/>
            <a:endCxn id="87" idx="3"/>
          </p:cNvCxnSpPr>
          <p:nvPr/>
        </p:nvCxnSpPr>
        <p:spPr>
          <a:xfrm flipH="1" flipV="1">
            <a:off x="8374858" y="1947397"/>
            <a:ext cx="1657427" cy="356328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AE6D6DBF-5AE6-3AA9-FABC-4B7F76B4CB10}"/>
              </a:ext>
            </a:extLst>
          </p:cNvPr>
          <p:cNvCxnSpPr>
            <a:cxnSpLocks/>
            <a:stCxn id="301" idx="2"/>
            <a:endCxn id="88" idx="3"/>
          </p:cNvCxnSpPr>
          <p:nvPr/>
        </p:nvCxnSpPr>
        <p:spPr>
          <a:xfrm flipH="1" flipV="1">
            <a:off x="8374857" y="3729038"/>
            <a:ext cx="1657428" cy="17816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942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C042D3-08CE-08B3-271A-48D333042461}"/>
              </a:ext>
            </a:extLst>
          </p:cNvPr>
          <p:cNvSpPr/>
          <p:nvPr/>
        </p:nvSpPr>
        <p:spPr>
          <a:xfrm>
            <a:off x="4863548" y="3196729"/>
            <a:ext cx="4386469" cy="25115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21AF2-D4AA-9B16-279D-A5CA760F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Log Retention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9F9D844-3438-718A-FDE7-CBCF5A894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log.retention.hours</a:t>
            </a:r>
            <a:r>
              <a:rPr lang="en-US" dirty="0"/>
              <a:t>=&lt;hours&gt; to keep</a:t>
            </a:r>
          </a:p>
          <a:p>
            <a:r>
              <a:rPr lang="en-US" dirty="0" err="1"/>
              <a:t>log.retention.bytes</a:t>
            </a:r>
            <a:r>
              <a:rPr lang="en-US" dirty="0"/>
              <a:t>=&lt;bytes&gt; to keep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CE21D1-8F56-57A1-42AE-BC102BB24CCB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2026AE-589F-C663-21A3-DB911790B07D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F4C76A-EBF2-82F5-E501-761E07642D8C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BAB996-A228-B6F6-2427-C750F890175C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E9B7D6-838F-7D6F-0ACC-DAF4E9A64222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9EB5C0-56A8-7A01-EBFF-2EE92CB877CD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E0C924C-FF0C-6A90-FDA9-775BC8421252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617B30-23C0-D5FB-EC71-0BB27812C6B4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593670-670B-F949-DFE6-61B6D6C5A65A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E1FEC8-3EEE-41C7-11A7-DC27C2EAAC7F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66C4043-5F1F-D246-8ABD-03D88C35E2D1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0C8889E-67A4-9166-87F3-620D38F78E53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3B5B60-D91C-57C4-B7B0-628D89F6D997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4D79265A-20B8-8888-4C11-A806C0AE975E}"/>
              </a:ext>
            </a:extLst>
          </p:cNvPr>
          <p:cNvSpPr/>
          <p:nvPr/>
        </p:nvSpPr>
        <p:spPr>
          <a:xfrm>
            <a:off x="5150114" y="5325453"/>
            <a:ext cx="3873193" cy="50292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disk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18E6993E-95DD-5E9E-8477-1FAE417A5FD9}"/>
              </a:ext>
            </a:extLst>
          </p:cNvPr>
          <p:cNvSpPr/>
          <p:nvPr/>
        </p:nvSpPr>
        <p:spPr>
          <a:xfrm rot="5400000">
            <a:off x="6878624" y="3060638"/>
            <a:ext cx="416174" cy="3873193"/>
          </a:xfrm>
          <a:prstGeom prst="rightBrac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EDCD29-4F42-3687-F54D-BEC15AEE33F4}"/>
              </a:ext>
            </a:extLst>
          </p:cNvPr>
          <p:cNvSpPr txBox="1"/>
          <p:nvPr/>
        </p:nvSpPr>
        <p:spPr>
          <a:xfrm>
            <a:off x="6578432" y="3196729"/>
            <a:ext cx="1016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Retained</a:t>
            </a:r>
            <a:endParaRPr lang="en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7D8B3F-15B1-FCDB-99CD-0BC16B6F8844}"/>
              </a:ext>
            </a:extLst>
          </p:cNvPr>
          <p:cNvSpPr txBox="1"/>
          <p:nvPr/>
        </p:nvSpPr>
        <p:spPr>
          <a:xfrm>
            <a:off x="3643132" y="3196729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Deleted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94834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8A5BA-4B24-4253-355D-94863D86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9027-2D2A-5F4A-F27A-264F8D12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Tiered Storage in Apache Kafka 4.0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4C78-8684-CF7A-F6F5-642AC77D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Extended Retention:</a:t>
            </a:r>
            <a:br>
              <a:rPr lang="en-US" b="1" dirty="0"/>
            </a:br>
            <a:r>
              <a:rPr lang="en-US" dirty="0"/>
              <a:t>Maintain historical data indefinitely without overwhelming local disks.</a:t>
            </a:r>
          </a:p>
          <a:p>
            <a:r>
              <a:rPr lang="en-US" b="1" dirty="0"/>
              <a:t>Active Data:</a:t>
            </a:r>
            <a:br>
              <a:rPr lang="en-US" b="1" dirty="0"/>
            </a:br>
            <a:r>
              <a:rPr lang="en-US" dirty="0"/>
              <a:t>Recent data remains on local disks for quick access.</a:t>
            </a:r>
          </a:p>
          <a:p>
            <a:r>
              <a:rPr lang="en-US" b="1" dirty="0"/>
              <a:t>Archived Data:</a:t>
            </a:r>
            <a:br>
              <a:rPr lang="en-US" b="1" dirty="0"/>
            </a:br>
            <a:r>
              <a:rPr lang="en-US" dirty="0"/>
              <a:t>Older segments are transferred to a remote tier transparently.</a:t>
            </a:r>
          </a:p>
        </p:txBody>
      </p:sp>
    </p:spTree>
    <p:extLst>
      <p:ext uri="{BB962C8B-B14F-4D97-AF65-F5344CB8AC3E}">
        <p14:creationId xmlns:p14="http://schemas.microsoft.com/office/powerpoint/2010/main" val="2715280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0EF7-1372-82CC-CD60-90984297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0B709D-FAE3-9C4C-C451-FA472756A587}"/>
              </a:ext>
            </a:extLst>
          </p:cNvPr>
          <p:cNvSpPr/>
          <p:nvPr/>
        </p:nvSpPr>
        <p:spPr>
          <a:xfrm>
            <a:off x="4863548" y="3196729"/>
            <a:ext cx="4386469" cy="25115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7201E-89E2-F7BB-70F5-A9F08A5A0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Log Retention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6841F7C4-ECDD-1CC0-0D79-79150F54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remote.log.enabled</a:t>
            </a:r>
            <a:r>
              <a:rPr lang="en-US" dirty="0"/>
              <a:t>=true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3CF02-6F34-E58A-1D0E-B9109B791252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0690A0-511B-34CF-49A4-904FAC706F38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944E8A-E127-A8B5-AA38-4E4CEFC0E98A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C5BBCB-9F58-CBCA-4D05-0AECB0263B7E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78922D-C637-6313-509F-4B608CAE914C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C3AC0B-F869-8CAA-B776-717F09D8D1D2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B65C9C-D838-C2E9-7002-A63CE42C5B3D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635B16-69EE-3345-CB07-AFA676D5D1A5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7E4EB3-A9A1-6F36-4AAD-F3D5C61A5E9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AF2BF6D-10DA-A27D-8C58-32E68813159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3FD38EC-B5A0-5ED7-5D0F-E075A940602D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4B34E99-A0F9-462D-9829-0AFC23532F26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36D5E0-5EF7-E3A8-DBE1-A275FFEFCFE9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18FF1254-2626-0857-1EDB-BD761A693DB4}"/>
              </a:ext>
            </a:extLst>
          </p:cNvPr>
          <p:cNvSpPr/>
          <p:nvPr/>
        </p:nvSpPr>
        <p:spPr>
          <a:xfrm>
            <a:off x="5150114" y="5325453"/>
            <a:ext cx="3873193" cy="50292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disk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0F7D015C-46FD-1015-14DB-C3AE78DBE0F0}"/>
              </a:ext>
            </a:extLst>
          </p:cNvPr>
          <p:cNvSpPr/>
          <p:nvPr/>
        </p:nvSpPr>
        <p:spPr>
          <a:xfrm rot="5400000">
            <a:off x="6878624" y="3060638"/>
            <a:ext cx="416174" cy="3873193"/>
          </a:xfrm>
          <a:prstGeom prst="rightBrac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2C2AEC-F5DC-6029-0843-BA769849C86D}"/>
              </a:ext>
            </a:extLst>
          </p:cNvPr>
          <p:cNvSpPr txBox="1"/>
          <p:nvPr/>
        </p:nvSpPr>
        <p:spPr>
          <a:xfrm>
            <a:off x="6578432" y="3196729"/>
            <a:ext cx="1016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Retained</a:t>
            </a:r>
            <a:endParaRPr lang="en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A62A0-6218-680E-0DA0-6F2E72FF0086}"/>
              </a:ext>
            </a:extLst>
          </p:cNvPr>
          <p:cNvSpPr txBox="1"/>
          <p:nvPr/>
        </p:nvSpPr>
        <p:spPr>
          <a:xfrm>
            <a:off x="3643132" y="3196729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Deleted</a:t>
            </a:r>
            <a:endParaRPr lang="en-RU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A1D96CE4-067A-DF49-8ED0-05A77949ED17}"/>
              </a:ext>
            </a:extLst>
          </p:cNvPr>
          <p:cNvSpPr/>
          <p:nvPr/>
        </p:nvSpPr>
        <p:spPr>
          <a:xfrm>
            <a:off x="2173357" y="4937165"/>
            <a:ext cx="2596512" cy="123979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S3 | HDFS | 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85F50A-B7E4-1E41-4941-57B05DFDFDC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299496" y="4524759"/>
            <a:ext cx="92762" cy="68056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09AC46-E6DB-8300-921F-A0027E1603BA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618968" y="4524759"/>
            <a:ext cx="185409" cy="68056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4D7EC7-5B9D-82DE-1AA1-4EDDE52C13A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804377" y="4524759"/>
            <a:ext cx="504881" cy="72680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BF3316-CABD-0EB9-C79D-4B7BD9B05F2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022690" y="4524759"/>
            <a:ext cx="791449" cy="8006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386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>
                <a:solidFill>
                  <a:schemeClr val="bg2"/>
                </a:solidFill>
              </a:rPr>
              <a:t>Brokers</a:t>
            </a:r>
          </a:p>
          <a:p>
            <a:r>
              <a:rPr lang="en-RU" dirty="0">
                <a:solidFill>
                  <a:schemeClr val="bg2"/>
                </a:solidFill>
              </a:rPr>
              <a:t>Topics and Partitions</a:t>
            </a:r>
          </a:p>
          <a:p>
            <a:r>
              <a:rPr lang="en-GB" dirty="0"/>
              <a:t>Records (or messages)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record consists of a key, a value, and metadata.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Records are organized in a log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record have unique offset</a:t>
            </a:r>
            <a:r>
              <a:rPr lang="ru-RU" dirty="0"/>
              <a:t> </a:t>
            </a:r>
            <a:r>
              <a:rPr lang="en-US" dirty="0"/>
              <a:t>within partition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Records are stored durably across the cluster.</a:t>
            </a:r>
          </a:p>
        </p:txBody>
      </p:sp>
    </p:spTree>
    <p:extLst>
      <p:ext uri="{BB962C8B-B14F-4D97-AF65-F5344CB8AC3E}">
        <p14:creationId xmlns:p14="http://schemas.microsoft.com/office/powerpoint/2010/main" val="1676553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3AADC9-7871-193A-4D4B-254C6BEC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record properties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16EF4-58D3-4055-CA08-9C89BB3D1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Key:</a:t>
            </a:r>
            <a:r>
              <a:rPr lang="en-GB" dirty="0"/>
              <a:t> An optional identifier.</a:t>
            </a:r>
            <a:br>
              <a:rPr lang="en-GB" dirty="0"/>
            </a:br>
            <a:r>
              <a:rPr lang="en-GB" dirty="0"/>
              <a:t>Can be used for partitioning and affinity.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Value:</a:t>
            </a:r>
            <a:r>
              <a:rPr lang="en-GB" dirty="0"/>
              <a:t> The main payload of the record.</a:t>
            </a:r>
            <a:br>
              <a:rPr lang="en-GB" dirty="0"/>
            </a:br>
            <a:r>
              <a:rPr lang="en-GB" dirty="0"/>
              <a:t>Can be any sequence of bytes up to 1MB.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Timestamp:</a:t>
            </a:r>
            <a:r>
              <a:rPr lang="en-GB" dirty="0"/>
              <a:t> The time of record creation or log appending.</a:t>
            </a:r>
            <a:br>
              <a:rPr lang="en-GB" dirty="0"/>
            </a:br>
            <a:r>
              <a:rPr lang="en-GB" dirty="0"/>
              <a:t>Kafka supports two types of timestamps:</a:t>
            </a:r>
            <a:br>
              <a:rPr lang="en-GB" dirty="0"/>
            </a:br>
            <a:r>
              <a:rPr lang="en-GB" dirty="0"/>
              <a:t>create time and log append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Offset:</a:t>
            </a:r>
            <a:r>
              <a:rPr lang="en-GB" dirty="0"/>
              <a:t> A unique identifier </a:t>
            </a:r>
            <a:r>
              <a:rPr lang="en-US" dirty="0"/>
              <a:t>of</a:t>
            </a:r>
            <a:r>
              <a:rPr lang="en-GB" dirty="0"/>
              <a:t> record within a partition.</a:t>
            </a:r>
            <a:br>
              <a:rPr lang="en-GB" dirty="0"/>
            </a:br>
            <a:r>
              <a:rPr lang="en-GB" dirty="0"/>
              <a:t>Used by consumer to track their position in the 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Headers:</a:t>
            </a:r>
            <a:r>
              <a:rPr lang="en-GB" dirty="0"/>
              <a:t> Optional metadata associated with the record.</a:t>
            </a:r>
            <a:br>
              <a:rPr lang="en-GB" dirty="0"/>
            </a:br>
            <a:r>
              <a:rPr lang="en-GB" dirty="0"/>
              <a:t>Can be used for additional context or processing instructions.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030411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>
                <a:solidFill>
                  <a:schemeClr val="bg2"/>
                </a:solidFill>
              </a:rPr>
              <a:t>Brokers</a:t>
            </a:r>
          </a:p>
          <a:p>
            <a:r>
              <a:rPr lang="en-RU" dirty="0">
                <a:solidFill>
                  <a:schemeClr val="bg2"/>
                </a:solidFill>
              </a:rPr>
              <a:t>Topics and Partitions</a:t>
            </a:r>
          </a:p>
          <a:p>
            <a:r>
              <a:rPr lang="en-GB" dirty="0">
                <a:solidFill>
                  <a:schemeClr val="bg2"/>
                </a:solidFill>
              </a:rPr>
              <a:t>Records</a:t>
            </a:r>
          </a:p>
          <a:p>
            <a:r>
              <a:rPr lang="en-GB" dirty="0"/>
              <a:t>Producers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Client applications that </a:t>
            </a:r>
            <a:r>
              <a:rPr lang="en-GB" b="1" i="1" dirty="0"/>
              <a:t>publish</a:t>
            </a:r>
            <a:r>
              <a:rPr lang="en-GB" dirty="0"/>
              <a:t> </a:t>
            </a:r>
            <a:r>
              <a:rPr lang="en-GB" b="1" i="1" dirty="0"/>
              <a:t>records</a:t>
            </a:r>
            <a:r>
              <a:rPr lang="en-GB" dirty="0"/>
              <a:t> to Kafka </a:t>
            </a:r>
            <a:r>
              <a:rPr lang="en-GB" b="1" i="1" dirty="0"/>
              <a:t>topics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 choose the level of acknowledgment (acks: 0/1/all)</a:t>
            </a:r>
          </a:p>
        </p:txBody>
      </p:sp>
    </p:spTree>
    <p:extLst>
      <p:ext uri="{BB962C8B-B14F-4D97-AF65-F5344CB8AC3E}">
        <p14:creationId xmlns:p14="http://schemas.microsoft.com/office/powerpoint/2010/main" val="3133887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4E2C36-D2AD-C01E-B5C2-023FB6DD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Producers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434C8-41C2-68F9-ABE0-4AB7980B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Client applications that publish (write) records to Kafka topics.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Synchronous Send:</a:t>
            </a:r>
            <a:br>
              <a:rPr lang="en-GB" b="1" dirty="0"/>
            </a:br>
            <a:r>
              <a:rPr lang="en-GB" dirty="0"/>
              <a:t>The producer sends a record and waits for a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Asynchronous Send:</a:t>
            </a:r>
            <a:br>
              <a:rPr lang="en-GB" b="1" dirty="0"/>
            </a:br>
            <a:r>
              <a:rPr lang="en-GB" dirty="0"/>
              <a:t>The producer sends a record and does not wait for a response.</a:t>
            </a:r>
          </a:p>
          <a:p>
            <a:pPr>
              <a:buFont typeface="Arial" panose="020B0604020202020204" pitchFamily="34" charset="0"/>
              <a:buChar char="•"/>
            </a:pP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40343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B222-6695-399A-34E2-F6C6AE57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</a:t>
            </a:r>
            <a:r>
              <a:rPr lang="ru-RU" dirty="0"/>
              <a:t> </a:t>
            </a:r>
            <a:r>
              <a:rPr lang="en-GB" dirty="0"/>
              <a:t>acknowledgement strategies (acks).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F5794-78FA-2BFC-0F51-1D928F351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acks=0:</a:t>
            </a:r>
            <a:br>
              <a:rPr lang="en-GB" b="1" dirty="0"/>
            </a:br>
            <a:r>
              <a:rPr lang="en-GB" dirty="0"/>
              <a:t>The producer does not wait for any acknowledgment from the broker. The lowest latency but no guarantee of record receival.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acks=1:</a:t>
            </a:r>
            <a:br>
              <a:rPr lang="en-GB" b="1" dirty="0"/>
            </a:br>
            <a:r>
              <a:rPr lang="en-GB" dirty="0"/>
              <a:t>The producer waits for the acknowledge from the leader broker.</a:t>
            </a:r>
            <a:br>
              <a:rPr lang="en-GB" dirty="0"/>
            </a:br>
            <a:r>
              <a:rPr lang="en-GB" dirty="0"/>
              <a:t>This setting provides a balance between latency and durability.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acks=all:</a:t>
            </a:r>
            <a:br>
              <a:rPr lang="en-GB" b="1" dirty="0"/>
            </a:br>
            <a:r>
              <a:rPr lang="en-GB" dirty="0"/>
              <a:t>The producer waits for acks from all in-sync replicas (ISR).</a:t>
            </a:r>
            <a:br>
              <a:rPr lang="en-GB" dirty="0"/>
            </a:br>
            <a:r>
              <a:rPr lang="en-GB" dirty="0"/>
              <a:t>Highest level of durability and fault tolerance.</a:t>
            </a:r>
            <a:br>
              <a:rPr lang="en-GB" dirty="0"/>
            </a:br>
            <a:r>
              <a:rPr lang="en-GB" dirty="0"/>
              <a:t>The record is guaranteed to be replicated to multiple brokers.</a:t>
            </a:r>
          </a:p>
        </p:txBody>
      </p:sp>
    </p:spTree>
    <p:extLst>
      <p:ext uri="{BB962C8B-B14F-4D97-AF65-F5344CB8AC3E}">
        <p14:creationId xmlns:p14="http://schemas.microsoft.com/office/powerpoint/2010/main" val="2494770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>
                <a:solidFill>
                  <a:schemeClr val="bg2"/>
                </a:solidFill>
              </a:rPr>
              <a:t>Brokers</a:t>
            </a:r>
          </a:p>
          <a:p>
            <a:r>
              <a:rPr lang="en-RU" dirty="0">
                <a:solidFill>
                  <a:schemeClr val="bg2"/>
                </a:solidFill>
              </a:rPr>
              <a:t>Topics and Partitions</a:t>
            </a:r>
          </a:p>
          <a:p>
            <a:r>
              <a:rPr lang="en-GB" dirty="0">
                <a:solidFill>
                  <a:schemeClr val="bg2"/>
                </a:solidFill>
              </a:rPr>
              <a:t>Records</a:t>
            </a:r>
          </a:p>
          <a:p>
            <a:r>
              <a:rPr lang="en-GB" dirty="0">
                <a:solidFill>
                  <a:schemeClr val="bg2"/>
                </a:solidFill>
              </a:rPr>
              <a:t>Producers</a:t>
            </a:r>
          </a:p>
          <a:p>
            <a:r>
              <a:rPr lang="en-GB" dirty="0"/>
              <a:t>Consumers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6672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Client applications that </a:t>
            </a:r>
            <a:r>
              <a:rPr lang="en-GB" b="1" i="1" dirty="0"/>
              <a:t>subscribe</a:t>
            </a:r>
            <a:r>
              <a:rPr lang="en-GB" dirty="0"/>
              <a:t> to Kafka </a:t>
            </a:r>
            <a:r>
              <a:rPr lang="en-GB" b="1" i="1" dirty="0"/>
              <a:t>topics</a:t>
            </a:r>
            <a:r>
              <a:rPr lang="en-GB" dirty="0"/>
              <a:t> and process the </a:t>
            </a:r>
            <a:r>
              <a:rPr lang="en-GB" b="1" i="1" dirty="0"/>
              <a:t>records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Organized in groups to work on records from a set of partitions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partition in one topic is consumed by </a:t>
            </a:r>
            <a:r>
              <a:rPr lang="en-GB" u="sng" dirty="0"/>
              <a:t>only one consumer</a:t>
            </a:r>
            <a:r>
              <a:rPr lang="en-GB" dirty="0"/>
              <a:t> in the group</a:t>
            </a:r>
            <a:r>
              <a:rPr lang="ru-RU" dirty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Track their position in each partition using offsets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3BBA8-DF3D-CCA7-5BD2-9FB48E577986}"/>
              </a:ext>
            </a:extLst>
          </p:cNvPr>
          <p:cNvSpPr txBox="1"/>
          <p:nvPr/>
        </p:nvSpPr>
        <p:spPr>
          <a:xfrm>
            <a:off x="6172200" y="6308209"/>
            <a:ext cx="464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*</a:t>
            </a:r>
            <a:r>
              <a:rPr lang="ru-RU" dirty="0"/>
              <a:t> </a:t>
            </a:r>
            <a:r>
              <a:rPr lang="en-US" dirty="0"/>
              <a:t>Except for Kafka Queues enabled topic in 4.0+</a:t>
            </a:r>
          </a:p>
        </p:txBody>
      </p:sp>
    </p:spTree>
    <p:extLst>
      <p:ext uri="{BB962C8B-B14F-4D97-AF65-F5344CB8AC3E}">
        <p14:creationId xmlns:p14="http://schemas.microsoft.com/office/powerpoint/2010/main" val="9674306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F2A3F8-FC75-A54F-6C02-28262275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15A18-1ACA-CA81-C3D7-EEAE0EC66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Client applications that read (consume) records from Kafka topics.</a:t>
            </a:r>
          </a:p>
          <a:p>
            <a:r>
              <a:rPr lang="en-GB" b="1" dirty="0">
                <a:effectLst/>
              </a:rPr>
              <a:t>Polling Model:</a:t>
            </a:r>
            <a:br>
              <a:rPr lang="en-GB" b="1" dirty="0">
                <a:effectLst/>
              </a:rPr>
            </a:br>
            <a:r>
              <a:rPr lang="en-GB" dirty="0"/>
              <a:t>Consumers use a polling model to fetch records from brokers.</a:t>
            </a:r>
            <a:br>
              <a:rPr lang="en-GB" dirty="0"/>
            </a:br>
            <a:r>
              <a:rPr lang="en-GB" dirty="0"/>
              <a:t>They periodically request data and process the received records.</a:t>
            </a:r>
          </a:p>
          <a:p>
            <a:r>
              <a:rPr lang="en-GB" b="1" dirty="0">
                <a:effectLst/>
              </a:rPr>
              <a:t>Offset Management:</a:t>
            </a:r>
            <a:br>
              <a:rPr lang="en-GB" b="1" dirty="0">
                <a:effectLst/>
              </a:rPr>
            </a:br>
            <a:r>
              <a:rPr lang="en-GB" dirty="0"/>
              <a:t>Consumers track their position in each partition using offsets.</a:t>
            </a:r>
            <a:br>
              <a:rPr lang="en-GB" dirty="0"/>
            </a:br>
            <a:r>
              <a:rPr lang="en-GB" dirty="0"/>
              <a:t>Kafka provides automatic and manual offset management.</a:t>
            </a:r>
          </a:p>
          <a:p>
            <a:r>
              <a:rPr lang="en-GB" b="1" dirty="0"/>
              <a:t>Consumer Groups:</a:t>
            </a:r>
            <a:br>
              <a:rPr lang="en-RU" dirty="0"/>
            </a:br>
            <a:r>
              <a:rPr lang="en-RU" dirty="0"/>
              <a:t>Consumers are organised in groups, that spread the consumption.</a:t>
            </a:r>
            <a:br>
              <a:rPr lang="en-GB" dirty="0"/>
            </a:br>
            <a:r>
              <a:rPr lang="en-GB" dirty="0"/>
              <a:t>Each group consume topic independently.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0298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4058-E0DA-9D3B-2D7B-09943120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Offset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EF2F-B692-74AF-37EC-68BA49E75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Commit Strategy:</a:t>
            </a:r>
            <a:br>
              <a:rPr lang="en-GB" b="1" dirty="0"/>
            </a:br>
            <a:r>
              <a:rPr lang="en-GB" dirty="0"/>
              <a:t>Consumers commit offsets to Kafka to indicate their progress.</a:t>
            </a:r>
            <a:br>
              <a:rPr lang="en-GB" dirty="0"/>
            </a:br>
            <a:r>
              <a:rPr lang="en-GB" dirty="0"/>
              <a:t>These offsets can be stored in Kafka’s internal topics or external systems. </a:t>
            </a:r>
          </a:p>
          <a:p>
            <a:pPr marL="742950" lvl="1" indent="-285750"/>
            <a:r>
              <a:rPr lang="en-GB" b="1" dirty="0"/>
              <a:t>Automatic Commit:</a:t>
            </a:r>
            <a:r>
              <a:rPr lang="en-GB" dirty="0"/>
              <a:t> Offsets are committed automatically at regular intervals.</a:t>
            </a:r>
          </a:p>
          <a:p>
            <a:pPr marL="742950" lvl="1" indent="-285750"/>
            <a:r>
              <a:rPr lang="en-GB" b="1" dirty="0"/>
              <a:t>Manual Commit:</a:t>
            </a:r>
            <a:r>
              <a:rPr lang="en-GB" dirty="0"/>
              <a:t> Consumers manually commit offsets after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Offset Storage:</a:t>
            </a:r>
            <a:br>
              <a:rPr lang="en-GB" b="1" dirty="0"/>
            </a:br>
            <a:r>
              <a:rPr lang="en-GB" dirty="0"/>
              <a:t>Kafka stores offsets in an internal topic called </a:t>
            </a:r>
            <a:r>
              <a:rPr lang="en-GB" i="1" dirty="0"/>
              <a:t>__</a:t>
            </a:r>
            <a:r>
              <a:rPr lang="en-GB" i="1" dirty="0" err="1"/>
              <a:t>consumer_offsets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819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6669-AF43-8FE8-9A23-98167E73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4BA5-E7BD-5189-BCC1-496F403A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consumer in the group is responsible for consuming records from one or more partitions.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Partition Assignment:</a:t>
            </a:r>
            <a:br>
              <a:rPr lang="en-GB" b="1" dirty="0"/>
            </a:br>
            <a:r>
              <a:rPr lang="en-GB" dirty="0"/>
              <a:t>Kafka ensures that each </a:t>
            </a:r>
            <a:r>
              <a:rPr lang="en-GB" u="sng" dirty="0"/>
              <a:t>partition in a topic</a:t>
            </a:r>
            <a:r>
              <a:rPr lang="en-GB" dirty="0"/>
              <a:t> is consumed by </a:t>
            </a:r>
            <a:r>
              <a:rPr lang="en-GB" u="sng" dirty="0"/>
              <a:t>only one</a:t>
            </a:r>
            <a:r>
              <a:rPr lang="en-GB" dirty="0"/>
              <a:t> consumer in the group at a time.</a:t>
            </a:r>
            <a:br>
              <a:rPr lang="en-GB" dirty="0"/>
            </a:br>
            <a:r>
              <a:rPr lang="en-GB" dirty="0"/>
              <a:t>This prevents duplicate processing and enables parallel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Rebalancing:</a:t>
            </a:r>
            <a:br>
              <a:rPr lang="en-GB" b="1" dirty="0"/>
            </a:br>
            <a:r>
              <a:rPr lang="en-GB" dirty="0"/>
              <a:t>When a consumer joins or leaves the group, Kafka triggers a rebalance to reassign partitions to consumers.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Heartbeat Mechanism:</a:t>
            </a:r>
            <a:br>
              <a:rPr lang="en-GB" b="1" dirty="0">
                <a:effectLst/>
              </a:rPr>
            </a:br>
            <a:r>
              <a:rPr lang="en-GB" dirty="0"/>
              <a:t>Consumers send heartbeats to the Kafka broker to indicate its liveness.</a:t>
            </a:r>
          </a:p>
        </p:txBody>
      </p:sp>
    </p:spTree>
    <p:extLst>
      <p:ext uri="{BB962C8B-B14F-4D97-AF65-F5344CB8AC3E}">
        <p14:creationId xmlns:p14="http://schemas.microsoft.com/office/powerpoint/2010/main" val="21883846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CC96-AC81-ADDB-431A-ED294F31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Queues (Work Queue Semantics)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42D17-FF41-22FD-AAF1-27B39907C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Introduced in Kafka 4.0</a:t>
            </a:r>
            <a:r>
              <a:rPr lang="en-US" dirty="0"/>
              <a:t> to simplify queue-style messaging</a:t>
            </a:r>
            <a:endParaRPr lang="ru-RU" dirty="0"/>
          </a:p>
          <a:p>
            <a:r>
              <a:rPr lang="en-US" b="1" dirty="0"/>
              <a:t>Single Consumer per Record</a:t>
            </a:r>
            <a:r>
              <a:rPr lang="en-US" dirty="0"/>
              <a:t>:</a:t>
            </a:r>
            <a:br>
              <a:rPr lang="ru-RU" dirty="0"/>
            </a:br>
            <a:r>
              <a:rPr lang="en-US" dirty="0"/>
              <a:t>Each message is processed by only one consumer in the group</a:t>
            </a:r>
            <a:endParaRPr lang="ru-RU" dirty="0"/>
          </a:p>
          <a:p>
            <a:r>
              <a:rPr lang="en-US" b="1" dirty="0"/>
              <a:t>Queue Topics</a:t>
            </a:r>
            <a:r>
              <a:rPr lang="en-US" dirty="0"/>
              <a:t>:</a:t>
            </a:r>
            <a:br>
              <a:rPr lang="ru-RU" dirty="0"/>
            </a:br>
            <a:r>
              <a:rPr lang="en-US" dirty="0"/>
              <a:t>Enable with: </a:t>
            </a:r>
            <a:r>
              <a:rPr lang="en-US" dirty="0" err="1"/>
              <a:t>queue.topic.enable</a:t>
            </a:r>
            <a:r>
              <a:rPr lang="en-US" dirty="0"/>
              <a:t>=true</a:t>
            </a:r>
            <a:br>
              <a:rPr lang="ru-RU" dirty="0"/>
            </a:br>
            <a:r>
              <a:rPr lang="en-US" dirty="0"/>
              <a:t>Automatic scaling of consumers without rebalancing</a:t>
            </a:r>
            <a:br>
              <a:rPr lang="ru-RU" dirty="0"/>
            </a:br>
            <a:r>
              <a:rPr lang="en-US" dirty="0"/>
              <a:t>Partitioning hidden from the client</a:t>
            </a:r>
          </a:p>
          <a:p>
            <a:r>
              <a:rPr lang="en-US" b="1" dirty="0"/>
              <a:t>Virtual Partitions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Internally used by Kafka for scaling and distribution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805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1F11-D5E5-CEFF-2BC7-56030480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rebalancing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6BA11-99CE-861C-B879-3FBB3B65A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b="0" i="0" dirty="0">
                <a:solidFill>
                  <a:srgbClr val="1A1523"/>
                </a:solidFill>
                <a:effectLst/>
                <a:latin typeface="Inter"/>
              </a:rPr>
              <a:t>Rebalances can happen in the following conditions: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A1523"/>
                </a:solidFill>
                <a:effectLst/>
                <a:latin typeface="Inter"/>
              </a:rPr>
              <a:t>a consumer joins or leaves the group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A1523"/>
                </a:solidFill>
                <a:effectLst/>
                <a:latin typeface="Inter"/>
              </a:rPr>
              <a:t>partitions are added to a topic</a:t>
            </a:r>
          </a:p>
          <a:p>
            <a:pPr marL="0" indent="0">
              <a:buNone/>
            </a:pPr>
            <a:endParaRPr lang="en-RU" dirty="0"/>
          </a:p>
          <a:p>
            <a:pPr marL="0" indent="0">
              <a:buNone/>
            </a:pPr>
            <a:r>
              <a:rPr lang="en-RU" dirty="0"/>
              <a:t>Rebalance strategies and approaches</a:t>
            </a:r>
          </a:p>
          <a:p>
            <a:pPr algn="l"/>
            <a:r>
              <a:rPr lang="en-GB" i="0" dirty="0">
                <a:solidFill>
                  <a:srgbClr val="1A1523"/>
                </a:solidFill>
                <a:effectLst/>
                <a:latin typeface="PolySans"/>
              </a:rPr>
              <a:t>Consumer Eager Rebalancing (Stop the World)</a:t>
            </a:r>
          </a:p>
          <a:p>
            <a:pPr algn="l"/>
            <a:r>
              <a:rPr lang="en-GB" i="0" dirty="0">
                <a:solidFill>
                  <a:srgbClr val="1A1523"/>
                </a:solidFill>
                <a:effectLst/>
                <a:latin typeface="PolySans"/>
              </a:rPr>
              <a:t>Consumer Cooperative Rebalance (Incremental Rebalance)</a:t>
            </a:r>
            <a:endParaRPr lang="en-GB" dirty="0"/>
          </a:p>
          <a:p>
            <a:pPr algn="l"/>
            <a:r>
              <a:rPr lang="en-GB" i="0" dirty="0">
                <a:solidFill>
                  <a:srgbClr val="1A1523"/>
                </a:solidFill>
                <a:effectLst/>
                <a:latin typeface="PolySans"/>
              </a:rPr>
              <a:t>Consumer Static Group Membership</a:t>
            </a:r>
          </a:p>
        </p:txBody>
      </p:sp>
    </p:spTree>
    <p:extLst>
      <p:ext uri="{BB962C8B-B14F-4D97-AF65-F5344CB8AC3E}">
        <p14:creationId xmlns:p14="http://schemas.microsoft.com/office/powerpoint/2010/main" val="37131396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253765-4592-7C52-DD83-BCE6CAC29C36}"/>
              </a:ext>
            </a:extLst>
          </p:cNvPr>
          <p:cNvSpPr/>
          <p:nvPr/>
        </p:nvSpPr>
        <p:spPr>
          <a:xfrm>
            <a:off x="2073885" y="1661321"/>
            <a:ext cx="6555152" cy="16351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RU" sz="1600" b="1" dirty="0"/>
              <a:t>Broker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306C0-C3BB-4078-3085-BD98F17729E1}"/>
              </a:ext>
            </a:extLst>
          </p:cNvPr>
          <p:cNvSpPr/>
          <p:nvPr/>
        </p:nvSpPr>
        <p:spPr>
          <a:xfrm>
            <a:off x="2466096" y="2187832"/>
            <a:ext cx="1083774" cy="626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A</a:t>
            </a:r>
          </a:p>
          <a:p>
            <a:pPr algn="ctr"/>
            <a:r>
              <a:rPr lang="en-RU" sz="1600" dirty="0"/>
              <a:t>Partition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EE57A-1068-9B56-06FF-61CB1FE94227}"/>
              </a:ext>
            </a:extLst>
          </p:cNvPr>
          <p:cNvSpPr/>
          <p:nvPr/>
        </p:nvSpPr>
        <p:spPr>
          <a:xfrm>
            <a:off x="4760972" y="2202139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B4E19D-A3AD-4EA6-1D0E-E090B4D97059}"/>
              </a:ext>
            </a:extLst>
          </p:cNvPr>
          <p:cNvSpPr/>
          <p:nvPr/>
        </p:nvSpPr>
        <p:spPr>
          <a:xfrm>
            <a:off x="3613534" y="2189729"/>
            <a:ext cx="1083774" cy="626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A</a:t>
            </a:r>
          </a:p>
          <a:p>
            <a:pPr algn="ctr"/>
            <a:r>
              <a:rPr lang="en-RU" sz="1600" dirty="0"/>
              <a:t>Partition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AFA1CC-BB90-CA8E-2361-1EDD3E4C9A6E}"/>
              </a:ext>
            </a:extLst>
          </p:cNvPr>
          <p:cNvSpPr/>
          <p:nvPr/>
        </p:nvSpPr>
        <p:spPr>
          <a:xfrm>
            <a:off x="5908410" y="2196890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448FBC-E26C-7259-2837-C15E5079DB50}"/>
              </a:ext>
            </a:extLst>
          </p:cNvPr>
          <p:cNvSpPr/>
          <p:nvPr/>
        </p:nvSpPr>
        <p:spPr>
          <a:xfrm>
            <a:off x="7055848" y="2204016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2</a:t>
            </a:r>
          </a:p>
        </p:txBody>
      </p:sp>
    </p:spTree>
    <p:extLst>
      <p:ext uri="{BB962C8B-B14F-4D97-AF65-F5344CB8AC3E}">
        <p14:creationId xmlns:p14="http://schemas.microsoft.com/office/powerpoint/2010/main" val="38338955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253765-4592-7C52-DD83-BCE6CAC29C36}"/>
              </a:ext>
            </a:extLst>
          </p:cNvPr>
          <p:cNvSpPr/>
          <p:nvPr/>
        </p:nvSpPr>
        <p:spPr>
          <a:xfrm>
            <a:off x="2073885" y="1661321"/>
            <a:ext cx="6555152" cy="16351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RU" sz="1600" b="1" dirty="0"/>
              <a:t>Broker 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4EFB844-FE38-9024-1E04-A5A93496394A}"/>
              </a:ext>
            </a:extLst>
          </p:cNvPr>
          <p:cNvSpPr/>
          <p:nvPr/>
        </p:nvSpPr>
        <p:spPr>
          <a:xfrm>
            <a:off x="2025283" y="4715230"/>
            <a:ext cx="6555152" cy="16351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RU" sz="1600" b="1" dirty="0"/>
              <a:t>Broker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306C0-C3BB-4078-3085-BD98F17729E1}"/>
              </a:ext>
            </a:extLst>
          </p:cNvPr>
          <p:cNvSpPr/>
          <p:nvPr/>
        </p:nvSpPr>
        <p:spPr>
          <a:xfrm>
            <a:off x="2466096" y="2187832"/>
            <a:ext cx="1083774" cy="626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A</a:t>
            </a:r>
          </a:p>
          <a:p>
            <a:pPr algn="ctr"/>
            <a:r>
              <a:rPr lang="en-RU" sz="1600" dirty="0"/>
              <a:t>Partition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EE57A-1068-9B56-06FF-61CB1FE94227}"/>
              </a:ext>
            </a:extLst>
          </p:cNvPr>
          <p:cNvSpPr/>
          <p:nvPr/>
        </p:nvSpPr>
        <p:spPr>
          <a:xfrm>
            <a:off x="4760972" y="2202139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B4E19D-A3AD-4EA6-1D0E-E090B4D97059}"/>
              </a:ext>
            </a:extLst>
          </p:cNvPr>
          <p:cNvSpPr/>
          <p:nvPr/>
        </p:nvSpPr>
        <p:spPr>
          <a:xfrm>
            <a:off x="3613534" y="2189729"/>
            <a:ext cx="1083774" cy="626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A</a:t>
            </a:r>
          </a:p>
          <a:p>
            <a:pPr algn="ctr"/>
            <a:r>
              <a:rPr lang="en-RU" sz="1600" dirty="0"/>
              <a:t>Partition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AFA1CC-BB90-CA8E-2361-1EDD3E4C9A6E}"/>
              </a:ext>
            </a:extLst>
          </p:cNvPr>
          <p:cNvSpPr/>
          <p:nvPr/>
        </p:nvSpPr>
        <p:spPr>
          <a:xfrm>
            <a:off x="5908410" y="2196890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448FBC-E26C-7259-2837-C15E5079DB50}"/>
              </a:ext>
            </a:extLst>
          </p:cNvPr>
          <p:cNvSpPr/>
          <p:nvPr/>
        </p:nvSpPr>
        <p:spPr>
          <a:xfrm>
            <a:off x="7055848" y="2204016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2</a:t>
            </a:r>
          </a:p>
        </p:txBody>
      </p:sp>
    </p:spTree>
    <p:extLst>
      <p:ext uri="{BB962C8B-B14F-4D97-AF65-F5344CB8AC3E}">
        <p14:creationId xmlns:p14="http://schemas.microsoft.com/office/powerpoint/2010/main" val="3403197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253765-4592-7C52-DD83-BCE6CAC29C36}"/>
              </a:ext>
            </a:extLst>
          </p:cNvPr>
          <p:cNvSpPr/>
          <p:nvPr/>
        </p:nvSpPr>
        <p:spPr>
          <a:xfrm>
            <a:off x="2073885" y="1661321"/>
            <a:ext cx="6555152" cy="16351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RU" sz="1600" b="1" dirty="0"/>
              <a:t>Broker 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4EFB844-FE38-9024-1E04-A5A93496394A}"/>
              </a:ext>
            </a:extLst>
          </p:cNvPr>
          <p:cNvSpPr/>
          <p:nvPr/>
        </p:nvSpPr>
        <p:spPr>
          <a:xfrm>
            <a:off x="2025283" y="4715230"/>
            <a:ext cx="6555152" cy="16351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RU" sz="1600" b="1" dirty="0"/>
              <a:t>Broker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306C0-C3BB-4078-3085-BD98F17729E1}"/>
              </a:ext>
            </a:extLst>
          </p:cNvPr>
          <p:cNvSpPr/>
          <p:nvPr/>
        </p:nvSpPr>
        <p:spPr>
          <a:xfrm>
            <a:off x="2466096" y="2187832"/>
            <a:ext cx="1083774" cy="626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A</a:t>
            </a:r>
          </a:p>
          <a:p>
            <a:pPr algn="ctr"/>
            <a:r>
              <a:rPr lang="en-RU" sz="1600" dirty="0"/>
              <a:t>Partition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EE57A-1068-9B56-06FF-61CB1FE94227}"/>
              </a:ext>
            </a:extLst>
          </p:cNvPr>
          <p:cNvSpPr/>
          <p:nvPr/>
        </p:nvSpPr>
        <p:spPr>
          <a:xfrm>
            <a:off x="4760972" y="2202139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B4E19D-A3AD-4EA6-1D0E-E090B4D97059}"/>
              </a:ext>
            </a:extLst>
          </p:cNvPr>
          <p:cNvSpPr/>
          <p:nvPr/>
        </p:nvSpPr>
        <p:spPr>
          <a:xfrm>
            <a:off x="3613534" y="5182751"/>
            <a:ext cx="1083774" cy="626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A</a:t>
            </a:r>
          </a:p>
          <a:p>
            <a:pPr algn="ctr"/>
            <a:r>
              <a:rPr lang="en-RU" sz="1600" dirty="0"/>
              <a:t>Partition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AFA1CC-BB90-CA8E-2361-1EDD3E4C9A6E}"/>
              </a:ext>
            </a:extLst>
          </p:cNvPr>
          <p:cNvSpPr/>
          <p:nvPr/>
        </p:nvSpPr>
        <p:spPr>
          <a:xfrm>
            <a:off x="5908410" y="5189912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448FBC-E26C-7259-2837-C15E5079DB50}"/>
              </a:ext>
            </a:extLst>
          </p:cNvPr>
          <p:cNvSpPr/>
          <p:nvPr/>
        </p:nvSpPr>
        <p:spPr>
          <a:xfrm>
            <a:off x="7055848" y="5197038"/>
            <a:ext cx="1083774" cy="6268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Topic B</a:t>
            </a:r>
          </a:p>
          <a:p>
            <a:pPr algn="ctr"/>
            <a:r>
              <a:rPr lang="en-RU" sz="1600" dirty="0"/>
              <a:t>Partition 2</a:t>
            </a:r>
          </a:p>
        </p:txBody>
      </p:sp>
    </p:spTree>
    <p:extLst>
      <p:ext uri="{BB962C8B-B14F-4D97-AF65-F5344CB8AC3E}">
        <p14:creationId xmlns:p14="http://schemas.microsoft.com/office/powerpoint/2010/main" val="5161364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</p:spTree>
    <p:extLst>
      <p:ext uri="{BB962C8B-B14F-4D97-AF65-F5344CB8AC3E}">
        <p14:creationId xmlns:p14="http://schemas.microsoft.com/office/powerpoint/2010/main" val="3362390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7EE02-4F83-1B5F-8543-7093CF6234D9}"/>
                </a:ext>
              </a:extLst>
            </p:cNvPr>
            <p:cNvSpPr/>
            <p:nvPr/>
          </p:nvSpPr>
          <p:spPr>
            <a:xfrm>
              <a:off x="4405699" y="2200273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23CD1D-51F4-9BE2-7595-A24D6662D0F3}"/>
                </a:ext>
              </a:extLst>
            </p:cNvPr>
            <p:cNvSpPr/>
            <p:nvPr/>
          </p:nvSpPr>
          <p:spPr>
            <a:xfrm>
              <a:off x="6700575" y="2207434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51A7B-CC5C-2E40-A447-41F67EEEE2F0}"/>
                </a:ext>
              </a:extLst>
            </p:cNvPr>
            <p:cNvSpPr/>
            <p:nvPr/>
          </p:nvSpPr>
          <p:spPr>
            <a:xfrm>
              <a:off x="7848013" y="221456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562221FE-9829-26AB-F968-3A645BC0D238}"/>
                </a:ext>
              </a:extLst>
            </p:cNvPr>
            <p:cNvSpPr/>
            <p:nvPr/>
          </p:nvSpPr>
          <p:spPr>
            <a:xfrm rot="5400000">
              <a:off x="5223486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7D7C7E-5260-51C8-87F8-7E4A0C7CE845}"/>
                </a:ext>
              </a:extLst>
            </p:cNvPr>
            <p:cNvSpPr/>
            <p:nvPr/>
          </p:nvSpPr>
          <p:spPr>
            <a:xfrm>
              <a:off x="3258261" y="517031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EDE961-F407-9B04-8FB1-1872D53EA2BC}"/>
                </a:ext>
              </a:extLst>
            </p:cNvPr>
            <p:cNvSpPr/>
            <p:nvPr/>
          </p:nvSpPr>
          <p:spPr>
            <a:xfrm>
              <a:off x="5553137" y="5184617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7DCB372-6DE3-1AC9-697A-CF2F658AF3F6}"/>
                </a:ext>
              </a:extLst>
            </p:cNvPr>
            <p:cNvSpPr/>
            <p:nvPr/>
          </p:nvSpPr>
          <p:spPr>
            <a:xfrm rot="5400000">
              <a:off x="290312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DDC1A8EE-9CC6-B908-9154-8DC1CF9E1D6A}"/>
                </a:ext>
              </a:extLst>
            </p:cNvPr>
            <p:cNvSpPr/>
            <p:nvPr/>
          </p:nvSpPr>
          <p:spPr>
            <a:xfrm rot="16200000">
              <a:off x="407029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A121A8C3-0A39-351D-7599-715BF21E5881}"/>
                </a:ext>
              </a:extLst>
            </p:cNvPr>
            <p:cNvSpPr/>
            <p:nvPr/>
          </p:nvSpPr>
          <p:spPr>
            <a:xfrm rot="16200000">
              <a:off x="6370924" y="3852613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831B64A2-FA99-834B-D429-8BAD911AC00A}"/>
                </a:ext>
              </a:extLst>
            </p:cNvPr>
            <p:cNvSpPr/>
            <p:nvPr/>
          </p:nvSpPr>
          <p:spPr>
            <a:xfrm rot="16200000">
              <a:off x="7512884" y="3853842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</p:spTree>
    <p:extLst>
      <p:ext uri="{BB962C8B-B14F-4D97-AF65-F5344CB8AC3E}">
        <p14:creationId xmlns:p14="http://schemas.microsoft.com/office/powerpoint/2010/main" val="1541842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7EE02-4F83-1B5F-8543-7093CF6234D9}"/>
                </a:ext>
              </a:extLst>
            </p:cNvPr>
            <p:cNvSpPr/>
            <p:nvPr/>
          </p:nvSpPr>
          <p:spPr>
            <a:xfrm>
              <a:off x="4405699" y="2200273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23CD1D-51F4-9BE2-7595-A24D6662D0F3}"/>
                </a:ext>
              </a:extLst>
            </p:cNvPr>
            <p:cNvSpPr/>
            <p:nvPr/>
          </p:nvSpPr>
          <p:spPr>
            <a:xfrm>
              <a:off x="6700575" y="2207434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51A7B-CC5C-2E40-A447-41F67EEEE2F0}"/>
                </a:ext>
              </a:extLst>
            </p:cNvPr>
            <p:cNvSpPr/>
            <p:nvPr/>
          </p:nvSpPr>
          <p:spPr>
            <a:xfrm>
              <a:off x="7848013" y="221456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562221FE-9829-26AB-F968-3A645BC0D238}"/>
                </a:ext>
              </a:extLst>
            </p:cNvPr>
            <p:cNvSpPr/>
            <p:nvPr/>
          </p:nvSpPr>
          <p:spPr>
            <a:xfrm rot="5400000">
              <a:off x="5223486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7D7C7E-5260-51C8-87F8-7E4A0C7CE845}"/>
                </a:ext>
              </a:extLst>
            </p:cNvPr>
            <p:cNvSpPr/>
            <p:nvPr/>
          </p:nvSpPr>
          <p:spPr>
            <a:xfrm>
              <a:off x="3258261" y="517031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EDE961-F407-9B04-8FB1-1872D53EA2BC}"/>
                </a:ext>
              </a:extLst>
            </p:cNvPr>
            <p:cNvSpPr/>
            <p:nvPr/>
          </p:nvSpPr>
          <p:spPr>
            <a:xfrm>
              <a:off x="5553137" y="5184617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7DCB372-6DE3-1AC9-697A-CF2F658AF3F6}"/>
                </a:ext>
              </a:extLst>
            </p:cNvPr>
            <p:cNvSpPr/>
            <p:nvPr/>
          </p:nvSpPr>
          <p:spPr>
            <a:xfrm rot="5400000">
              <a:off x="290312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DDC1A8EE-9CC6-B908-9154-8DC1CF9E1D6A}"/>
                </a:ext>
              </a:extLst>
            </p:cNvPr>
            <p:cNvSpPr/>
            <p:nvPr/>
          </p:nvSpPr>
          <p:spPr>
            <a:xfrm rot="16200000">
              <a:off x="407029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A121A8C3-0A39-351D-7599-715BF21E5881}"/>
                </a:ext>
              </a:extLst>
            </p:cNvPr>
            <p:cNvSpPr/>
            <p:nvPr/>
          </p:nvSpPr>
          <p:spPr>
            <a:xfrm rot="16200000">
              <a:off x="6370924" y="3852613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831B64A2-FA99-834B-D429-8BAD911AC00A}"/>
                </a:ext>
              </a:extLst>
            </p:cNvPr>
            <p:cNvSpPr/>
            <p:nvPr/>
          </p:nvSpPr>
          <p:spPr>
            <a:xfrm rot="16200000">
              <a:off x="7512884" y="3853842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4EAFC91-505F-2724-8F87-9DB4DE371922}"/>
              </a:ext>
            </a:extLst>
          </p:cNvPr>
          <p:cNvSpPr/>
          <p:nvPr/>
        </p:nvSpPr>
        <p:spPr>
          <a:xfrm>
            <a:off x="10051926" y="341005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7F4C6086-89B8-E71D-2D74-94F067EF695D}"/>
              </a:ext>
            </a:extLst>
          </p:cNvPr>
          <p:cNvCxnSpPr>
            <a:cxnSpLocks/>
            <a:stCxn id="57" idx="4"/>
            <a:endCxn id="3" idx="3"/>
          </p:cNvCxnSpPr>
          <p:nvPr/>
        </p:nvCxnSpPr>
        <p:spPr>
          <a:xfrm rot="5400000">
            <a:off x="9219396" y="3962658"/>
            <a:ext cx="931170" cy="2209091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4ED47AF-88C2-7521-ABD2-8969BDC29CC0}"/>
              </a:ext>
            </a:extLst>
          </p:cNvPr>
          <p:cNvSpPr txBox="1"/>
          <p:nvPr/>
        </p:nvSpPr>
        <p:spPr>
          <a:xfrm>
            <a:off x="9350724" y="1694331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A/0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A09B92-2183-5E00-E359-DA3928FB039A}"/>
              </a:ext>
            </a:extLst>
          </p:cNvPr>
          <p:cNvSpPr txBox="1"/>
          <p:nvPr/>
        </p:nvSpPr>
        <p:spPr>
          <a:xfrm>
            <a:off x="9450014" y="5618402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A/1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9DAF32F-EA81-DBF1-A4CE-E8B415F490AA}"/>
              </a:ext>
            </a:extLst>
          </p:cNvPr>
          <p:cNvCxnSpPr>
            <a:cxnSpLocks/>
            <a:stCxn id="57" idx="0"/>
            <a:endCxn id="2" idx="3"/>
          </p:cNvCxnSpPr>
          <p:nvPr/>
        </p:nvCxnSpPr>
        <p:spPr>
          <a:xfrm rot="16200000" flipV="1">
            <a:off x="9243697" y="1864220"/>
            <a:ext cx="931171" cy="2160489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9707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7EE02-4F83-1B5F-8543-7093CF6234D9}"/>
                </a:ext>
              </a:extLst>
            </p:cNvPr>
            <p:cNvSpPr/>
            <p:nvPr/>
          </p:nvSpPr>
          <p:spPr>
            <a:xfrm>
              <a:off x="4405699" y="2200273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23CD1D-51F4-9BE2-7595-A24D6662D0F3}"/>
                </a:ext>
              </a:extLst>
            </p:cNvPr>
            <p:cNvSpPr/>
            <p:nvPr/>
          </p:nvSpPr>
          <p:spPr>
            <a:xfrm>
              <a:off x="6700575" y="2207434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51A7B-CC5C-2E40-A447-41F67EEEE2F0}"/>
                </a:ext>
              </a:extLst>
            </p:cNvPr>
            <p:cNvSpPr/>
            <p:nvPr/>
          </p:nvSpPr>
          <p:spPr>
            <a:xfrm>
              <a:off x="7848013" y="221456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562221FE-9829-26AB-F968-3A645BC0D238}"/>
                </a:ext>
              </a:extLst>
            </p:cNvPr>
            <p:cNvSpPr/>
            <p:nvPr/>
          </p:nvSpPr>
          <p:spPr>
            <a:xfrm rot="5400000">
              <a:off x="5223486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7D7C7E-5260-51C8-87F8-7E4A0C7CE845}"/>
                </a:ext>
              </a:extLst>
            </p:cNvPr>
            <p:cNvSpPr/>
            <p:nvPr/>
          </p:nvSpPr>
          <p:spPr>
            <a:xfrm>
              <a:off x="3258261" y="517031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EDE961-F407-9B04-8FB1-1872D53EA2BC}"/>
                </a:ext>
              </a:extLst>
            </p:cNvPr>
            <p:cNvSpPr/>
            <p:nvPr/>
          </p:nvSpPr>
          <p:spPr>
            <a:xfrm>
              <a:off x="5553137" y="5184617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7DCB372-6DE3-1AC9-697A-CF2F658AF3F6}"/>
                </a:ext>
              </a:extLst>
            </p:cNvPr>
            <p:cNvSpPr/>
            <p:nvPr/>
          </p:nvSpPr>
          <p:spPr>
            <a:xfrm rot="5400000">
              <a:off x="290312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DDC1A8EE-9CC6-B908-9154-8DC1CF9E1D6A}"/>
                </a:ext>
              </a:extLst>
            </p:cNvPr>
            <p:cNvSpPr/>
            <p:nvPr/>
          </p:nvSpPr>
          <p:spPr>
            <a:xfrm rot="16200000">
              <a:off x="407029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A121A8C3-0A39-351D-7599-715BF21E5881}"/>
                </a:ext>
              </a:extLst>
            </p:cNvPr>
            <p:cNvSpPr/>
            <p:nvPr/>
          </p:nvSpPr>
          <p:spPr>
            <a:xfrm rot="16200000">
              <a:off x="6370924" y="3852613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831B64A2-FA99-834B-D429-8BAD911AC00A}"/>
                </a:ext>
              </a:extLst>
            </p:cNvPr>
            <p:cNvSpPr/>
            <p:nvPr/>
          </p:nvSpPr>
          <p:spPr>
            <a:xfrm rot="16200000">
              <a:off x="7512884" y="3853842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4EAFC91-505F-2724-8F87-9DB4DE371922}"/>
              </a:ext>
            </a:extLst>
          </p:cNvPr>
          <p:cNvSpPr/>
          <p:nvPr/>
        </p:nvSpPr>
        <p:spPr>
          <a:xfrm>
            <a:off x="10051926" y="3410050"/>
            <a:ext cx="1475200" cy="11915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7F4C6086-89B8-E71D-2D74-94F067EF695D}"/>
              </a:ext>
            </a:extLst>
          </p:cNvPr>
          <p:cNvCxnSpPr>
            <a:cxnSpLocks/>
            <a:stCxn id="57" idx="4"/>
            <a:endCxn id="3" idx="3"/>
          </p:cNvCxnSpPr>
          <p:nvPr/>
        </p:nvCxnSpPr>
        <p:spPr>
          <a:xfrm rot="5400000">
            <a:off x="9219396" y="3962658"/>
            <a:ext cx="931170" cy="2209091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4ED47AF-88C2-7521-ABD2-8969BDC29CC0}"/>
              </a:ext>
            </a:extLst>
          </p:cNvPr>
          <p:cNvSpPr txBox="1"/>
          <p:nvPr/>
        </p:nvSpPr>
        <p:spPr>
          <a:xfrm>
            <a:off x="9350724" y="1694331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B/0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A09B92-2183-5E00-E359-DA3928FB039A}"/>
              </a:ext>
            </a:extLst>
          </p:cNvPr>
          <p:cNvSpPr txBox="1"/>
          <p:nvPr/>
        </p:nvSpPr>
        <p:spPr>
          <a:xfrm>
            <a:off x="9450014" y="5618402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B/1, B/2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9DAF32F-EA81-DBF1-A4CE-E8B415F490AA}"/>
              </a:ext>
            </a:extLst>
          </p:cNvPr>
          <p:cNvCxnSpPr>
            <a:cxnSpLocks/>
            <a:stCxn id="57" idx="0"/>
            <a:endCxn id="2" idx="3"/>
          </p:cNvCxnSpPr>
          <p:nvPr/>
        </p:nvCxnSpPr>
        <p:spPr>
          <a:xfrm rot="16200000" flipV="1">
            <a:off x="9243697" y="1864220"/>
            <a:ext cx="931171" cy="2160489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291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7EE02-4F83-1B5F-8543-7093CF6234D9}"/>
                </a:ext>
              </a:extLst>
            </p:cNvPr>
            <p:cNvSpPr/>
            <p:nvPr/>
          </p:nvSpPr>
          <p:spPr>
            <a:xfrm>
              <a:off x="4405699" y="2200273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23CD1D-51F4-9BE2-7595-A24D6662D0F3}"/>
                </a:ext>
              </a:extLst>
            </p:cNvPr>
            <p:cNvSpPr/>
            <p:nvPr/>
          </p:nvSpPr>
          <p:spPr>
            <a:xfrm>
              <a:off x="6700575" y="2207434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51A7B-CC5C-2E40-A447-41F67EEEE2F0}"/>
                </a:ext>
              </a:extLst>
            </p:cNvPr>
            <p:cNvSpPr/>
            <p:nvPr/>
          </p:nvSpPr>
          <p:spPr>
            <a:xfrm>
              <a:off x="7848013" y="221456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562221FE-9829-26AB-F968-3A645BC0D238}"/>
                </a:ext>
              </a:extLst>
            </p:cNvPr>
            <p:cNvSpPr/>
            <p:nvPr/>
          </p:nvSpPr>
          <p:spPr>
            <a:xfrm rot="5400000">
              <a:off x="5223486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7D7C7E-5260-51C8-87F8-7E4A0C7CE845}"/>
                </a:ext>
              </a:extLst>
            </p:cNvPr>
            <p:cNvSpPr/>
            <p:nvPr/>
          </p:nvSpPr>
          <p:spPr>
            <a:xfrm>
              <a:off x="3258261" y="517031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EDE961-F407-9B04-8FB1-1872D53EA2BC}"/>
                </a:ext>
              </a:extLst>
            </p:cNvPr>
            <p:cNvSpPr/>
            <p:nvPr/>
          </p:nvSpPr>
          <p:spPr>
            <a:xfrm>
              <a:off x="5553137" y="5184617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7DCB372-6DE3-1AC9-697A-CF2F658AF3F6}"/>
                </a:ext>
              </a:extLst>
            </p:cNvPr>
            <p:cNvSpPr/>
            <p:nvPr/>
          </p:nvSpPr>
          <p:spPr>
            <a:xfrm rot="5400000">
              <a:off x="290312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DDC1A8EE-9CC6-B908-9154-8DC1CF9E1D6A}"/>
                </a:ext>
              </a:extLst>
            </p:cNvPr>
            <p:cNvSpPr/>
            <p:nvPr/>
          </p:nvSpPr>
          <p:spPr>
            <a:xfrm rot="16200000">
              <a:off x="407029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A121A8C3-0A39-351D-7599-715BF21E5881}"/>
                </a:ext>
              </a:extLst>
            </p:cNvPr>
            <p:cNvSpPr/>
            <p:nvPr/>
          </p:nvSpPr>
          <p:spPr>
            <a:xfrm rot="16200000">
              <a:off x="6370924" y="3852613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831B64A2-FA99-834B-D429-8BAD911AC00A}"/>
                </a:ext>
              </a:extLst>
            </p:cNvPr>
            <p:cNvSpPr/>
            <p:nvPr/>
          </p:nvSpPr>
          <p:spPr>
            <a:xfrm rot="16200000">
              <a:off x="7512884" y="3853842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4EAFC91-505F-2724-8F87-9DB4DE371922}"/>
              </a:ext>
            </a:extLst>
          </p:cNvPr>
          <p:cNvSpPr/>
          <p:nvPr/>
        </p:nvSpPr>
        <p:spPr>
          <a:xfrm>
            <a:off x="10051926" y="341005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416FAE-C05A-AE5F-78C4-3EDE14B57745}"/>
              </a:ext>
            </a:extLst>
          </p:cNvPr>
          <p:cNvSpPr/>
          <p:nvPr/>
        </p:nvSpPr>
        <p:spPr>
          <a:xfrm>
            <a:off x="10057290" y="1883095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10EA83F-4D84-B0D7-EAEB-8FE43A9DF29E}"/>
              </a:ext>
            </a:extLst>
          </p:cNvPr>
          <p:cNvSpPr/>
          <p:nvPr/>
        </p:nvSpPr>
        <p:spPr>
          <a:xfrm>
            <a:off x="10063391" y="4937004"/>
            <a:ext cx="1475200" cy="119156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01479B8-E28F-CEF6-1F8C-82F550999A04}"/>
              </a:ext>
            </a:extLst>
          </p:cNvPr>
          <p:cNvSpPr/>
          <p:nvPr/>
        </p:nvSpPr>
        <p:spPr>
          <a:xfrm rot="5400000">
            <a:off x="8514457" y="2814034"/>
            <a:ext cx="4716146" cy="231178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RU" sz="1600" b="1" dirty="0"/>
              <a:t>Consumer group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AA5D3AC-E130-8764-B655-6150E0AE3EFF}"/>
              </a:ext>
            </a:extLst>
          </p:cNvPr>
          <p:cNvCxnSpPr>
            <a:cxnSpLocks/>
            <a:stCxn id="59" idx="2"/>
            <a:endCxn id="2" idx="3"/>
          </p:cNvCxnSpPr>
          <p:nvPr/>
        </p:nvCxnSpPr>
        <p:spPr>
          <a:xfrm flipH="1">
            <a:off x="8629037" y="2478879"/>
            <a:ext cx="142825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7F4C6086-89B8-E71D-2D74-94F067EF695D}"/>
              </a:ext>
            </a:extLst>
          </p:cNvPr>
          <p:cNvCxnSpPr>
            <a:cxnSpLocks/>
            <a:stCxn id="57" idx="2"/>
          </p:cNvCxnSpPr>
          <p:nvPr/>
        </p:nvCxnSpPr>
        <p:spPr>
          <a:xfrm rot="10800000" flipV="1">
            <a:off x="8580438" y="4005834"/>
            <a:ext cx="1471489" cy="124031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4ED47AF-88C2-7521-ABD2-8969BDC29CC0}"/>
              </a:ext>
            </a:extLst>
          </p:cNvPr>
          <p:cNvSpPr txBox="1"/>
          <p:nvPr/>
        </p:nvSpPr>
        <p:spPr>
          <a:xfrm>
            <a:off x="8664504" y="1722200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A/0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A09B92-2183-5E00-E359-DA3928FB039A}"/>
              </a:ext>
            </a:extLst>
          </p:cNvPr>
          <p:cNvSpPr txBox="1"/>
          <p:nvPr/>
        </p:nvSpPr>
        <p:spPr>
          <a:xfrm>
            <a:off x="8635484" y="3323594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A/1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D2AC14-06DF-47BE-8BBB-F4EF8C8199C6}"/>
              </a:ext>
            </a:extLst>
          </p:cNvPr>
          <p:cNvSpPr txBox="1"/>
          <p:nvPr/>
        </p:nvSpPr>
        <p:spPr>
          <a:xfrm>
            <a:off x="8731565" y="5604213"/>
            <a:ext cx="120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No records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828C9D-77C9-715B-6DD1-3536674B25AA}"/>
              </a:ext>
            </a:extLst>
          </p:cNvPr>
          <p:cNvCxnSpPr>
            <a:cxnSpLocks/>
            <a:stCxn id="60" idx="2"/>
            <a:endCxn id="3" idx="3"/>
          </p:cNvCxnSpPr>
          <p:nvPr/>
        </p:nvCxnSpPr>
        <p:spPr>
          <a:xfrm flipH="1">
            <a:off x="8580435" y="5532788"/>
            <a:ext cx="148295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8345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7EE02-4F83-1B5F-8543-7093CF6234D9}"/>
                </a:ext>
              </a:extLst>
            </p:cNvPr>
            <p:cNvSpPr/>
            <p:nvPr/>
          </p:nvSpPr>
          <p:spPr>
            <a:xfrm>
              <a:off x="4405699" y="2200273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23CD1D-51F4-9BE2-7595-A24D6662D0F3}"/>
                </a:ext>
              </a:extLst>
            </p:cNvPr>
            <p:cNvSpPr/>
            <p:nvPr/>
          </p:nvSpPr>
          <p:spPr>
            <a:xfrm>
              <a:off x="6700575" y="2207434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51A7B-CC5C-2E40-A447-41F67EEEE2F0}"/>
                </a:ext>
              </a:extLst>
            </p:cNvPr>
            <p:cNvSpPr/>
            <p:nvPr/>
          </p:nvSpPr>
          <p:spPr>
            <a:xfrm>
              <a:off x="7848013" y="221456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562221FE-9829-26AB-F968-3A645BC0D238}"/>
                </a:ext>
              </a:extLst>
            </p:cNvPr>
            <p:cNvSpPr/>
            <p:nvPr/>
          </p:nvSpPr>
          <p:spPr>
            <a:xfrm rot="5400000">
              <a:off x="5223486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7D7C7E-5260-51C8-87F8-7E4A0C7CE845}"/>
                </a:ext>
              </a:extLst>
            </p:cNvPr>
            <p:cNvSpPr/>
            <p:nvPr/>
          </p:nvSpPr>
          <p:spPr>
            <a:xfrm>
              <a:off x="3258261" y="517031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EDE961-F407-9B04-8FB1-1872D53EA2BC}"/>
                </a:ext>
              </a:extLst>
            </p:cNvPr>
            <p:cNvSpPr/>
            <p:nvPr/>
          </p:nvSpPr>
          <p:spPr>
            <a:xfrm>
              <a:off x="5553137" y="5184617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7DCB372-6DE3-1AC9-697A-CF2F658AF3F6}"/>
                </a:ext>
              </a:extLst>
            </p:cNvPr>
            <p:cNvSpPr/>
            <p:nvPr/>
          </p:nvSpPr>
          <p:spPr>
            <a:xfrm rot="5400000">
              <a:off x="290312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DDC1A8EE-9CC6-B908-9154-8DC1CF9E1D6A}"/>
                </a:ext>
              </a:extLst>
            </p:cNvPr>
            <p:cNvSpPr/>
            <p:nvPr/>
          </p:nvSpPr>
          <p:spPr>
            <a:xfrm rot="16200000">
              <a:off x="407029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A121A8C3-0A39-351D-7599-715BF21E5881}"/>
                </a:ext>
              </a:extLst>
            </p:cNvPr>
            <p:cNvSpPr/>
            <p:nvPr/>
          </p:nvSpPr>
          <p:spPr>
            <a:xfrm rot="16200000">
              <a:off x="6370924" y="3852613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831B64A2-FA99-834B-D429-8BAD911AC00A}"/>
                </a:ext>
              </a:extLst>
            </p:cNvPr>
            <p:cNvSpPr/>
            <p:nvPr/>
          </p:nvSpPr>
          <p:spPr>
            <a:xfrm rot="16200000">
              <a:off x="7512884" y="3853842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4EAFC91-505F-2724-8F87-9DB4DE371922}"/>
              </a:ext>
            </a:extLst>
          </p:cNvPr>
          <p:cNvSpPr/>
          <p:nvPr/>
        </p:nvSpPr>
        <p:spPr>
          <a:xfrm>
            <a:off x="10051926" y="3410050"/>
            <a:ext cx="1475200" cy="1191568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416FAE-C05A-AE5F-78C4-3EDE14B57745}"/>
              </a:ext>
            </a:extLst>
          </p:cNvPr>
          <p:cNvSpPr/>
          <p:nvPr/>
        </p:nvSpPr>
        <p:spPr>
          <a:xfrm>
            <a:off x="10057290" y="1883095"/>
            <a:ext cx="1475200" cy="1191568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10EA83F-4D84-B0D7-EAEB-8FE43A9DF29E}"/>
              </a:ext>
            </a:extLst>
          </p:cNvPr>
          <p:cNvSpPr/>
          <p:nvPr/>
        </p:nvSpPr>
        <p:spPr>
          <a:xfrm>
            <a:off x="10063391" y="4937004"/>
            <a:ext cx="1475200" cy="1191568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01479B8-E28F-CEF6-1F8C-82F550999A04}"/>
              </a:ext>
            </a:extLst>
          </p:cNvPr>
          <p:cNvSpPr/>
          <p:nvPr/>
        </p:nvSpPr>
        <p:spPr>
          <a:xfrm rot="5400000">
            <a:off x="8514457" y="2814034"/>
            <a:ext cx="4716146" cy="2311783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RU" sz="1600" b="1" dirty="0"/>
              <a:t>Consumer group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AA5D3AC-E130-8764-B655-6150E0AE3EFF}"/>
              </a:ext>
            </a:extLst>
          </p:cNvPr>
          <p:cNvCxnSpPr>
            <a:cxnSpLocks/>
            <a:stCxn id="59" idx="2"/>
            <a:endCxn id="2" idx="3"/>
          </p:cNvCxnSpPr>
          <p:nvPr/>
        </p:nvCxnSpPr>
        <p:spPr>
          <a:xfrm flipH="1">
            <a:off x="8629037" y="2478879"/>
            <a:ext cx="142825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7F4C6086-89B8-E71D-2D74-94F067EF695D}"/>
              </a:ext>
            </a:extLst>
          </p:cNvPr>
          <p:cNvCxnSpPr>
            <a:cxnSpLocks/>
            <a:stCxn id="57" idx="2"/>
          </p:cNvCxnSpPr>
          <p:nvPr/>
        </p:nvCxnSpPr>
        <p:spPr>
          <a:xfrm rot="10800000" flipV="1">
            <a:off x="8580438" y="4005834"/>
            <a:ext cx="1471489" cy="124031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4ED47AF-88C2-7521-ABD2-8969BDC29CC0}"/>
              </a:ext>
            </a:extLst>
          </p:cNvPr>
          <p:cNvSpPr txBox="1"/>
          <p:nvPr/>
        </p:nvSpPr>
        <p:spPr>
          <a:xfrm>
            <a:off x="8664504" y="1722200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B/0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A09B92-2183-5E00-E359-DA3928FB039A}"/>
              </a:ext>
            </a:extLst>
          </p:cNvPr>
          <p:cNvSpPr txBox="1"/>
          <p:nvPr/>
        </p:nvSpPr>
        <p:spPr>
          <a:xfrm>
            <a:off x="8635484" y="3323594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B/1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D2AC14-06DF-47BE-8BBB-F4EF8C8199C6}"/>
              </a:ext>
            </a:extLst>
          </p:cNvPr>
          <p:cNvSpPr txBox="1"/>
          <p:nvPr/>
        </p:nvSpPr>
        <p:spPr>
          <a:xfrm>
            <a:off x="8618524" y="5604213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  <a:br>
              <a:rPr lang="en-RU" dirty="0"/>
            </a:br>
            <a:r>
              <a:rPr lang="en-RU" dirty="0"/>
              <a:t>B/2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828C9D-77C9-715B-6DD1-3536674B25AA}"/>
              </a:ext>
            </a:extLst>
          </p:cNvPr>
          <p:cNvCxnSpPr>
            <a:cxnSpLocks/>
            <a:stCxn id="60" idx="2"/>
            <a:endCxn id="3" idx="3"/>
          </p:cNvCxnSpPr>
          <p:nvPr/>
        </p:nvCxnSpPr>
        <p:spPr>
          <a:xfrm flipH="1">
            <a:off x="8580435" y="5532788"/>
            <a:ext cx="148295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5352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3E0E588-C7F9-B0C0-5855-EE83E95899CE}"/>
              </a:ext>
            </a:extLst>
          </p:cNvPr>
          <p:cNvCxnSpPr>
            <a:cxnSpLocks/>
            <a:stCxn id="29" idx="0"/>
            <a:endCxn id="2" idx="1"/>
          </p:cNvCxnSpPr>
          <p:nvPr/>
        </p:nvCxnSpPr>
        <p:spPr>
          <a:xfrm rot="5400000" flipH="1" flipV="1">
            <a:off x="1139504" y="2408673"/>
            <a:ext cx="864174" cy="1004587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366BA79-8A07-6B30-6EE7-623341F62F76}"/>
              </a:ext>
            </a:extLst>
          </p:cNvPr>
          <p:cNvCxnSpPr>
            <a:cxnSpLocks/>
            <a:stCxn id="29" idx="4"/>
            <a:endCxn id="3" idx="1"/>
          </p:cNvCxnSpPr>
          <p:nvPr/>
        </p:nvCxnSpPr>
        <p:spPr>
          <a:xfrm rot="16200000" flipH="1">
            <a:off x="1115204" y="4622709"/>
            <a:ext cx="864172" cy="95598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678D8FD-A070-7AB3-E500-6674308A703B}"/>
              </a:ext>
            </a:extLst>
          </p:cNvPr>
          <p:cNvSpPr/>
          <p:nvPr/>
        </p:nvSpPr>
        <p:spPr>
          <a:xfrm>
            <a:off x="248752" y="3343053"/>
            <a:ext cx="1641092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FD8702F-B646-5BFB-93A8-47C3C427C838}"/>
              </a:ext>
            </a:extLst>
          </p:cNvPr>
          <p:cNvGrpSpPr/>
          <p:nvPr/>
        </p:nvGrpSpPr>
        <p:grpSpPr>
          <a:xfrm>
            <a:off x="2025283" y="1661321"/>
            <a:ext cx="6603754" cy="4689025"/>
            <a:chOff x="2817448" y="1661321"/>
            <a:chExt cx="6603754" cy="468902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253765-4592-7C52-DD83-BCE6CAC29C36}"/>
                </a:ext>
              </a:extLst>
            </p:cNvPr>
            <p:cNvSpPr/>
            <p:nvPr/>
          </p:nvSpPr>
          <p:spPr>
            <a:xfrm>
              <a:off x="2866050" y="1661321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RU" sz="1600" b="1" dirty="0"/>
                <a:t>Broker 1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EFB844-FE38-9024-1E04-A5A93496394A}"/>
                </a:ext>
              </a:extLst>
            </p:cNvPr>
            <p:cNvSpPr/>
            <p:nvPr/>
          </p:nvSpPr>
          <p:spPr>
            <a:xfrm>
              <a:off x="2817448" y="4715230"/>
              <a:ext cx="6555152" cy="163511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en-RU" sz="1600" b="1" dirty="0"/>
                <a:t>Broker 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7306C0-C3BB-4078-3085-BD98F17729E1}"/>
                </a:ext>
              </a:extLst>
            </p:cNvPr>
            <p:cNvSpPr/>
            <p:nvPr/>
          </p:nvSpPr>
          <p:spPr>
            <a:xfrm>
              <a:off x="3258261" y="2187832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F7EE02-4F83-1B5F-8543-7093CF6234D9}"/>
                </a:ext>
              </a:extLst>
            </p:cNvPr>
            <p:cNvSpPr/>
            <p:nvPr/>
          </p:nvSpPr>
          <p:spPr>
            <a:xfrm>
              <a:off x="4405699" y="2200273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23CD1D-51F4-9BE2-7595-A24D6662D0F3}"/>
                </a:ext>
              </a:extLst>
            </p:cNvPr>
            <p:cNvSpPr/>
            <p:nvPr/>
          </p:nvSpPr>
          <p:spPr>
            <a:xfrm>
              <a:off x="6700575" y="2207434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9EE57A-1068-9B56-06FF-61CB1FE94227}"/>
                </a:ext>
              </a:extLst>
            </p:cNvPr>
            <p:cNvSpPr/>
            <p:nvPr/>
          </p:nvSpPr>
          <p:spPr>
            <a:xfrm>
              <a:off x="5553137" y="2202139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151A7B-CC5C-2E40-A447-41F67EEEE2F0}"/>
                </a:ext>
              </a:extLst>
            </p:cNvPr>
            <p:cNvSpPr/>
            <p:nvPr/>
          </p:nvSpPr>
          <p:spPr>
            <a:xfrm>
              <a:off x="7848013" y="221456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63CEC-3AC1-939C-E7D8-A217764CDF0E}"/>
                </a:ext>
              </a:extLst>
            </p:cNvPr>
            <p:cNvSpPr txBox="1"/>
            <p:nvPr/>
          </p:nvSpPr>
          <p:spPr>
            <a:xfrm>
              <a:off x="3423283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D76655-541A-58BD-9023-E4A4717621BB}"/>
                </a:ext>
              </a:extLst>
            </p:cNvPr>
            <p:cNvSpPr txBox="1"/>
            <p:nvPr/>
          </p:nvSpPr>
          <p:spPr>
            <a:xfrm>
              <a:off x="4570720" y="5825611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E9C64-55B0-3D92-41C1-EEEA8CE6B86D}"/>
                </a:ext>
              </a:extLst>
            </p:cNvPr>
            <p:cNvSpPr txBox="1"/>
            <p:nvPr/>
          </p:nvSpPr>
          <p:spPr>
            <a:xfrm>
              <a:off x="5718159" y="2807492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154628-B6C3-999D-879E-44A0A6440CED}"/>
                </a:ext>
              </a:extLst>
            </p:cNvPr>
            <p:cNvSpPr txBox="1"/>
            <p:nvPr/>
          </p:nvSpPr>
          <p:spPr>
            <a:xfrm>
              <a:off x="6895254" y="5816714"/>
              <a:ext cx="7537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95BEED-B2A4-5C46-BC04-6D62CADCA11A}"/>
                </a:ext>
              </a:extLst>
            </p:cNvPr>
            <p:cNvSpPr txBox="1"/>
            <p:nvPr/>
          </p:nvSpPr>
          <p:spPr>
            <a:xfrm>
              <a:off x="8007557" y="5816714"/>
              <a:ext cx="753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RU" sz="1600" dirty="0"/>
                <a:t>Leader</a:t>
              </a: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562221FE-9829-26AB-F968-3A645BC0D238}"/>
                </a:ext>
              </a:extLst>
            </p:cNvPr>
            <p:cNvSpPr/>
            <p:nvPr/>
          </p:nvSpPr>
          <p:spPr>
            <a:xfrm rot="5400000">
              <a:off x="5223486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97D7C7E-5260-51C8-87F8-7E4A0C7CE845}"/>
                </a:ext>
              </a:extLst>
            </p:cNvPr>
            <p:cNvSpPr/>
            <p:nvPr/>
          </p:nvSpPr>
          <p:spPr>
            <a:xfrm>
              <a:off x="3258261" y="5170310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A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4E19D-A3AD-4EA6-1D0E-E090B4D97059}"/>
                </a:ext>
              </a:extLst>
            </p:cNvPr>
            <p:cNvSpPr/>
            <p:nvPr/>
          </p:nvSpPr>
          <p:spPr>
            <a:xfrm>
              <a:off x="4405699" y="5182751"/>
              <a:ext cx="1083774" cy="6268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A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5AFA1CC-BB90-CA8E-2361-1EDD3E4C9A6E}"/>
                </a:ext>
              </a:extLst>
            </p:cNvPr>
            <p:cNvSpPr/>
            <p:nvPr/>
          </p:nvSpPr>
          <p:spPr>
            <a:xfrm>
              <a:off x="6700575" y="5189912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EDE961-F407-9B04-8FB1-1872D53EA2BC}"/>
                </a:ext>
              </a:extLst>
            </p:cNvPr>
            <p:cNvSpPr/>
            <p:nvPr/>
          </p:nvSpPr>
          <p:spPr>
            <a:xfrm>
              <a:off x="5553137" y="5184617"/>
              <a:ext cx="1083774" cy="62680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Topic B</a:t>
              </a:r>
            </a:p>
            <a:p>
              <a:pPr algn="ctr"/>
              <a:r>
                <a:rPr lang="en-RU" sz="1600" dirty="0">
                  <a:solidFill>
                    <a:schemeClr val="tx2"/>
                  </a:solidFill>
                </a:rPr>
                <a:t>Partition 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448FBC-E26C-7259-2837-C15E5079DB50}"/>
                </a:ext>
              </a:extLst>
            </p:cNvPr>
            <p:cNvSpPr/>
            <p:nvPr/>
          </p:nvSpPr>
          <p:spPr>
            <a:xfrm>
              <a:off x="7848013" y="5197038"/>
              <a:ext cx="1083774" cy="62680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Topic B</a:t>
              </a:r>
            </a:p>
            <a:p>
              <a:pPr algn="ctr"/>
              <a:r>
                <a:rPr lang="en-RU" sz="1600" dirty="0"/>
                <a:t>Partition 2</a:t>
              </a:r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A7DCB372-6DE3-1AC9-697A-CF2F658AF3F6}"/>
                </a:ext>
              </a:extLst>
            </p:cNvPr>
            <p:cNvSpPr/>
            <p:nvPr/>
          </p:nvSpPr>
          <p:spPr>
            <a:xfrm rot="5400000">
              <a:off x="290312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DDC1A8EE-9CC6-B908-9154-8DC1CF9E1D6A}"/>
                </a:ext>
              </a:extLst>
            </p:cNvPr>
            <p:cNvSpPr/>
            <p:nvPr/>
          </p:nvSpPr>
          <p:spPr>
            <a:xfrm rot="16200000">
              <a:off x="4070291" y="3852614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A121A8C3-0A39-351D-7599-715BF21E5881}"/>
                </a:ext>
              </a:extLst>
            </p:cNvPr>
            <p:cNvSpPr/>
            <p:nvPr/>
          </p:nvSpPr>
          <p:spPr>
            <a:xfrm rot="16200000">
              <a:off x="6370924" y="3852613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831B64A2-FA99-834B-D429-8BAD911AC00A}"/>
                </a:ext>
              </a:extLst>
            </p:cNvPr>
            <p:cNvSpPr/>
            <p:nvPr/>
          </p:nvSpPr>
          <p:spPr>
            <a:xfrm rot="16200000">
              <a:off x="7512884" y="3853842"/>
              <a:ext cx="1743076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sz="1600" dirty="0"/>
                <a:t>Replicate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A52D73-24E9-FE19-C3BC-44969C9E2B52}"/>
              </a:ext>
            </a:extLst>
          </p:cNvPr>
          <p:cNvSpPr txBox="1"/>
          <p:nvPr/>
        </p:nvSpPr>
        <p:spPr>
          <a:xfrm>
            <a:off x="445345" y="1710776"/>
            <a:ext cx="1247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A/0, B/0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494827-EA0D-B423-1220-E648842667CE}"/>
              </a:ext>
            </a:extLst>
          </p:cNvPr>
          <p:cNvSpPr txBox="1"/>
          <p:nvPr/>
        </p:nvSpPr>
        <p:spPr>
          <a:xfrm>
            <a:off x="364617" y="5532790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for</a:t>
            </a:r>
          </a:p>
          <a:p>
            <a:pPr algn="ctr"/>
            <a:r>
              <a:rPr lang="en-RU" dirty="0"/>
              <a:t>A/1, B/1, B/2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4EAFC91-505F-2724-8F87-9DB4DE371922}"/>
              </a:ext>
            </a:extLst>
          </p:cNvPr>
          <p:cNvSpPr/>
          <p:nvPr/>
        </p:nvSpPr>
        <p:spPr>
          <a:xfrm>
            <a:off x="10051926" y="3410050"/>
            <a:ext cx="1475200" cy="1191568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416FAE-C05A-AE5F-78C4-3EDE14B57745}"/>
              </a:ext>
            </a:extLst>
          </p:cNvPr>
          <p:cNvSpPr/>
          <p:nvPr/>
        </p:nvSpPr>
        <p:spPr>
          <a:xfrm>
            <a:off x="10057290" y="1883095"/>
            <a:ext cx="1475200" cy="1191568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10EA83F-4D84-B0D7-EAEB-8FE43A9DF29E}"/>
              </a:ext>
            </a:extLst>
          </p:cNvPr>
          <p:cNvSpPr/>
          <p:nvPr/>
        </p:nvSpPr>
        <p:spPr>
          <a:xfrm>
            <a:off x="10063391" y="4937004"/>
            <a:ext cx="1475200" cy="119156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01479B8-E28F-CEF6-1F8C-82F550999A04}"/>
              </a:ext>
            </a:extLst>
          </p:cNvPr>
          <p:cNvSpPr/>
          <p:nvPr/>
        </p:nvSpPr>
        <p:spPr>
          <a:xfrm rot="5400000">
            <a:off x="8514457" y="2814034"/>
            <a:ext cx="4716146" cy="2311783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RU" sz="1600" b="1" dirty="0"/>
              <a:t>Consumer group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AA5D3AC-E130-8764-B655-6150E0AE3EFF}"/>
              </a:ext>
            </a:extLst>
          </p:cNvPr>
          <p:cNvCxnSpPr>
            <a:cxnSpLocks/>
            <a:stCxn id="59" idx="2"/>
            <a:endCxn id="2" idx="3"/>
          </p:cNvCxnSpPr>
          <p:nvPr/>
        </p:nvCxnSpPr>
        <p:spPr>
          <a:xfrm flipH="1">
            <a:off x="8629037" y="2478879"/>
            <a:ext cx="142825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7F4C6086-89B8-E71D-2D74-94F067EF695D}"/>
              </a:ext>
            </a:extLst>
          </p:cNvPr>
          <p:cNvCxnSpPr>
            <a:cxnSpLocks/>
            <a:stCxn id="57" idx="2"/>
          </p:cNvCxnSpPr>
          <p:nvPr/>
        </p:nvCxnSpPr>
        <p:spPr>
          <a:xfrm rot="10800000" flipV="1">
            <a:off x="8580438" y="4005834"/>
            <a:ext cx="1471489" cy="124031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4ED47AF-88C2-7521-ABD2-8969BDC29CC0}"/>
              </a:ext>
            </a:extLst>
          </p:cNvPr>
          <p:cNvSpPr txBox="1"/>
          <p:nvPr/>
        </p:nvSpPr>
        <p:spPr>
          <a:xfrm>
            <a:off x="8664504" y="1722200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B/0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A09B92-2183-5E00-E359-DA3928FB039A}"/>
              </a:ext>
            </a:extLst>
          </p:cNvPr>
          <p:cNvSpPr txBox="1"/>
          <p:nvPr/>
        </p:nvSpPr>
        <p:spPr>
          <a:xfrm>
            <a:off x="8635484" y="3323594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Records from</a:t>
            </a:r>
          </a:p>
          <a:p>
            <a:pPr algn="ctr"/>
            <a:r>
              <a:rPr lang="en-RU" dirty="0"/>
              <a:t>B/1, B/2</a:t>
            </a: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64124D9C-0040-3BC5-7822-238BE8C3BCC9}"/>
              </a:ext>
            </a:extLst>
          </p:cNvPr>
          <p:cNvSpPr/>
          <p:nvPr/>
        </p:nvSpPr>
        <p:spPr>
          <a:xfrm rot="2700000">
            <a:off x="10481756" y="5202667"/>
            <a:ext cx="615543" cy="615543"/>
          </a:xfrm>
          <a:prstGeom prst="plus">
            <a:avLst>
              <a:gd name="adj" fmla="val 44267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045736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>
                <a:solidFill>
                  <a:schemeClr val="bg2"/>
                </a:solidFill>
              </a:rPr>
              <a:t>Brokers</a:t>
            </a:r>
          </a:p>
          <a:p>
            <a:r>
              <a:rPr lang="en-RU" dirty="0">
                <a:solidFill>
                  <a:schemeClr val="bg2"/>
                </a:solidFill>
              </a:rPr>
              <a:t>Topics and Partitions</a:t>
            </a:r>
          </a:p>
          <a:p>
            <a:r>
              <a:rPr lang="en-GB" dirty="0">
                <a:solidFill>
                  <a:schemeClr val="bg2"/>
                </a:solidFill>
              </a:rPr>
              <a:t>Records</a:t>
            </a:r>
          </a:p>
          <a:p>
            <a:r>
              <a:rPr lang="en-GB" dirty="0">
                <a:solidFill>
                  <a:schemeClr val="bg2"/>
                </a:solidFill>
              </a:rPr>
              <a:t>Producers</a:t>
            </a:r>
          </a:p>
          <a:p>
            <a:r>
              <a:rPr lang="en-GB" dirty="0">
                <a:solidFill>
                  <a:schemeClr val="bg2"/>
                </a:solidFill>
              </a:rPr>
              <a:t>Consumers</a:t>
            </a:r>
          </a:p>
          <a:p>
            <a:r>
              <a:rPr lang="en-GB" dirty="0" err="1"/>
              <a:t>ZooKeeper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Metadata Management:</a:t>
            </a:r>
            <a:br>
              <a:rPr lang="en-GB" dirty="0">
                <a:effectLst/>
              </a:rPr>
            </a:br>
            <a:r>
              <a:rPr lang="en-GB" dirty="0"/>
              <a:t>brokers, topics, and partitions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Leader 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Configuration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Cluster Health Monitoring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5688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RU" dirty="0">
                <a:solidFill>
                  <a:schemeClr val="bg2"/>
                </a:solidFill>
              </a:rPr>
              <a:t>Brokers</a:t>
            </a:r>
          </a:p>
          <a:p>
            <a:r>
              <a:rPr lang="en-RU" dirty="0">
                <a:solidFill>
                  <a:schemeClr val="bg2"/>
                </a:solidFill>
              </a:rPr>
              <a:t>Topics and Partitions</a:t>
            </a:r>
          </a:p>
          <a:p>
            <a:r>
              <a:rPr lang="en-GB" dirty="0">
                <a:solidFill>
                  <a:schemeClr val="bg2"/>
                </a:solidFill>
              </a:rPr>
              <a:t>Records</a:t>
            </a:r>
          </a:p>
          <a:p>
            <a:r>
              <a:rPr lang="en-GB" dirty="0">
                <a:solidFill>
                  <a:schemeClr val="bg2"/>
                </a:solidFill>
              </a:rPr>
              <a:t>Producers</a:t>
            </a:r>
          </a:p>
          <a:p>
            <a:r>
              <a:rPr lang="en-GB" dirty="0">
                <a:solidFill>
                  <a:schemeClr val="bg2"/>
                </a:solidFill>
              </a:rPr>
              <a:t>Consumers</a:t>
            </a:r>
          </a:p>
          <a:p>
            <a:r>
              <a:rPr lang="en-GB" dirty="0" err="1">
                <a:solidFill>
                  <a:schemeClr val="bg2"/>
                </a:solidFill>
              </a:rPr>
              <a:t>ZooKeeper</a:t>
            </a:r>
            <a:endParaRPr lang="en-GB" dirty="0">
              <a:solidFill>
                <a:schemeClr val="bg2"/>
              </a:solidFill>
            </a:endParaRPr>
          </a:p>
          <a:p>
            <a:r>
              <a:rPr lang="en-GB" dirty="0" err="1"/>
              <a:t>KRaft</a:t>
            </a:r>
            <a:r>
              <a:rPr lang="en-GB" dirty="0"/>
              <a:t> (Kafka Raft)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Integrated consensus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KRaft</a:t>
            </a:r>
            <a:r>
              <a:rPr lang="en-GB" dirty="0"/>
              <a:t> replaces </a:t>
            </a:r>
            <a:r>
              <a:rPr lang="en-GB" dirty="0" err="1"/>
              <a:t>ZooKeeper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Broker-Only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Simplified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Unified Configuration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9261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83C-BAF0-BEA9-4D36-9E06BCE7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Kafka components and how they interact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35765-115B-86AC-92D0-71A1F2D77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RU" dirty="0"/>
              <a:t>Components:</a:t>
            </a:r>
          </a:p>
          <a:p>
            <a:r>
              <a:rPr lang="en-RU" dirty="0"/>
              <a:t>Brokers</a:t>
            </a:r>
          </a:p>
          <a:p>
            <a:r>
              <a:rPr lang="en-RU" dirty="0"/>
              <a:t>Topics and Partitions</a:t>
            </a:r>
          </a:p>
          <a:p>
            <a:r>
              <a:rPr lang="en-GB" dirty="0"/>
              <a:t>Records</a:t>
            </a:r>
          </a:p>
          <a:p>
            <a:r>
              <a:rPr lang="en-GB" dirty="0"/>
              <a:t>Producers</a:t>
            </a:r>
          </a:p>
          <a:p>
            <a:r>
              <a:rPr lang="en-GB" dirty="0"/>
              <a:t>Consumers</a:t>
            </a:r>
          </a:p>
          <a:p>
            <a:r>
              <a:rPr lang="en-GB" dirty="0" err="1"/>
              <a:t>ZooKeeper</a:t>
            </a:r>
            <a:endParaRPr lang="en-GB" dirty="0"/>
          </a:p>
          <a:p>
            <a:r>
              <a:rPr lang="en-GB" dirty="0" err="1"/>
              <a:t>KRaft</a:t>
            </a:r>
            <a:r>
              <a:rPr lang="en-GB" dirty="0"/>
              <a:t> (Kafka Raft)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D7F3F-1BDA-3F59-4911-D563BA83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Interactions:</a:t>
            </a:r>
          </a:p>
          <a:p>
            <a:r>
              <a:rPr lang="en-GB" dirty="0"/>
              <a:t>Producers write records to topics</a:t>
            </a:r>
          </a:p>
          <a:p>
            <a:r>
              <a:rPr lang="en-GB" dirty="0"/>
              <a:t>Topics are partitioned</a:t>
            </a:r>
          </a:p>
          <a:p>
            <a:r>
              <a:rPr lang="en-GB" dirty="0"/>
              <a:t>Partitions maintained by brokers</a:t>
            </a:r>
          </a:p>
          <a:p>
            <a:r>
              <a:rPr lang="en-GB" dirty="0"/>
              <a:t>Partitions are replicated</a:t>
            </a:r>
          </a:p>
          <a:p>
            <a:r>
              <a:rPr lang="en-GB" dirty="0"/>
              <a:t>Consumers, united in groups, read records from partitions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99665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5958F8-B1E2-D30B-C03A-4A6AB903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b="1" dirty="0"/>
              <a:t>Monitoring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484E3A-E3B8-1AD9-05E3-934A6D800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390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595CB7-47E2-6B08-B366-06149F58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for Monitoring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A26312-B52A-F3D5-F0C3-97C45C97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https://kafka.apache.org/documentation/#monitoring</a:t>
            </a:r>
            <a:endParaRPr lang="en-US" dirty="0"/>
          </a:p>
          <a:p>
            <a:r>
              <a:rPr lang="en-US" dirty="0">
                <a:hlinkClick r:id="rId3"/>
              </a:rPr>
              <a:t>https://docs.confluent.io/platform/current/kafka/monitoring.html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559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AAE6-2176-7A7F-A36C-BC946CDF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Main health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F1584-F6D4-1481-D39F-3DB6562D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ActiveControllerCount</a:t>
            </a:r>
            <a:r>
              <a:rPr lang="en-US" dirty="0"/>
              <a:t> = 1</a:t>
            </a:r>
          </a:p>
          <a:p>
            <a:r>
              <a:rPr lang="en-US" dirty="0" err="1"/>
              <a:t>OfflinePartitionsCount</a:t>
            </a:r>
            <a:r>
              <a:rPr lang="en-US" dirty="0"/>
              <a:t> = 0</a:t>
            </a:r>
          </a:p>
          <a:p>
            <a:r>
              <a:rPr lang="en-US" dirty="0" err="1"/>
              <a:t>UnderReplicatedPartitions</a:t>
            </a:r>
            <a:r>
              <a:rPr lang="en-US" dirty="0"/>
              <a:t> = 0</a:t>
            </a:r>
          </a:p>
          <a:p>
            <a:r>
              <a:rPr lang="en-US" dirty="0" err="1"/>
              <a:t>UncleanLeaderElectionsPerSec</a:t>
            </a:r>
            <a:r>
              <a:rPr lang="en-US" dirty="0"/>
              <a:t> = 0</a:t>
            </a:r>
          </a:p>
          <a:p>
            <a:r>
              <a:rPr lang="en-US" dirty="0" err="1"/>
              <a:t>UnderMinIsrPartitionCount</a:t>
            </a:r>
            <a:r>
              <a:rPr lang="en-US" dirty="0"/>
              <a:t> = 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880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D105-0D46-F93F-67EB-7CADB884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8149-1367-64EC-16C4-C05C0A141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ActiveControllerCount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64F9-E404-B368-FB36-F1E30DFC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sum(</a:t>
            </a:r>
            <a:r>
              <a:rPr lang="en-US" dirty="0" err="1"/>
              <a:t>ActiveControllerCount</a:t>
            </a:r>
            <a:r>
              <a:rPr lang="en-US" dirty="0"/>
              <a:t>) = 1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KRaft</a:t>
            </a:r>
            <a:r>
              <a:rPr lang="en-US" dirty="0"/>
              <a:t> mode, the number of active controllers in the cluster.</a:t>
            </a:r>
            <a:br>
              <a:rPr lang="en-US" dirty="0"/>
            </a:br>
            <a:r>
              <a:rPr lang="en-US" dirty="0"/>
              <a:t>Valid values are ‘0’ or ‘1’.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ZooKeeper</a:t>
            </a:r>
            <a:r>
              <a:rPr lang="en-US" dirty="0"/>
              <a:t>, indicates whether the broker is the controller broker.</a:t>
            </a:r>
          </a:p>
          <a:p>
            <a:pPr marL="0" indent="0">
              <a:buNone/>
            </a:pPr>
            <a:r>
              <a:rPr lang="en-US" dirty="0"/>
              <a:t>Alert if the aggregated sum across all brokers in the cluster is anything other than 1 because there should be exactly </a:t>
            </a:r>
            <a:r>
              <a:rPr lang="en-US" b="1" dirty="0"/>
              <a:t>one controller per cluster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2883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8921-3920-A77C-B9CD-283A44EF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OfflinePartitionsCount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108401-954B-0B74-C51A-BBA544A0C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number of partitions that don’t have an active leader and are therefore not writable or readable.</a:t>
            </a:r>
          </a:p>
          <a:p>
            <a:pPr marL="0" indent="0">
              <a:buNone/>
            </a:pPr>
            <a:r>
              <a:rPr lang="en-US" dirty="0"/>
              <a:t>Alert if value is greater than 0.</a:t>
            </a:r>
          </a:p>
        </p:txBody>
      </p:sp>
    </p:spTree>
    <p:extLst>
      <p:ext uri="{BB962C8B-B14F-4D97-AF65-F5344CB8AC3E}">
        <p14:creationId xmlns:p14="http://schemas.microsoft.com/office/powerpoint/2010/main" val="3460435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1989-ED43-B507-D7E0-58218C13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UnderReplicatedPartitions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6ADC9A-B671-0137-7A84-0A664E3D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number of under-replicated partitions</a:t>
            </a:r>
          </a:p>
          <a:p>
            <a:pPr marL="0" indent="0">
              <a:buNone/>
            </a:pPr>
            <a:r>
              <a:rPr lang="en-US" dirty="0"/>
              <a:t>| ISR | &lt; | current replicas |</a:t>
            </a:r>
          </a:p>
          <a:p>
            <a:pPr marL="0" indent="0">
              <a:buNone/>
            </a:pPr>
            <a:r>
              <a:rPr lang="en-US" dirty="0"/>
              <a:t>Replicas that are added as part of a reassignment will not count.</a:t>
            </a:r>
          </a:p>
          <a:p>
            <a:pPr marL="0" indent="0">
              <a:buNone/>
            </a:pPr>
            <a:r>
              <a:rPr lang="en-US" dirty="0"/>
              <a:t>Alert if the value is greater than 0.</a:t>
            </a:r>
          </a:p>
        </p:txBody>
      </p:sp>
    </p:spTree>
    <p:extLst>
      <p:ext uri="{BB962C8B-B14F-4D97-AF65-F5344CB8AC3E}">
        <p14:creationId xmlns:p14="http://schemas.microsoft.com/office/powerpoint/2010/main" val="3403092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6A3D-A351-AB42-D9E9-B8A212A8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UncleanLeaderElectionsPerSec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621D-D58C-E18F-72EC-EB6D9FA50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unclean broker leader election rate.</a:t>
            </a:r>
          </a:p>
          <a:p>
            <a:pPr marL="0" indent="0">
              <a:buNone/>
            </a:pPr>
            <a:r>
              <a:rPr lang="en-US" dirty="0"/>
              <a:t>Should be 0.</a:t>
            </a:r>
          </a:p>
        </p:txBody>
      </p:sp>
    </p:spTree>
    <p:extLst>
      <p:ext uri="{BB962C8B-B14F-4D97-AF65-F5344CB8AC3E}">
        <p14:creationId xmlns:p14="http://schemas.microsoft.com/office/powerpoint/2010/main" val="20712620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6B42-36B2-B886-7A04-50BA0610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ECC5-7BFB-E0D0-D727-FA70CE561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Unclean Leader Election</a:t>
            </a:r>
            <a:r>
              <a:rPr lang="en-US" dirty="0"/>
              <a:t> occurs when Kafka selects a non-ISR replica (an out-of-sync replica) as the new leader.</a:t>
            </a:r>
          </a:p>
          <a:p>
            <a:pPr marL="0" indent="0">
              <a:buNone/>
            </a:pPr>
            <a:r>
              <a:rPr lang="en-US" dirty="0"/>
              <a:t>This happens when all ISR replicas are unavailable and the cluster is configured to </a:t>
            </a:r>
            <a:r>
              <a:rPr lang="en-US" u="sng" dirty="0"/>
              <a:t>allow ULE</a:t>
            </a:r>
            <a:r>
              <a:rPr lang="ru-RU" dirty="0"/>
              <a:t> (</a:t>
            </a:r>
            <a:r>
              <a:rPr lang="en-US" i="1" dirty="0" err="1"/>
              <a:t>unclean.leader.election.enable</a:t>
            </a:r>
            <a:r>
              <a:rPr lang="ru-RU" i="1" dirty="0"/>
              <a:t>=</a:t>
            </a:r>
            <a:r>
              <a:rPr lang="en-US" i="1" dirty="0"/>
              <a:t>true</a:t>
            </a:r>
            <a:r>
              <a:rPr lang="ru-RU" dirty="0"/>
              <a:t>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newly promoted leader may miss the most recent acknowledged records → data loss (log truncation).</a:t>
            </a:r>
          </a:p>
          <a:p>
            <a:pPr marL="0" indent="0">
              <a:buNone/>
            </a:pPr>
            <a:r>
              <a:rPr lang="en-US" dirty="0"/>
              <a:t>Typical triggers: quorum outages, network partitions, slow disks, GC pauses, broker crashes.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F4C8D-E74F-EBA3-E651-6F104C4F4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Unclean Leader Election (ULE)</a:t>
            </a:r>
          </a:p>
        </p:txBody>
      </p:sp>
    </p:spTree>
    <p:extLst>
      <p:ext uri="{BB962C8B-B14F-4D97-AF65-F5344CB8AC3E}">
        <p14:creationId xmlns:p14="http://schemas.microsoft.com/office/powerpoint/2010/main" val="25030404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19C9-2D49-E343-04EF-305E26C5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UnderMinIsrPartitionCount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A9531-B911-EE7C-6596-C9FA0E0B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number of partitions whose ISR (in-sync replicas) count is less than </a:t>
            </a:r>
            <a:r>
              <a:rPr lang="en-US" i="1" dirty="0" err="1"/>
              <a:t>minIsr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These partitions will be unavailable to producers who use </a:t>
            </a:r>
            <a:r>
              <a:rPr lang="en-US" i="1" dirty="0"/>
              <a:t>acks=all</a:t>
            </a:r>
          </a:p>
        </p:txBody>
      </p:sp>
    </p:spTree>
    <p:extLst>
      <p:ext uri="{BB962C8B-B14F-4D97-AF65-F5344CB8AC3E}">
        <p14:creationId xmlns:p14="http://schemas.microsoft.com/office/powerpoint/2010/main" val="15340864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2984-268C-9BC6-D493-4DA82FD3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Queue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D1E60-ADD1-DAFE-32C8-FD36E7544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MessagesInPerSec</a:t>
            </a:r>
            <a:endParaRPr lang="en-US" dirty="0"/>
          </a:p>
          <a:p>
            <a:r>
              <a:rPr lang="en-US" dirty="0" err="1"/>
              <a:t>ErrorsPerSec</a:t>
            </a:r>
            <a:endParaRPr lang="en-US" dirty="0"/>
          </a:p>
          <a:p>
            <a:r>
              <a:rPr lang="en-US" dirty="0"/>
              <a:t>Log/Size</a:t>
            </a:r>
          </a:p>
        </p:txBody>
      </p:sp>
    </p:spTree>
    <p:extLst>
      <p:ext uri="{BB962C8B-B14F-4D97-AF65-F5344CB8AC3E}">
        <p14:creationId xmlns:p14="http://schemas.microsoft.com/office/powerpoint/2010/main" val="25401783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48E0-FCE8-4E4E-2A79-276A1B17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B20-63F2-F881-1369-6D14D3C9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0521-E7E1-4C46-17FD-97605F634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ActiveBrokerCount</a:t>
            </a:r>
            <a:endParaRPr lang="en-US" dirty="0"/>
          </a:p>
          <a:p>
            <a:r>
              <a:rPr lang="en-US" dirty="0" err="1"/>
              <a:t>GlobalTopicCount</a:t>
            </a:r>
            <a:endParaRPr lang="en-US" dirty="0"/>
          </a:p>
          <a:p>
            <a:r>
              <a:rPr lang="en-US" dirty="0" err="1"/>
              <a:t>GlobalPartitionCount</a:t>
            </a:r>
            <a:endParaRPr lang="en-US" dirty="0"/>
          </a:p>
          <a:p>
            <a:r>
              <a:rPr lang="en-US" dirty="0" err="1"/>
              <a:t>PartitionCount</a:t>
            </a:r>
            <a:r>
              <a:rPr lang="en-US" dirty="0"/>
              <a:t> </a:t>
            </a:r>
            <a:r>
              <a:rPr lang="en-US" i="1" dirty="0"/>
              <a:t>(per broker)</a:t>
            </a:r>
          </a:p>
          <a:p>
            <a:r>
              <a:rPr lang="en-US" dirty="0" err="1"/>
              <a:t>LeaderCount</a:t>
            </a:r>
            <a:r>
              <a:rPr lang="en-US" dirty="0"/>
              <a:t> </a:t>
            </a:r>
            <a:r>
              <a:rPr lang="en-US" i="1" dirty="0"/>
              <a:t>(per broker)</a:t>
            </a:r>
          </a:p>
          <a:p>
            <a:r>
              <a:rPr lang="en-US" dirty="0" err="1"/>
              <a:t>ConsumerLag</a:t>
            </a:r>
            <a:endParaRPr lang="en-US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550900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C257-7512-9B59-C517-4BDCF0D6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Scenarios for Kafka Use Cases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3450E-F90C-892F-34C5-5BF901712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746745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2EE2-0D82-27D6-A0BB-19C2A885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Big Market Players and Their Kafka Use Cases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04E15-7C08-243F-B80C-769A674A3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LinkedIn:</a:t>
            </a:r>
            <a:r>
              <a:rPr lang="en-GB" dirty="0"/>
              <a:t> Activity stream data, real-time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Netflix:</a:t>
            </a:r>
            <a:r>
              <a:rPr lang="en-GB" dirty="0"/>
              <a:t> Real-time monitoring, event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Uber:</a:t>
            </a:r>
            <a:r>
              <a:rPr lang="en-GB" dirty="0"/>
              <a:t> Event sourcing, trip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Spotify:</a:t>
            </a:r>
            <a:r>
              <a:rPr lang="en-GB" dirty="0"/>
              <a:t> User activity processing,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Airbnb:</a:t>
            </a:r>
            <a:r>
              <a:rPr lang="en-GB" dirty="0"/>
              <a:t> Data pipelines, real-time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Twitter:</a:t>
            </a:r>
            <a:r>
              <a:rPr lang="en-GB" dirty="0"/>
              <a:t> Data ingestion, real-time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Goldman Sachs:</a:t>
            </a:r>
            <a:r>
              <a:rPr lang="en-GB" dirty="0"/>
              <a:t> Trade processing,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Cisco:</a:t>
            </a:r>
            <a:r>
              <a:rPr lang="en-GB" dirty="0"/>
              <a:t> Network telemetry,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Pinterest:</a:t>
            </a:r>
            <a:r>
              <a:rPr lang="en-GB" dirty="0"/>
              <a:t> Event processing, recommendation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PayPal:</a:t>
            </a:r>
            <a:r>
              <a:rPr lang="en-GB" dirty="0"/>
              <a:t> Transaction processing, fraud detection</a:t>
            </a:r>
          </a:p>
        </p:txBody>
      </p:sp>
    </p:spTree>
    <p:extLst>
      <p:ext uri="{BB962C8B-B14F-4D97-AF65-F5344CB8AC3E}">
        <p14:creationId xmlns:p14="http://schemas.microsoft.com/office/powerpoint/2010/main" val="6756417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4422-0EF5-1BC1-01BD-A8593784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Real-Time Analytics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5E5F1-C460-D9D0-5369-2C34C6DB0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effectLst/>
              </a:rPr>
              <a:t>Use Case:</a:t>
            </a:r>
            <a:r>
              <a:rPr lang="en-GB" dirty="0"/>
              <a:t> An e-commerce company wants to </a:t>
            </a:r>
            <a:r>
              <a:rPr lang="en-GB" dirty="0" err="1"/>
              <a:t>analyze</a:t>
            </a:r>
            <a:r>
              <a:rPr lang="en-GB" dirty="0"/>
              <a:t> customer </a:t>
            </a:r>
            <a:r>
              <a:rPr lang="en-GB" dirty="0" err="1"/>
              <a:t>behavior</a:t>
            </a:r>
            <a:r>
              <a:rPr lang="en-GB" dirty="0"/>
              <a:t> in real-time to personalize recommendations and improve user experience.</a:t>
            </a:r>
          </a:p>
          <a:p>
            <a:r>
              <a:rPr lang="en-GB" b="1" dirty="0">
                <a:effectLst/>
              </a:rPr>
              <a:t>Implementation:</a:t>
            </a:r>
            <a:endParaRPr lang="en-GB" dirty="0"/>
          </a:p>
          <a:p>
            <a:pPr lvl="1"/>
            <a:r>
              <a:rPr lang="en-GB" b="1" dirty="0"/>
              <a:t>Data Ingestion:</a:t>
            </a:r>
            <a:r>
              <a:rPr lang="en-GB" dirty="0"/>
              <a:t> Kafka is used to collect real-time data from user interactions on the website, such as page views, clicks, and purchases.</a:t>
            </a:r>
          </a:p>
          <a:p>
            <a:pPr lvl="1"/>
            <a:r>
              <a:rPr lang="en-GB" b="1" dirty="0"/>
              <a:t>Stream Processing:</a:t>
            </a:r>
            <a:r>
              <a:rPr lang="en-GB" dirty="0"/>
              <a:t> Kafka Streams or KSQL is used to process and </a:t>
            </a:r>
            <a:r>
              <a:rPr lang="en-GB" dirty="0" err="1"/>
              <a:t>analyze</a:t>
            </a:r>
            <a:r>
              <a:rPr lang="en-GB" dirty="0"/>
              <a:t> the data in real-time, generating insights and updating recommendation models.</a:t>
            </a:r>
          </a:p>
          <a:p>
            <a:pPr lvl="1"/>
            <a:r>
              <a:rPr lang="en-GB" b="1" dirty="0"/>
              <a:t>Data Visualization:</a:t>
            </a:r>
            <a:r>
              <a:rPr lang="en-GB" dirty="0"/>
              <a:t> Processed data is sent to a real-time dashboard or analytics platform for visualization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11021564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1BA9-2F0E-CD21-3371-563F61B8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Event Sourcing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6C86D-9470-6B93-C07C-157B226AB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Use Case:</a:t>
            </a:r>
            <a:r>
              <a:rPr lang="en-GB" dirty="0"/>
              <a:t> A financial services company implements event sourcing to ensure accurate and reliable transaction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Event Storage:</a:t>
            </a:r>
            <a:r>
              <a:rPr lang="en-GB" dirty="0"/>
              <a:t> Kafka acts as the central event store, where all events are recorded as immutable logs.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State Reconstruction:</a:t>
            </a:r>
            <a:r>
              <a:rPr lang="en-GB" dirty="0"/>
              <a:t> Microservices consume events to reconstruct the current state of accounts or other entities.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Audit and Compliance:</a:t>
            </a:r>
            <a:r>
              <a:rPr lang="en-GB" dirty="0"/>
              <a:t> Kafka's log retention ensures a complete history of all events, facilitating audits and compliance checks.</a:t>
            </a:r>
          </a:p>
        </p:txBody>
      </p:sp>
    </p:spTree>
    <p:extLst>
      <p:ext uri="{BB962C8B-B14F-4D97-AF65-F5344CB8AC3E}">
        <p14:creationId xmlns:p14="http://schemas.microsoft.com/office/powerpoint/2010/main" val="22372470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6BD9-5877-6FBB-6D13-34063788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Log Aggregation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A60BC-EAF9-302A-3294-F0FD1DC99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Case:</a:t>
            </a:r>
            <a:r>
              <a:rPr lang="en-GB" dirty="0"/>
              <a:t> A tech company aggregates logs from various applications and services for centralized monitoring and troubleshooting.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Log Collection:</a:t>
            </a:r>
            <a:r>
              <a:rPr lang="en-GB" dirty="0"/>
              <a:t> Kafka Connect is used to collect logs from multiple sources, including application servers, databases, and network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Centralized Storage:</a:t>
            </a:r>
            <a:r>
              <a:rPr lang="en-GB" dirty="0"/>
              <a:t> Logs are stored in Kafka topics, allowing for centralized management and processing.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Analysis and Monitoring:</a:t>
            </a:r>
            <a:r>
              <a:rPr lang="en-GB" dirty="0"/>
              <a:t> Logs are processed and </a:t>
            </a:r>
            <a:r>
              <a:rPr lang="en-GB" dirty="0" err="1"/>
              <a:t>analyzed</a:t>
            </a:r>
            <a:r>
              <a:rPr lang="en-GB" dirty="0"/>
              <a:t> using tools like Elasticsearch and Kibana for real-time monitoring and alerting.</a:t>
            </a:r>
          </a:p>
        </p:txBody>
      </p:sp>
    </p:spTree>
    <p:extLst>
      <p:ext uri="{BB962C8B-B14F-4D97-AF65-F5344CB8AC3E}">
        <p14:creationId xmlns:p14="http://schemas.microsoft.com/office/powerpoint/2010/main" val="18957426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7B3E-42E5-233D-348A-D8891834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Metrics Collection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C392-A839-06E3-4FE7-FD8906E32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Case:</a:t>
            </a:r>
            <a:r>
              <a:rPr lang="en-GB" dirty="0"/>
              <a:t> A cloud provider collects and processes metrics from its infrastructure to monitor performance and optimize resource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Metrics Collection:</a:t>
            </a:r>
            <a:r>
              <a:rPr lang="en-GB" dirty="0"/>
              <a:t> Kafka producers collect metrics from various components of the infrastructure, such as servers, containers, and applications.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Stream Processing:</a:t>
            </a:r>
            <a:r>
              <a:rPr lang="en-GB" dirty="0"/>
              <a:t> Kafka Streams or KSQL processes the metrics in real-time to calculate aggregates, trends, and anomalies.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Visualization:</a:t>
            </a:r>
            <a:r>
              <a:rPr lang="en-GB" dirty="0"/>
              <a:t> Processed metrics are sent to a monitoring system like Prometheus and visualized using Grafana.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088042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EA35-846B-A1F1-6F18-554A1053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Integration (ETL)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5EEB-3A8B-C172-7DF4-4CB5422D6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Case:</a:t>
            </a:r>
            <a:r>
              <a:rPr lang="en-GB" dirty="0"/>
              <a:t> A corporation integrates data from various legacy systems into a centralized data lake for unified analysis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Data Ingestion:</a:t>
            </a:r>
            <a:r>
              <a:rPr lang="en-GB" dirty="0"/>
              <a:t> Kafka Connect is used to ingest data from legacy systems, databases, and applications into Kafka topics.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Stream Processing:</a:t>
            </a:r>
            <a:r>
              <a:rPr lang="en-GB" dirty="0"/>
              <a:t> Data is processed and transformed in real-time using Kafka Streams, KSQL, or Flink.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Data Lake Storage:</a:t>
            </a:r>
            <a:r>
              <a:rPr lang="en-GB" dirty="0"/>
              <a:t> Transformed data is stored in a data lake, such as S3/Vertica, for further analysis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35625977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746B-DFD2-24E3-25DA-B36DF0CF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Microservices Communication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C634-BA77-4A79-6A96-5FCEB7652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Case:</a:t>
            </a:r>
            <a:r>
              <a:rPr lang="en-GB" dirty="0"/>
              <a:t> A software company adopts a microservices architecture and uses Kafka to facilitate communication between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Event-Driven Architecture:</a:t>
            </a:r>
            <a:r>
              <a:rPr lang="en-GB" dirty="0"/>
              <a:t> Kafka topics are used to publish and subscribe to events between microservices.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Service Decoupling:</a:t>
            </a:r>
            <a:r>
              <a:rPr lang="en-GB" dirty="0"/>
              <a:t> Microservices communicate asynchronously through Kafka, reducing dependencies and increasing resilience.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State Management:</a:t>
            </a:r>
            <a:r>
              <a:rPr lang="en-GB" dirty="0"/>
              <a:t> Kafka Streams are used to manage stateful interactions and aggregate data across services.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9914001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8FBF-F484-3973-7801-ECE692EE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Fraud Detection / AML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EDF17-BF62-42F2-5889-949407F3D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Case:</a:t>
            </a:r>
            <a:r>
              <a:rPr lang="en-GB" dirty="0"/>
              <a:t> A banking institution implements a real-time fraud detection system to monitor transactions and detect fraudulent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Data Collection:</a:t>
            </a:r>
            <a:r>
              <a:rPr lang="en-GB" dirty="0"/>
              <a:t> Kafka collects transaction data from various channels, such as ATMs, online banking, and mobile apps.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Real-Time Processing:</a:t>
            </a:r>
            <a:r>
              <a:rPr lang="en-GB" dirty="0"/>
              <a:t> Stream processing processes the transaction data in real-time to detect patterns and anomalies indicative of fraud or ML.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Alerting and Response:</a:t>
            </a:r>
            <a:r>
              <a:rPr lang="en-GB" dirty="0"/>
              <a:t> Detected fraud events are sent to an alerting system for immediate investigation and response.</a:t>
            </a:r>
          </a:p>
        </p:txBody>
      </p:sp>
    </p:spTree>
    <p:extLst>
      <p:ext uri="{BB962C8B-B14F-4D97-AF65-F5344CB8AC3E}">
        <p14:creationId xmlns:p14="http://schemas.microsoft.com/office/powerpoint/2010/main" val="22747382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06F0-F5FC-45BB-EB55-6FB67B61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IoT Data Processing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27BDA-B55B-29B6-407A-3483FEFD8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Case:</a:t>
            </a:r>
            <a:r>
              <a:rPr lang="en-GB" dirty="0"/>
              <a:t> A smart city project collects and processes data from various IoT devices, such as sensors and cameras, to improve city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Implementation: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Data Ingestion:</a:t>
            </a:r>
            <a:r>
              <a:rPr lang="en-GB" dirty="0"/>
              <a:t> Kafka collects data from IoT devices deployed throughout the 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Real-Time Analytics:</a:t>
            </a:r>
            <a:r>
              <a:rPr lang="en-GB" dirty="0"/>
              <a:t> Kafka Streams or KSQL processes the data in real-time to derive insights and trigger actions, such as adjusting traffic signals or monitoring air quality.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Integration:</a:t>
            </a:r>
            <a:r>
              <a:rPr lang="en-GB" dirty="0"/>
              <a:t> Processed data is integrated with city management systems for visualization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8023027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37444-20AD-05DD-A008-A70AE4AA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A65F-78F4-6103-7854-9BDF1314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… and many more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A96F1-6759-FF18-D72E-44105A9D4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70874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346F-8DD9-67F9-AE71-EE5A426C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In the Part II: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36D0-0FBE-F757-5502-540D73C0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RU" dirty="0"/>
              <a:t>Stream processing and EventSourcing with Kafka Streams</a:t>
            </a:r>
          </a:p>
          <a:p>
            <a:r>
              <a:rPr lang="en-GB" dirty="0"/>
              <a:t>Kafka Connect</a:t>
            </a:r>
          </a:p>
          <a:p>
            <a:r>
              <a:rPr lang="en-GB" dirty="0"/>
              <a:t>Schema Registry</a:t>
            </a:r>
            <a:endParaRPr lang="en-RU" dirty="0"/>
          </a:p>
          <a:p>
            <a:r>
              <a:rPr lang="en-GB" dirty="0"/>
              <a:t>Cross-Cluster Data Replication with </a:t>
            </a:r>
            <a:r>
              <a:rPr lang="en-GB" dirty="0" err="1"/>
              <a:t>MirrorMaker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69870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D420-0940-3EE7-50F7-234FDFA1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D554-8CBD-9428-48BD-596E4AE29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manually configured Kafka Cluster with 3+ instances</a:t>
            </a:r>
          </a:p>
          <a:p>
            <a:r>
              <a:rPr lang="en-US" dirty="0"/>
              <a:t>Use either </a:t>
            </a:r>
            <a:r>
              <a:rPr lang="en-US" dirty="0" err="1"/>
              <a:t>Zookeper</a:t>
            </a:r>
            <a:r>
              <a:rPr lang="en-US" dirty="0"/>
              <a:t> or </a:t>
            </a:r>
            <a:r>
              <a:rPr lang="en-US" dirty="0" err="1"/>
              <a:t>KRaft</a:t>
            </a:r>
            <a:endParaRPr lang="en-US" dirty="0"/>
          </a:p>
          <a:p>
            <a:r>
              <a:rPr lang="en-US" dirty="0"/>
              <a:t>Create simulated stream workload (logs, payments, clicks, etc.)</a:t>
            </a:r>
          </a:p>
          <a:p>
            <a:r>
              <a:rPr lang="en-US" dirty="0"/>
              <a:t>Create consumers</a:t>
            </a:r>
          </a:p>
          <a:p>
            <a:r>
              <a:rPr lang="en-US" dirty="0"/>
              <a:t>Simulate outage of minority, observe availability</a:t>
            </a:r>
          </a:p>
          <a:p>
            <a:r>
              <a:rPr lang="en-US" dirty="0"/>
              <a:t>Simulate outage of majority, observe unavailability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225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004E-5CAC-B08A-549E-135B355A9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A82F3-2998-F67C-70F3-CA55F4A45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6082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BAFC"/>
      </a:accent1>
      <a:accent2>
        <a:srgbClr val="F98D7E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{9903D9F4-31B3-3445-8A3D-47E44533CDFF}tf16401378</Template>
  <TotalTime>16693</TotalTime>
  <Words>4820</Words>
  <Application>Microsoft Macintosh PowerPoint</Application>
  <PresentationFormat>Widescreen</PresentationFormat>
  <Paragraphs>937</Paragraphs>
  <Slides>89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.SF NS</vt:lpstr>
      <vt:lpstr>Arial</vt:lpstr>
      <vt:lpstr>Calibri</vt:lpstr>
      <vt:lpstr>Calibri Light</vt:lpstr>
      <vt:lpstr>Inter</vt:lpstr>
      <vt:lpstr>PolySans</vt:lpstr>
      <vt:lpstr>Office Theme</vt:lpstr>
      <vt:lpstr>PowerPoint Presentation</vt:lpstr>
      <vt:lpstr>What is Apache Kafka?</vt:lpstr>
      <vt:lpstr>The purpouse of Kafka</vt:lpstr>
      <vt:lpstr>Kafka usecases</vt:lpstr>
      <vt:lpstr>Kafka usecases</vt:lpstr>
      <vt:lpstr>Kafka usecases</vt:lpstr>
      <vt:lpstr>Kafka usecases</vt:lpstr>
      <vt:lpstr>Kafka usecases</vt:lpstr>
      <vt:lpstr>Kafka usecases</vt:lpstr>
      <vt:lpstr>The history behind Kafka</vt:lpstr>
      <vt:lpstr>Linkedin. 2008</vt:lpstr>
      <vt:lpstr>Initial Challenges</vt:lpstr>
      <vt:lpstr>Origin story</vt:lpstr>
      <vt:lpstr>Key contributors and milestones</vt:lpstr>
      <vt:lpstr>Key contributors and milestones</vt:lpstr>
      <vt:lpstr>Key contributors and milestones</vt:lpstr>
      <vt:lpstr>PowerPoint Presentation</vt:lpstr>
      <vt:lpstr>Architecture of Apache Kafka</vt:lpstr>
      <vt:lpstr>Kafka components and how they interact</vt:lpstr>
      <vt:lpstr>Brokers</vt:lpstr>
      <vt:lpstr>Brokers: leader and follower</vt:lpstr>
      <vt:lpstr>Kafka components and how they interact</vt:lpstr>
      <vt:lpstr>Topics</vt:lpstr>
      <vt:lpstr>Topics</vt:lpstr>
      <vt:lpstr>Topics</vt:lpstr>
      <vt:lpstr>Topic partitioning</vt:lpstr>
      <vt:lpstr>Topic partitioning</vt:lpstr>
      <vt:lpstr>Topic partitioning</vt:lpstr>
      <vt:lpstr>Topic partitioning</vt:lpstr>
      <vt:lpstr>Topic partitioning</vt:lpstr>
      <vt:lpstr>Topic Partitioning Strategy</vt:lpstr>
      <vt:lpstr>Important Partition Configuration</vt:lpstr>
      <vt:lpstr>Topic partitioning</vt:lpstr>
      <vt:lpstr>Topic partitioning and replication</vt:lpstr>
      <vt:lpstr>Topic partitioning and replication</vt:lpstr>
      <vt:lpstr>Topic partitioning and replication</vt:lpstr>
      <vt:lpstr>PowerPoint Presentation</vt:lpstr>
      <vt:lpstr>Kafka Log Retention</vt:lpstr>
      <vt:lpstr>Tiered Storage in Apache Kafka 4.0</vt:lpstr>
      <vt:lpstr>Kafka Log Retention</vt:lpstr>
      <vt:lpstr>Kafka components and how they interact</vt:lpstr>
      <vt:lpstr>Kafka record properties</vt:lpstr>
      <vt:lpstr>Kafka components and how they interact</vt:lpstr>
      <vt:lpstr>Kafka Producers</vt:lpstr>
      <vt:lpstr>Producer acknowledgement strategies (acks).</vt:lpstr>
      <vt:lpstr>Kafka components and how they interact</vt:lpstr>
      <vt:lpstr>Consumers</vt:lpstr>
      <vt:lpstr>Offset Management</vt:lpstr>
      <vt:lpstr>Consumer groups</vt:lpstr>
      <vt:lpstr>Kafka Queues (Work Queue Semantics)</vt:lpstr>
      <vt:lpstr>Consumer rebalancing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Kafka components and how they interact</vt:lpstr>
      <vt:lpstr>Kafka components and how they interact</vt:lpstr>
      <vt:lpstr>Kafka components and how they interact</vt:lpstr>
      <vt:lpstr>Monitoring</vt:lpstr>
      <vt:lpstr>Documentation for Monitoring</vt:lpstr>
      <vt:lpstr>Main health metrics</vt:lpstr>
      <vt:lpstr>ActiveControllerCount</vt:lpstr>
      <vt:lpstr>OfflinePartitionsCount</vt:lpstr>
      <vt:lpstr>UnderReplicatedPartitions</vt:lpstr>
      <vt:lpstr>UncleanLeaderElectionsPerSec</vt:lpstr>
      <vt:lpstr>Unclean Leader Election (ULE)</vt:lpstr>
      <vt:lpstr>UnderMinIsrPartitionCount</vt:lpstr>
      <vt:lpstr>Default Queue Metrics</vt:lpstr>
      <vt:lpstr>Additional Metrics</vt:lpstr>
      <vt:lpstr>Scenarios for Kafka Use Cases</vt:lpstr>
      <vt:lpstr>Big Market Players and Their Kafka Use Cases</vt:lpstr>
      <vt:lpstr>Real-Time Analytics</vt:lpstr>
      <vt:lpstr>Event Sourcing</vt:lpstr>
      <vt:lpstr>Log Aggregation</vt:lpstr>
      <vt:lpstr>Metrics Collection</vt:lpstr>
      <vt:lpstr>Data Integration (ETL)</vt:lpstr>
      <vt:lpstr>Microservices Communication</vt:lpstr>
      <vt:lpstr>Fraud Detection / AML</vt:lpstr>
      <vt:lpstr>IoT Data Processing</vt:lpstr>
      <vt:lpstr>… and many more</vt:lpstr>
      <vt:lpstr>In the Part II:</vt:lpstr>
      <vt:lpstr>Homework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Mons Anderson</dc:creator>
  <cp:lastModifiedBy>Volodymyr Perepelytsya</cp:lastModifiedBy>
  <cp:revision>34</cp:revision>
  <dcterms:created xsi:type="dcterms:W3CDTF">2024-07-06T19:28:54Z</dcterms:created>
  <dcterms:modified xsi:type="dcterms:W3CDTF">2025-11-13T16:19:07Z</dcterms:modified>
</cp:coreProperties>
</file>
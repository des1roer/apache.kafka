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1"/>
  </p:notesMasterIdLst>
  <p:sldIdLst>
    <p:sldId id="499" r:id="rId2"/>
    <p:sldId id="469" r:id="rId3"/>
    <p:sldId id="470" r:id="rId4"/>
    <p:sldId id="471" r:id="rId5"/>
    <p:sldId id="400" r:id="rId6"/>
    <p:sldId id="312" r:id="rId7"/>
    <p:sldId id="313" r:id="rId8"/>
    <p:sldId id="493" r:id="rId9"/>
    <p:sldId id="495" r:id="rId10"/>
    <p:sldId id="494" r:id="rId11"/>
    <p:sldId id="314" r:id="rId12"/>
    <p:sldId id="325" r:id="rId13"/>
    <p:sldId id="315" r:id="rId14"/>
    <p:sldId id="412" r:id="rId15"/>
    <p:sldId id="413" r:id="rId16"/>
    <p:sldId id="414" r:id="rId17"/>
    <p:sldId id="415" r:id="rId18"/>
    <p:sldId id="416" r:id="rId19"/>
    <p:sldId id="417" r:id="rId20"/>
    <p:sldId id="258" r:id="rId21"/>
    <p:sldId id="332" r:id="rId22"/>
    <p:sldId id="337" r:id="rId23"/>
    <p:sldId id="422" r:id="rId24"/>
    <p:sldId id="426" r:id="rId25"/>
    <p:sldId id="425" r:id="rId26"/>
    <p:sldId id="423" r:id="rId27"/>
    <p:sldId id="424" r:id="rId28"/>
    <p:sldId id="497" r:id="rId29"/>
    <p:sldId id="259" r:id="rId30"/>
    <p:sldId id="311" r:id="rId31"/>
    <p:sldId id="343" r:id="rId32"/>
    <p:sldId id="309" r:id="rId33"/>
    <p:sldId id="346" r:id="rId34"/>
    <p:sldId id="310" r:id="rId35"/>
    <p:sldId id="428" r:id="rId36"/>
    <p:sldId id="427" r:id="rId37"/>
    <p:sldId id="472" r:id="rId38"/>
    <p:sldId id="261" r:id="rId39"/>
    <p:sldId id="347" r:id="rId40"/>
    <p:sldId id="348" r:id="rId41"/>
    <p:sldId id="349" r:id="rId42"/>
    <p:sldId id="353" r:id="rId43"/>
    <p:sldId id="395" r:id="rId44"/>
    <p:sldId id="474" r:id="rId45"/>
    <p:sldId id="378" r:id="rId46"/>
    <p:sldId id="282" r:id="rId47"/>
    <p:sldId id="308" r:id="rId48"/>
    <p:sldId id="473" r:id="rId49"/>
    <p:sldId id="354" r:id="rId50"/>
    <p:sldId id="484" r:id="rId51"/>
    <p:sldId id="402" r:id="rId52"/>
    <p:sldId id="358" r:id="rId53"/>
    <p:sldId id="260" r:id="rId54"/>
    <p:sldId id="357" r:id="rId55"/>
    <p:sldId id="356" r:id="rId56"/>
    <p:sldId id="488" r:id="rId57"/>
    <p:sldId id="359" r:id="rId58"/>
    <p:sldId id="355" r:id="rId59"/>
    <p:sldId id="360" r:id="rId60"/>
    <p:sldId id="361" r:id="rId61"/>
    <p:sldId id="362" r:id="rId62"/>
    <p:sldId id="363" r:id="rId63"/>
    <p:sldId id="368" r:id="rId64"/>
    <p:sldId id="431" r:id="rId65"/>
    <p:sldId id="432" r:id="rId66"/>
    <p:sldId id="433" r:id="rId67"/>
    <p:sldId id="434" r:id="rId68"/>
    <p:sldId id="435" r:id="rId69"/>
    <p:sldId id="284" r:id="rId70"/>
    <p:sldId id="369" r:id="rId71"/>
    <p:sldId id="486" r:id="rId72"/>
    <p:sldId id="485" r:id="rId73"/>
    <p:sldId id="371" r:id="rId74"/>
    <p:sldId id="487" r:id="rId75"/>
    <p:sldId id="370" r:id="rId76"/>
    <p:sldId id="318" r:id="rId77"/>
    <p:sldId id="319" r:id="rId78"/>
    <p:sldId id="372" r:id="rId79"/>
    <p:sldId id="500" r:id="rId80"/>
    <p:sldId id="501" r:id="rId81"/>
    <p:sldId id="263" r:id="rId82"/>
    <p:sldId id="437" r:id="rId83"/>
    <p:sldId id="440" r:id="rId84"/>
    <p:sldId id="439" r:id="rId85"/>
    <p:sldId id="438" r:id="rId86"/>
    <p:sldId id="498" r:id="rId87"/>
    <p:sldId id="265" r:id="rId88"/>
    <p:sldId id="441" r:id="rId89"/>
    <p:sldId id="481" r:id="rId90"/>
    <p:sldId id="442" r:id="rId91"/>
    <p:sldId id="482" r:id="rId92"/>
    <p:sldId id="475" r:id="rId93"/>
    <p:sldId id="476" r:id="rId94"/>
    <p:sldId id="477" r:id="rId95"/>
    <p:sldId id="444" r:id="rId96"/>
    <p:sldId id="478" r:id="rId97"/>
    <p:sldId id="290" r:id="rId98"/>
    <p:sldId id="446" r:id="rId99"/>
    <p:sldId id="445" r:id="rId100"/>
    <p:sldId id="448" r:id="rId101"/>
    <p:sldId id="449" r:id="rId102"/>
    <p:sldId id="447" r:id="rId103"/>
    <p:sldId id="289" r:id="rId104"/>
    <p:sldId id="293" r:id="rId105"/>
    <p:sldId id="450" r:id="rId106"/>
    <p:sldId id="294" r:id="rId107"/>
    <p:sldId id="296" r:id="rId108"/>
    <p:sldId id="295" r:id="rId109"/>
    <p:sldId id="297" r:id="rId110"/>
    <p:sldId id="298" r:id="rId111"/>
    <p:sldId id="451" r:id="rId112"/>
    <p:sldId id="479" r:id="rId113"/>
    <p:sldId id="480" r:id="rId114"/>
    <p:sldId id="299" r:id="rId115"/>
    <p:sldId id="300" r:id="rId116"/>
    <p:sldId id="301" r:id="rId117"/>
    <p:sldId id="302" r:id="rId118"/>
    <p:sldId id="303" r:id="rId119"/>
    <p:sldId id="304" r:id="rId120"/>
    <p:sldId id="305" r:id="rId121"/>
    <p:sldId id="306" r:id="rId122"/>
    <p:sldId id="307" r:id="rId123"/>
    <p:sldId id="452" r:id="rId124"/>
    <p:sldId id="380" r:id="rId125"/>
    <p:sldId id="381" r:id="rId126"/>
    <p:sldId id="456" r:id="rId127"/>
    <p:sldId id="455" r:id="rId128"/>
    <p:sldId id="454" r:id="rId129"/>
    <p:sldId id="453" r:id="rId130"/>
    <p:sldId id="492" r:id="rId131"/>
    <p:sldId id="386" r:id="rId132"/>
    <p:sldId id="459" r:id="rId133"/>
    <p:sldId id="458" r:id="rId134"/>
    <p:sldId id="457" r:id="rId135"/>
    <p:sldId id="403" r:id="rId136"/>
    <p:sldId id="460" r:id="rId137"/>
    <p:sldId id="461" r:id="rId138"/>
    <p:sldId id="323" r:id="rId139"/>
    <p:sldId id="462" r:id="rId140"/>
    <p:sldId id="399" r:id="rId141"/>
    <p:sldId id="463" r:id="rId142"/>
    <p:sldId id="389" r:id="rId143"/>
    <p:sldId id="464" r:id="rId144"/>
    <p:sldId id="390" r:id="rId145"/>
    <p:sldId id="465" r:id="rId146"/>
    <p:sldId id="483" r:id="rId147"/>
    <p:sldId id="489" r:id="rId148"/>
    <p:sldId id="490" r:id="rId149"/>
    <p:sldId id="491" r:id="rId150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/>
    <p:restoredTop sz="81395"/>
  </p:normalViewPr>
  <p:slideViewPr>
    <p:cSldViewPr snapToGrid="0">
      <p:cViewPr varScale="1">
        <p:scale>
          <a:sx n="109" d="100"/>
          <a:sy n="10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13E5D-7AEB-A04E-9DBB-F5A3E0FBB6C7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18E91-9EA5-E941-993D-C620573EDBB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137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BE56-ADB8-C9C9-70E3-ACA149B1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D35DF-D5CF-41B4-5838-B8365BB86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65EAB-39D0-0BFB-4A2B-CEB7D0F73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C677F-12E4-55BE-1612-570A47CDC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5127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I’ve built queues, broken them, and occasionally fixed them again. That’s how you learn how they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48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43231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Ask. Let’s see how that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4987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solve imbalance. They’re load balancers with built-in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681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round-robin balancing it will suffer from imbalance and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1190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Imbalance can be fixed with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0247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Servers often not equal. More fine tuning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77069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handle fails some need to fail. Even not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5634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queue learns to manage these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89740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queue system should have capacity to handle it’s peak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71148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queue it can have optimal capacity</a:t>
            </a:r>
            <a:br>
              <a:rPr lang="en-US" dirty="0"/>
            </a:br>
            <a:r>
              <a:rPr lang="en-US" dirty="0"/>
              <a:t>The queue will absorb overload and allow to handle it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02242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it’s not just about who and when — it’s about fairness.</a:t>
            </a:r>
          </a:p>
          <a:p>
            <a:r>
              <a:rPr lang="en-US" dirty="0"/>
              <a:t>Queues teach systems to share politely. Some engineers could learn from that too.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760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 is the core of every replication in the vast majority of databases and storage systems.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687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exist to survive failure. They store messages safely so the system doesn’t collapse when something breaks in between. That’s how we get fault tolerance — not by avoiding failure, but by planning for it.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0026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glue microservices together — they turn a pile of APIs into a system.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357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aren’t just for tasks. They create </a:t>
            </a:r>
            <a:r>
              <a:rPr lang="en-US" i="1" dirty="0"/>
              <a:t>streams of truth</a:t>
            </a:r>
            <a:r>
              <a:rPr lang="en-US" dirty="0"/>
              <a:t> that systems can replay.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552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your CPU uses queues. Hardware has been doing this long before we called it distributed systems.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273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OS is full of queues — signals, </a:t>
            </a:r>
            <a:r>
              <a:rPr lang="en-US" dirty="0" err="1"/>
              <a:t>epoll</a:t>
            </a:r>
            <a:r>
              <a:rPr lang="en-US" dirty="0"/>
              <a:t>, schedulers. Every layer we build just repeats the same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3661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Inside an app, queues coordinate threads and workers. They’re the invisible traffic lights of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36860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Receive and send buffers in your NIC or router is nothing but a queue.</a:t>
            </a:r>
            <a:br>
              <a:rPr lang="en-US" dirty="0"/>
            </a:br>
            <a:r>
              <a:rPr lang="en-US" dirty="0"/>
              <a:t>Every packet is basically a message in a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7763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repeat heavy use of queues, but now visible to the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4059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transferring money from one bank to another. That’s been a queued process long before computers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188078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now it’s clear: queues are the invisible plumbing of the world.</a:t>
            </a:r>
            <a:br>
              <a:rPr lang="en-US" dirty="0"/>
            </a:br>
            <a:r>
              <a:rPr lang="en-US" dirty="0"/>
              <a:t>Once you start looking, you’ll see them </a:t>
            </a:r>
            <a:r>
              <a:rPr lang="en-US" i="1" dirty="0"/>
              <a:t>everywhere — </a:t>
            </a:r>
            <a:r>
              <a:rPr lang="en-US" dirty="0"/>
              <a:t>from CPUs to coffee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400164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connect layers, systems, and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414025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We’ve seen where they appear — now let’s define </a:t>
            </a:r>
            <a:r>
              <a:rPr lang="en-US" i="1" dirty="0"/>
              <a:t>what</a:t>
            </a:r>
            <a:r>
              <a:rPr lang="en-US" dirty="0"/>
              <a:t> they are. Time to look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44814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queue is just a medium — a mailbox with rules. Don’t overthink it yet. The key is message-based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323933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could be a data structure, like pipe.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52167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case: one producer, one consumer.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339799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put/take model — mechanical, predictable.</a:t>
            </a:r>
            <a:br>
              <a:rPr lang="en-US" dirty="0"/>
            </a:br>
            <a:r>
              <a:rPr lang="en-US" dirty="0"/>
              <a:t>Every task produced is expected to be processed once by some consumer.</a:t>
            </a:r>
            <a:br>
              <a:rPr lang="en-US" dirty="0"/>
            </a:br>
            <a:r>
              <a:rPr lang="en-US" dirty="0"/>
              <a:t>Consumption may be confirmed or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98421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producer, many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322274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That’s where pub/sub begins. Same message, multiple listeners, new complexity.</a:t>
            </a:r>
            <a:br>
              <a:rPr lang="en-US" dirty="0"/>
            </a:br>
            <a:r>
              <a:rPr lang="en-US" dirty="0"/>
              <a:t>Now one message may be processed by many consumers with different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39148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Synchronous exchange, request/response. Still queues, but acting like RPC with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06611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add names to patterns — AMQP, MQTT, NATS, </a:t>
            </a:r>
            <a:r>
              <a:rPr lang="en-US" dirty="0" err="1"/>
              <a:t>ZeroMQ</a:t>
            </a:r>
            <a:r>
              <a:rPr lang="en-US" dirty="0"/>
              <a:t>… These are just dialects of the same language: message passing.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69641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who’s doing it in practice. There’s a zoo of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123681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queues are for those who don’t want to manage queues by themselves.</a:t>
            </a:r>
            <a:br>
              <a:rPr lang="en-US" dirty="0"/>
            </a:br>
            <a:r>
              <a:rPr lang="en-US" dirty="0"/>
              <a:t>They scale automatically, but you trade control for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998066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machinery. Brokers like RabbitMQ, Kafka, NATS. They give you power, flexibility, and headaches in equal proportion.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39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493309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people say, ‘Why not just use Postgres or Redis?’</a:t>
            </a:r>
            <a:br>
              <a:rPr lang="en-US" dirty="0"/>
            </a:br>
            <a:r>
              <a:rPr lang="en-US" dirty="0"/>
              <a:t>Sure — it works, until it doesn’t. Great for simplicity, not for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97973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ZeroMQ</a:t>
            </a:r>
            <a:r>
              <a:rPr lang="en-US" dirty="0"/>
              <a:t>, NATS core, </a:t>
            </a:r>
            <a:r>
              <a:rPr lang="en-US" dirty="0" err="1"/>
              <a:t>nanomsg</a:t>
            </a:r>
            <a:r>
              <a:rPr lang="en-US" dirty="0"/>
              <a:t> — these are for when you want raw speed and minimalism.</a:t>
            </a:r>
            <a:br>
              <a:rPr lang="en-US" dirty="0"/>
            </a:br>
            <a:r>
              <a:rPr lang="en-US" dirty="0"/>
              <a:t>Designed with performance in mind. Often performance was the only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18625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landscape. Every system here moves messages just with different promises and trade-offs.</a:t>
            </a:r>
            <a:br>
              <a:rPr lang="en-US" dirty="0"/>
            </a:br>
            <a:r>
              <a:rPr lang="en-US" dirty="0"/>
              <a:t>The trick is knowing </a:t>
            </a:r>
            <a:r>
              <a:rPr lang="en-US" i="1" dirty="0"/>
              <a:t>which problem</a:t>
            </a:r>
            <a:r>
              <a:rPr lang="en-US" dirty="0"/>
              <a:t> you’re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499730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is not just a queue, it’s a distributed log.</a:t>
            </a:r>
          </a:p>
          <a:p>
            <a:r>
              <a:rPr lang="en-US" dirty="0"/>
              <a:t>Less about ‘send/receive’ and more about ‘record/replay’.</a:t>
            </a:r>
          </a:p>
          <a:p>
            <a:r>
              <a:rPr lang="en-US" dirty="0"/>
              <a:t>Hard in routine building.</a:t>
            </a:r>
          </a:p>
          <a:p>
            <a:r>
              <a:rPr lang="en-US" dirty="0"/>
              <a:t>Complex architecture. Old versions require </a:t>
            </a:r>
            <a:r>
              <a:rPr lang="en-US" dirty="0" err="1"/>
              <a:t>ZooKeeper</a:t>
            </a:r>
            <a:r>
              <a:rPr lang="en-US" dirty="0"/>
              <a:t>.</a:t>
            </a:r>
          </a:p>
          <a:p>
            <a:r>
              <a:rPr lang="en-US" dirty="0"/>
              <a:t>Fast with a lots of data if by “fast” you mean “throughput”. Well scalable.</a:t>
            </a:r>
          </a:p>
          <a:p>
            <a:r>
              <a:rPr lang="en-US" dirty="0"/>
              <a:t>Pull Model. Push with Streams API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3545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reimagined — same API, but in C++.</a:t>
            </a:r>
          </a:p>
          <a:p>
            <a:r>
              <a:rPr lang="en-US" dirty="0"/>
              <a:t>It’s the “what if Kafka was written by performance enthusiasts” version.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1971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Ability to build very complex routing</a:t>
            </a:r>
          </a:p>
          <a:p>
            <a:r>
              <a:rPr lang="en-US" dirty="0"/>
              <a:t>Fast. When empty.</a:t>
            </a:r>
          </a:p>
          <a:p>
            <a:r>
              <a:rPr lang="en-US" dirty="0"/>
              <a:t>Not designed to be horizontally scaled.</a:t>
            </a:r>
          </a:p>
          <a:p>
            <a:r>
              <a:rPr lang="en-US" dirty="0"/>
              <a:t>Hard to repair. Terrible 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5190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queues are like public transport — reliable, cheap, and not customizable.</a:t>
            </a:r>
            <a:br>
              <a:rPr lang="en-US" dirty="0"/>
            </a:br>
            <a:r>
              <a:rPr lang="en-US" dirty="0"/>
              <a:t>Great for serverless or cloud-native setups where simplicity wins.</a:t>
            </a:r>
          </a:p>
          <a:p>
            <a:r>
              <a:rPr lang="en-US" dirty="0"/>
              <a:t>All the things, you should take care of was hidden.</a:t>
            </a:r>
          </a:p>
          <a:p>
            <a:r>
              <a:rPr lang="en-US" dirty="0"/>
              <a:t>S3 from the world of queues: simple proto, flexible scaling, pay for consumption.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2764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Fast, flexible, and surprisingly philosophical.</a:t>
            </a:r>
          </a:p>
          <a:p>
            <a:r>
              <a:rPr lang="en-US" dirty="0"/>
              <a:t>NATS isn’t just a broker, it’s a framework for how services talk, from simple messages to full streaming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14963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Redis as a queue is like using a knife as a screwdriver — it kind of works.</a:t>
            </a:r>
            <a:br>
              <a:rPr lang="en-US" dirty="0"/>
            </a:br>
            <a:r>
              <a:rPr lang="en-US" dirty="0"/>
              <a:t>Lists and pub/sub can do the job, but durability isn’t its thing.</a:t>
            </a:r>
            <a:br>
              <a:rPr lang="en-US" dirty="0"/>
            </a:br>
            <a:r>
              <a:rPr lang="en-US" dirty="0"/>
              <a:t>But surely it exists in your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165045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one’s my favorite playground. </a:t>
            </a:r>
          </a:p>
          <a:p>
            <a:r>
              <a:rPr lang="en-US" dirty="0" err="1"/>
              <a:t>Tarantool</a:t>
            </a:r>
            <a:r>
              <a:rPr lang="en-US" dirty="0"/>
              <a:t> isn’t a queue — it’s a database, an app runtime with Lua and Rust, and an event engine in one.</a:t>
            </a:r>
            <a:br>
              <a:rPr lang="en-US" dirty="0"/>
            </a:br>
            <a:r>
              <a:rPr lang="en-US" dirty="0"/>
              <a:t>Perfect for custom logic and scary performance.</a:t>
            </a:r>
            <a:br>
              <a:rPr lang="en-US" dirty="0"/>
            </a:br>
            <a:r>
              <a:rPr lang="en-US" dirty="0"/>
              <a:t>If one need to design message flow, that is not implementable with others, give a try to </a:t>
            </a:r>
            <a:r>
              <a:rPr lang="en-US" dirty="0" err="1"/>
              <a:t>Tarantool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49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707825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get real.</a:t>
            </a:r>
            <a:br>
              <a:rPr lang="en-US" dirty="0"/>
            </a:br>
            <a:r>
              <a:rPr lang="en-US" dirty="0"/>
              <a:t>Queues look simple until they meet networks, disks, and humans.</a:t>
            </a:r>
            <a:br>
              <a:rPr lang="en-US" dirty="0"/>
            </a:br>
            <a:r>
              <a:rPr lang="en-US" dirty="0"/>
              <a:t>This is where theory meets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209125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we say ‘possible problems,’ we really mean ‘inevitable ones.’</a:t>
            </a:r>
            <a:br>
              <a:rPr lang="en-US" dirty="0"/>
            </a:br>
            <a:r>
              <a:rPr lang="en-US" dirty="0"/>
              <a:t>Networks lie, disks die, and your consumers double-process.</a:t>
            </a:r>
            <a:br>
              <a:rPr lang="en-US" dirty="0"/>
            </a:br>
            <a:r>
              <a:rPr lang="en-US" dirty="0"/>
              <a:t>Welcome to distributed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253471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basic shapes of queue behavior:</a:t>
            </a:r>
            <a:br>
              <a:rPr lang="en-US" dirty="0"/>
            </a:br>
            <a:r>
              <a:rPr lang="en-US" dirty="0"/>
              <a:t>Who gets served first, who gets ignored, and how polite the system is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89330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are the basic shapes of queue behavior:</a:t>
            </a:r>
            <a:br>
              <a:rPr lang="en-US" dirty="0"/>
            </a:br>
            <a:r>
              <a:rPr lang="en-US" dirty="0"/>
              <a:t>Who gets served first, who gets ignored, and how polite the system is under pressure.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325186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are the basic shapes of queue behavior:</a:t>
            </a:r>
            <a:br>
              <a:rPr lang="en-US" dirty="0"/>
            </a:br>
            <a:r>
              <a:rPr lang="en-US" dirty="0"/>
              <a:t>Who gets served first, who gets ignored, and how polite the system is under pressure.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90007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and Cloud implement BE.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FIFO is hard (SPOF).</a:t>
            </a:r>
            <a:br>
              <a:rPr lang="en-US" dirty="0"/>
            </a:br>
            <a:r>
              <a:rPr lang="en-US" dirty="0"/>
              <a:t>LIFO is not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3635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QoS is about how polite the system is under pressure.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39737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not all messages are equal. Prioritization decides who jumps the line.</a:t>
            </a:r>
            <a:br>
              <a:rPr lang="en-US" dirty="0"/>
            </a:br>
            <a:r>
              <a:rPr lang="en-US" dirty="0"/>
              <a:t>It’s fairness with favoritism. And different complexity: O(1) vs O(log N)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564524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when one queue isn’t enough to express dependencies or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61101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that don’t give up easily. Delays and retries turn temporary failures into minor inconveniences.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59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77801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all retries fail, messages need a graveyard — the Dead Letter Queue.</a:t>
            </a:r>
            <a:br>
              <a:rPr lang="en-US" dirty="0"/>
            </a:br>
            <a:r>
              <a:rPr lang="en-US" dirty="0"/>
              <a:t>Debugging paradise or horror, depending on your mood.</a:t>
            </a:r>
            <a:br>
              <a:rPr lang="en-US" dirty="0"/>
            </a:br>
            <a:r>
              <a:rPr lang="en-US" dirty="0"/>
              <a:t>DLQ — is a result of systems with inability for task returning.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4596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tasks depend on others finishing first.</a:t>
            </a:r>
            <a:br>
              <a:rPr lang="en-US" dirty="0"/>
            </a:br>
            <a:r>
              <a:rPr lang="en-US" dirty="0"/>
              <a:t>Now the queue starts to look like a DAG this is how you slide into workflow territory.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6242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add time.</a:t>
            </a:r>
            <a:br>
              <a:rPr lang="en-US" dirty="0"/>
            </a:br>
            <a:r>
              <a:rPr lang="en-US" dirty="0"/>
              <a:t>Messages don’t live forever — they expire, reappear, or vanish depending on these timers.</a:t>
            </a:r>
            <a:br>
              <a:rPr lang="en-US" dirty="0"/>
            </a:br>
            <a:r>
              <a:rPr lang="en-US" dirty="0"/>
              <a:t>This is how queues manage memory and sanity. Think if you need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62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5648988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of priorities may lead to starvation of low-priority tasks</a:t>
            </a:r>
            <a:br>
              <a:rPr lang="en-US" dirty="0"/>
            </a:br>
            <a:r>
              <a:rPr lang="en-US" dirty="0"/>
              <a:t>When introduced, priority leads to unfairness.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1024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fast can it go?</a:t>
            </a:r>
            <a:br>
              <a:rPr lang="en-US" dirty="0"/>
            </a:br>
            <a:r>
              <a:rPr lang="en-US" dirty="0"/>
              <a:t>Performance tuning is just controlled suffering — especially when you realize the bottleneck is always I/O.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111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performance is not predictable and may not be enough, then think of scalability.</a:t>
            </a:r>
            <a:br>
              <a:rPr lang="en-US" dirty="0"/>
            </a:br>
            <a:r>
              <a:rPr lang="en-US" dirty="0"/>
              <a:t>Scaling queues isn’t just adding servers.</a:t>
            </a:r>
            <a:br>
              <a:rPr lang="en-US" dirty="0"/>
            </a:br>
            <a:r>
              <a:rPr lang="en-US" dirty="0"/>
              <a:t>And if you need to keep order of messages, you’re in a trouble.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623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queue have limits. Even “unlimited”.</a:t>
            </a:r>
            <a:br>
              <a:rPr lang="en-US" dirty="0"/>
            </a:br>
            <a:r>
              <a:rPr lang="en-US" dirty="0"/>
              <a:t>If not configured explicitly, buffers, memory and disks fill.</a:t>
            </a:r>
            <a:br>
              <a:rPr lang="en-US" dirty="0"/>
            </a:br>
            <a:r>
              <a:rPr lang="en-US" dirty="0"/>
              <a:t>Suddenly ‘asynchronous’ becomes ‘out of control.’</a:t>
            </a:r>
            <a:br>
              <a:rPr lang="en-US" dirty="0"/>
            </a:br>
            <a:r>
              <a:rPr lang="en-US" dirty="0"/>
              <a:t>Always measure capacity before it measures you.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5641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Reliability is the art of pretending the system never fails while constantly preparing for failure.</a:t>
            </a:r>
            <a:br>
              <a:rPr lang="en-US" dirty="0"/>
            </a:br>
            <a:r>
              <a:rPr lang="en-US" dirty="0"/>
              <a:t>Queues are masters of this illusion.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30824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 split: availability means we can take messages;</a:t>
            </a:r>
            <a:br>
              <a:rPr lang="en-US" dirty="0"/>
            </a:br>
            <a:r>
              <a:rPr lang="en-US" dirty="0"/>
              <a:t>Durability means we don’t lose them.</a:t>
            </a:r>
            <a:br>
              <a:rPr lang="en-US" dirty="0"/>
            </a:br>
            <a:r>
              <a:rPr lang="en-US" dirty="0"/>
              <a:t>Most systems pick one and hope no one notices.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980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blame developers, let’s blame physics.</a:t>
            </a:r>
            <a:br>
              <a:rPr lang="en-US" dirty="0"/>
            </a:br>
            <a:r>
              <a:rPr lang="en-US" dirty="0"/>
              <a:t>The network introduces uncertainty — the birthplace of all distributed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69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9936780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for some distributed philosophy.</a:t>
            </a:r>
            <a:br>
              <a:rPr lang="en-US" dirty="0"/>
            </a:br>
            <a:r>
              <a:rPr lang="en-US" dirty="0"/>
              <a:t>This story is ancient, but it still explains why we can’t have nice things like ‘exactly once.’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490059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armies, unreliable messenger, no guaranteed confirmation — that’s your network.</a:t>
            </a:r>
            <a:br>
              <a:rPr lang="en-US" dirty="0"/>
            </a:br>
            <a:r>
              <a:rPr lang="en-US" dirty="0"/>
              <a:t>Armies should act coordinated to win or the both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6478906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Two armies, unreliable messenger, no guaranteed confirmation — that’s your network.</a:t>
            </a:r>
            <a:br>
              <a:rPr lang="en-US" dirty="0"/>
            </a:br>
            <a:r>
              <a:rPr lang="en-US" dirty="0"/>
              <a:t>Armies should act coordinated to win or the both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930912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Both sides can never be sure the other got the message.</a:t>
            </a:r>
            <a:br>
              <a:rPr lang="en-US" dirty="0"/>
            </a:br>
            <a:r>
              <a:rPr lang="en-US" dirty="0"/>
              <a:t>Sound familiar to TCP?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858983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mathematically proven to be unsolvable.</a:t>
            </a:r>
            <a:br>
              <a:rPr lang="en-US" dirty="0"/>
            </a:br>
            <a:r>
              <a:rPr lang="en-US" dirty="0"/>
              <a:t>Not ‘hard’, not ‘impractical’ — literally impossible.</a:t>
            </a:r>
            <a:br>
              <a:rPr lang="en-US" dirty="0"/>
            </a:br>
            <a:r>
              <a:rPr lang="en-US" dirty="0"/>
              <a:t>Networks will always betray us eventually.</a:t>
            </a:r>
          </a:p>
          <a:p>
            <a:r>
              <a:rPr lang="en-US" dirty="0"/>
              <a:t>Lamport summed it up beautifully: some problems in concurrency don’t have solutions — only mitigations. That’s why distributed systems are jobs, not hobbies.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57532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connect the dots: strict ordering and exactly-once delivery are both unsolvable in pure distributed form.</a:t>
            </a:r>
            <a:br>
              <a:rPr lang="en-US" dirty="0"/>
            </a:br>
            <a:r>
              <a:rPr lang="en-US" dirty="0"/>
              <a:t>Yet every vendor still promises them.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0913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comes engineering.</a:t>
            </a:r>
            <a:br>
              <a:rPr lang="en-US" dirty="0"/>
            </a:br>
            <a:r>
              <a:rPr lang="en-US" dirty="0"/>
              <a:t>If something is impossible, but you need it, make it looks like this most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527341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comes engineering.</a:t>
            </a:r>
            <a:br>
              <a:rPr lang="en-US" dirty="0"/>
            </a:br>
            <a:r>
              <a:rPr lang="en-US" dirty="0"/>
              <a:t>If something is impossible, but you need it, make it looks like this most of the time.</a:t>
            </a:r>
            <a:br>
              <a:rPr lang="en-US" dirty="0"/>
            </a:br>
            <a:r>
              <a:rPr lang="en-US" dirty="0"/>
              <a:t>And the case when it isn’t, add some bypass.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77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4393518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point of view of two generals such an intervention may be considered as god, which sees all.</a:t>
            </a:r>
            <a:br>
              <a:rPr lang="en-US" dirty="0"/>
            </a:br>
            <a:r>
              <a:rPr lang="en-US" dirty="0"/>
              <a:t>In fact it’s a violation of the initial rule: unreliable messenger.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70636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Two eternal enemies: the network is slow, disks are slower.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/>
              <a:t>Everything else is just engineers trying to hide it.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RU" sz="2400">
                <a:latin typeface="Arial" panose="020B0604020202020204" pitchFamily="34" charset="0"/>
                <a:cs typeface="Arial" panose="020B0604020202020204" pitchFamily="34" charset="0"/>
              </a:rPr>
              <a:t>Network </a:t>
            </a:r>
            <a:r>
              <a:rPr lang="en-RU" sz="2400" dirty="0">
                <a:latin typeface="Arial" panose="020B0604020202020204" pitchFamily="34" charset="0"/>
                <a:cs typeface="Arial" panose="020B0604020202020204" pitchFamily="34" charset="0"/>
              </a:rPr>
              <a:t>and disk also introduce limits </a:t>
            </a:r>
            <a:r>
              <a:rPr lang="en-RU" sz="2400">
                <a:latin typeface="Arial" panose="020B0604020202020204" pitchFamily="34" charset="0"/>
                <a:cs typeface="Arial" panose="020B0604020202020204" pitchFamily="34" charset="0"/>
              </a:rPr>
              <a:t>in throughput </a:t>
            </a:r>
            <a:r>
              <a:rPr lang="en-RU" sz="2400" dirty="0">
                <a:latin typeface="Arial" panose="020B0604020202020204" pitchFamily="34" charset="0"/>
                <a:cs typeface="Arial" panose="020B0604020202020204" pitchFamily="34" charset="0"/>
              </a:rPr>
              <a:t>and delays </a:t>
            </a:r>
            <a:r>
              <a:rPr lang="en-RU" sz="2400">
                <a:latin typeface="Arial" panose="020B0604020202020204" pitchFamily="34" charset="0"/>
                <a:cs typeface="Arial" panose="020B0604020202020204" pitchFamily="34" charset="0"/>
              </a:rPr>
              <a:t>in processing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40964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Disks die, hosts reboot, data centers lost power — it’s all normal.</a:t>
            </a:r>
            <a:br>
              <a:rPr lang="en-US" dirty="0"/>
            </a:br>
            <a:r>
              <a:rPr lang="en-US" dirty="0"/>
              <a:t>Queues exist to make that survivable, not preventable.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98900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Temporary failures may disrupt activity, but eventually everything would be okay.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22810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Permanent failures destroy your data.</a:t>
            </a:r>
            <a:br>
              <a:rPr lang="en-US" dirty="0"/>
            </a:br>
            <a:r>
              <a:rPr lang="en-US" dirty="0"/>
              <a:t>You had a backup, right?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0357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 dirty="0"/>
              <a:t>And if you don’t trust in disaster with datacenter, here an example of migrating datacenter to cloud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56759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A332-10DE-E0BB-D495-2BCF60A2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2070E-0EB6-9571-7C6D-0EF491C9B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FFFA6-7060-3955-99AA-4704B2488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remember recent South Korea example.</a:t>
            </a:r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74BB5-F6AA-55AF-F2EF-F9BFD3907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75024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unpack reliability, what it </a:t>
            </a:r>
            <a:r>
              <a:rPr lang="en-US" i="1" dirty="0"/>
              <a:t>really</a:t>
            </a:r>
            <a:r>
              <a:rPr lang="en-US" dirty="0"/>
              <a:t> means, not what marketing says.</a:t>
            </a:r>
            <a:br>
              <a:rPr lang="en-US" dirty="0"/>
            </a:br>
            <a:r>
              <a:rPr lang="en-US" dirty="0"/>
              <a:t>It’s a mix of availability and durability, and they don’t always get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87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775205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queue is ‘alive’ as long as someone can send. But that doesn’t mean anyone will ever receive.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89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5240752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True durability is proven only when data comes out, not when it goes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3742401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triangle: availability, durability, delivery guarantee.</a:t>
            </a:r>
            <a:br>
              <a:rPr lang="en-US" dirty="0"/>
            </a:br>
            <a:r>
              <a:rPr lang="en-US" dirty="0"/>
              <a:t>You can tweak two, never all three perfectly. Nature’s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2365628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‘Exactly once’ is a polite lie.</a:t>
            </a:r>
            <a:br>
              <a:rPr lang="en-US" dirty="0"/>
            </a:br>
            <a:r>
              <a:rPr lang="en-US" dirty="0"/>
              <a:t>It’s really ‘at least once’ plus idempotence.</a:t>
            </a:r>
            <a:br>
              <a:rPr lang="en-US" dirty="0"/>
            </a:br>
            <a:r>
              <a:rPr lang="en-US" dirty="0"/>
              <a:t>Anyone saying otherwise sells licenses.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4253527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‘Exactly once’ is a polite lie.</a:t>
            </a:r>
            <a:br>
              <a:rPr lang="en-US" dirty="0"/>
            </a:br>
            <a:r>
              <a:rPr lang="en-US" dirty="0"/>
              <a:t>It’s really ‘at least once’ plus idempotence.</a:t>
            </a:r>
            <a:br>
              <a:rPr lang="en-US" dirty="0"/>
            </a:br>
            <a:r>
              <a:rPr lang="en-US" dirty="0"/>
              <a:t>Anyone saying otherwise sells licenses.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0519107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is where we try to cheat.</a:t>
            </a:r>
            <a:br>
              <a:rPr lang="en-US" dirty="0"/>
            </a:br>
            <a:r>
              <a:rPr lang="en-US" dirty="0"/>
              <a:t>Add more nodes, hope throughput grows, by allowing disorder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069825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 let’s look at how queues are arranged — single instance, replicated, sharded.</a:t>
            </a:r>
            <a:br>
              <a:rPr lang="en-US" dirty="0"/>
            </a:br>
            <a:r>
              <a:rPr lang="en-US" dirty="0"/>
              <a:t>Architecture decides behavior more than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439179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form — one queue, one machine.</a:t>
            </a:r>
            <a:br>
              <a:rPr lang="en-US" dirty="0"/>
            </a:br>
            <a:r>
              <a:rPr lang="en-US" dirty="0"/>
              <a:t>Easy to get started, perfect order.</a:t>
            </a:r>
            <a:br>
              <a:rPr lang="en-US" dirty="0"/>
            </a:b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79011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singletons: RabbitMQ, Redis, </a:t>
            </a:r>
            <a:r>
              <a:rPr lang="en-US" dirty="0" err="1"/>
              <a:t>Beanstalkd</a:t>
            </a:r>
            <a:r>
              <a:rPr lang="en-US" dirty="0"/>
              <a:t>. Fine for local tasks.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7040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Until someone trips over the power cable.</a:t>
            </a:r>
            <a:br>
              <a:rPr lang="en-US" dirty="0"/>
            </a:br>
            <a:r>
              <a:rPr lang="en-US" dirty="0"/>
              <a:t>One node means one point of failure.</a:t>
            </a:r>
            <a:br>
              <a:rPr lang="en-US" dirty="0"/>
            </a:br>
            <a:r>
              <a:rPr lang="en-US" dirty="0"/>
              <a:t>Availability: low. During outage no one can produce.</a:t>
            </a:r>
            <a:br>
              <a:rPr lang="en-US" dirty="0"/>
            </a:br>
            <a:r>
              <a:rPr lang="en-US" dirty="0"/>
              <a:t>Durability: low. If loss was permanent, undelivered messages are lost.</a:t>
            </a:r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99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8901256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up, not out — fine for labs, not for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3657040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loose messages, your guarantee is </a:t>
            </a:r>
            <a:r>
              <a:rPr lang="en-US" i="1" dirty="0"/>
              <a:t>at most once</a:t>
            </a:r>
            <a:r>
              <a:rPr lang="en-US" dirty="0"/>
              <a:t> (either delivered or lost)</a:t>
            </a:r>
            <a:br>
              <a:rPr lang="en-US" dirty="0"/>
            </a:br>
            <a:r>
              <a:rPr lang="en-US" dirty="0"/>
              <a:t>If the system support retries, than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8879162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9388481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scale horizontally.</a:t>
            </a:r>
            <a:br>
              <a:rPr lang="en-US" dirty="0"/>
            </a:br>
            <a:r>
              <a:rPr lang="en-US" dirty="0"/>
              <a:t>Multiple queues — but still one target.</a:t>
            </a:r>
            <a:br>
              <a:rPr lang="en-US" dirty="0"/>
            </a:br>
            <a:r>
              <a:rPr lang="en-US" dirty="0"/>
              <a:t>Better throughput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801542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more nodes we have available nodes for production upon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6327162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may loose messaged on permanently destroyed brokers.</a:t>
            </a:r>
            <a:br>
              <a:rPr lang="en-US" dirty="0"/>
            </a:br>
            <a:r>
              <a:rPr lang="en-US" dirty="0"/>
              <a:t>At least not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7051115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use redundancy for durability.</a:t>
            </a:r>
            <a:br>
              <a:rPr lang="en-US" dirty="0"/>
            </a:br>
            <a:r>
              <a:rPr lang="en-US" dirty="0"/>
              <a:t>(That’s in fact how every high availability is achieved)</a:t>
            </a:r>
            <a:br>
              <a:rPr lang="en-US" dirty="0"/>
            </a:br>
            <a:r>
              <a:rPr lang="en-US" dirty="0"/>
              <a:t>Every producer should pick K available brokers.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4043325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Outage of less than K brokers still not loosing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322496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get appropriate conditions (X=1), idempotence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108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5226666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Replication means writing the same message to several places. It’s the simplest idea in reliability — copy everything, everywhere</a:t>
            </a:r>
            <a:br>
              <a:rPr lang="en-US" dirty="0"/>
            </a:br>
            <a:r>
              <a:rPr lang="en-US" dirty="0"/>
              <a:t>Most systems eventually invent a leader — someone to coordinate who writes first. Leaders make things consistent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Have not to forgot: unlike in databases replicas not give scaling for reading.</a:t>
            </a:r>
            <a:br>
              <a:rPr lang="en-US" dirty="0"/>
            </a:br>
            <a:r>
              <a:rPr lang="en-US" dirty="0"/>
              <a:t>Followers wait patiently, replaying the leader’s data. They don’t have active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01022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Replication protects from data loss.</a:t>
            </a:r>
          </a:p>
          <a:p>
            <a:r>
              <a:rPr lang="en-US" dirty="0"/>
              <a:t>HA may require automatic failover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81870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Horizontally scalable by adding </a:t>
            </a:r>
            <a:r>
              <a:rPr lang="en-US" dirty="0" err="1"/>
              <a:t>replicasets</a:t>
            </a:r>
            <a:r>
              <a:rPr lang="en-US" dirty="0"/>
              <a:t>.</a:t>
            </a:r>
          </a:p>
          <a:p>
            <a:r>
              <a:rPr lang="en-US" dirty="0"/>
              <a:t>Not loosing a message means that delivery guarantee would be bigger than one.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93674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5053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really very similar to the initial approach of Apache Kafka.</a:t>
            </a:r>
            <a:br>
              <a:rPr lang="en-US" dirty="0"/>
            </a:br>
            <a:r>
              <a:rPr lang="en-US" dirty="0"/>
              <a:t>That’s why it’s so popular. It is good in all matters.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15272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 improvement comes also from database world: the quorum approach.</a:t>
            </a:r>
            <a:br>
              <a:rPr lang="en-US" dirty="0"/>
            </a:br>
            <a:r>
              <a:rPr lang="en-US" dirty="0"/>
              <a:t>Quorum guarantees consistency along with automated failover, allowing real high availability.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09990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quorum systems we may have high everything related to durability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370688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irony: the more durable you make a system, the less available it becomes. It’s the CAP theorem in disguise.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92430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Producer from partitioned zone cannot produce</a:t>
            </a:r>
            <a:r>
              <a:rPr lang="ru-RU" dirty="0"/>
              <a:t>, </a:t>
            </a:r>
            <a:r>
              <a:rPr lang="en-US" dirty="0"/>
              <a:t>so we lack availability for it.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455265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operations are tied to leader, so lo </a:t>
            </a:r>
            <a:r>
              <a:rPr lang="en-US" dirty="0" err="1"/>
              <a:t>scalabilty</a:t>
            </a:r>
            <a:r>
              <a:rPr lang="en-US" dirty="0"/>
              <a:t> by adding nodes.</a:t>
            </a:r>
            <a:br>
              <a:rPr lang="en-US" dirty="0"/>
            </a:br>
            <a:r>
              <a:rPr lang="en-US" dirty="0"/>
              <a:t>In fact, adding more notes to quorum increase durability but make it even more slower.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77490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the approach of N </a:t>
            </a:r>
            <a:r>
              <a:rPr lang="en-US" dirty="0" err="1"/>
              <a:t>replicasets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5053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could be applied to quorum system.</a:t>
            </a:r>
            <a:br>
              <a:rPr lang="en-US" dirty="0"/>
            </a:br>
            <a:r>
              <a:rPr lang="en-US" dirty="0"/>
              <a:t>We just create a lot separate quorum subsystems.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56842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to be highly available, should be properly configured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01323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for 2 AZ there is a scheme for quorum queues.</a:t>
            </a:r>
            <a:br>
              <a:rPr lang="en-US" dirty="0"/>
            </a:br>
            <a:r>
              <a:rPr lang="en-US" dirty="0"/>
              <a:t>But keep in mind, that loss of a datacenter may lead to some data loss.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7641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know how queues </a:t>
            </a:r>
            <a:r>
              <a:rPr lang="en-US" i="1" dirty="0"/>
              <a:t>work</a:t>
            </a:r>
            <a:r>
              <a:rPr lang="en-US" dirty="0"/>
              <a:t>, let’s talk about how they </a:t>
            </a:r>
            <a:r>
              <a:rPr lang="en-US" i="1" dirty="0"/>
              <a:t>behave</a:t>
            </a:r>
            <a:r>
              <a:rPr lang="en-US" dirty="0"/>
              <a:t> — especially when nobody’s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072080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Some protocols/brokers tie message state to connections. Lose the socket, lose the context. Great for latency, terrible for scaling.</a:t>
            </a:r>
            <a:br>
              <a:rPr lang="en-US" dirty="0"/>
            </a:br>
            <a:r>
              <a:rPr lang="en-US" dirty="0"/>
              <a:t>Stateless queues like SQS speak HTTP — no sessions, easy scaling. But since they lack knowledge if the consumer dead or alive, they introduce visibility and </a:t>
            </a:r>
            <a:r>
              <a:rPr lang="en-US" dirty="0" err="1"/>
              <a:t>autorelease</a:t>
            </a:r>
            <a:r>
              <a:rPr lang="en-US" dirty="0"/>
              <a:t> by timeout.</a:t>
            </a:r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8ED9C-0F9D-E04D-9E29-7225E33E906A}" type="slidenum">
              <a:rPr lang="ru-RU" smtClean="0"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70938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queue has a limit — memory, disk, patience.</a:t>
            </a:r>
            <a:br>
              <a:rPr lang="en-US" dirty="0"/>
            </a:br>
            <a:r>
              <a:rPr lang="en-US" dirty="0"/>
              <a:t>You cannot avoid hitting it, but you may be prepared.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16088595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time through the system — from enqueue to process.</a:t>
            </a:r>
            <a:br>
              <a:rPr lang="en-US" dirty="0"/>
            </a:br>
            <a:r>
              <a:rPr lang="en-US" dirty="0"/>
              <a:t>If your queue start growing, you’d better have knowledge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4176650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everything: retries, drops, dead letters. Each number tells a story about how your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6308218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traditional brokers normal state is empty.</a:t>
            </a:r>
            <a:br>
              <a:rPr lang="en-US" dirty="0"/>
            </a:br>
            <a:r>
              <a:rPr lang="en-US" dirty="0"/>
              <a:t>Every message produced is immediately consumed by consumer.</a:t>
            </a:r>
            <a:br>
              <a:rPr lang="en-US" dirty="0"/>
            </a:br>
            <a:r>
              <a:rPr lang="en-US" dirty="0"/>
              <a:t>By monitoring the capacity you mention only when problem gets worse.</a:t>
            </a:r>
            <a:br>
              <a:rPr lang="en-US" dirty="0"/>
            </a:br>
            <a:r>
              <a:rPr lang="en-US" dirty="0"/>
              <a:t>By monitoring the flow you may start fixing the problem when it appears: the queue will give you that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7229628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in doubt, duplicate messages into logs.</a:t>
            </a:r>
            <a:br>
              <a:rPr lang="en-US" dirty="0"/>
            </a:br>
            <a:r>
              <a:rPr lang="en-US" dirty="0"/>
              <a:t>Better recover important info from logs than loose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5866175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these days there are better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8127074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Failures aren’t surprises — they’re milestones.</a:t>
            </a:r>
            <a:br>
              <a:rPr lang="en-US" dirty="0"/>
            </a:br>
            <a:r>
              <a:rPr lang="en-US" dirty="0"/>
              <a:t>Define what happens </a:t>
            </a:r>
            <a:r>
              <a:rPr lang="en-US" i="1" dirty="0"/>
              <a:t>before</a:t>
            </a:r>
            <a:r>
              <a:rPr lang="en-US" dirty="0"/>
              <a:t> disaster hits, not after. Your future self will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523695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systems are burning, the first step is triage: stop the inflow. It’s better to lose a few requests than to drown in thousands. That also gives a feedback loop to producers.</a:t>
            </a:r>
            <a:br>
              <a:rPr lang="en-US" dirty="0"/>
            </a:br>
            <a:r>
              <a:rPr lang="en-US" dirty="0"/>
              <a:t>Sometimes you can’t save everything. Dropping stale data in </a:t>
            </a:r>
            <a:r>
              <a:rPr lang="en-US" dirty="0" err="1"/>
              <a:t>fafor</a:t>
            </a:r>
            <a:r>
              <a:rPr lang="en-US" dirty="0"/>
              <a:t> of incoming ones may be a tradeoff.</a:t>
            </a:r>
            <a:br>
              <a:rPr lang="en-US" dirty="0"/>
            </a:br>
            <a:r>
              <a:rPr lang="en-US" dirty="0"/>
              <a:t>Focus on what’s more important to the business.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7387473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Recovery isn’t magic — it’s a checklist. Systems that ‘just work again’ were designed to do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471896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Falling is fine; staying down isn’t.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9893890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for the practical side — which tools fit which jobs. No silver bullets, only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86096398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of all think if you okay to loose some percent of messages</a:t>
            </a:r>
            <a:br>
              <a:rPr lang="en-US" dirty="0"/>
            </a:br>
            <a:r>
              <a:rPr lang="en-US" dirty="0"/>
              <a:t>That’s okay when state may be recovered from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66819652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you can afford to lose some messages, use lightweight brokers.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Think NATS Core, Redis, NSQ, </a:t>
            </a:r>
            <a:r>
              <a:rPr lang="en-US" dirty="0" err="1"/>
              <a:t>ZeroMQ</a:t>
            </a:r>
            <a:r>
              <a:rPr lang="en-US" dirty="0"/>
              <a:t> — high speed, not messing with durability.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102543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give it a try of queues, start with RabbitMQ, NATS or Redis.</a:t>
            </a:r>
            <a:br>
              <a:rPr lang="en-US" dirty="0"/>
            </a:br>
            <a:r>
              <a:rPr lang="en-US" dirty="0"/>
              <a:t>They are simple at start, but production configuration requires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139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75062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hosting in clouds and can rely on that vendor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28100980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Managed services save you from maintenance, not from understanding.</a:t>
            </a:r>
          </a:p>
          <a:p>
            <a:r>
              <a:rPr lang="en-US" dirty="0"/>
              <a:t>Great for prototypes or serverless, but they hide most of the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31428705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care about history, not just delivery, you need streams. Streaming means you can rewind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6946377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is a pioneer of streaming approach.</a:t>
            </a:r>
            <a:br>
              <a:rPr lang="en-US" dirty="0"/>
            </a:br>
            <a:r>
              <a:rPr lang="en-US" dirty="0"/>
              <a:t>Kinda hard to bootstrap.</a:t>
            </a:r>
            <a:br>
              <a:rPr lang="en-US" dirty="0"/>
            </a:br>
            <a:r>
              <a:rPr lang="en-US" dirty="0"/>
              <a:t>Alternatives that support streaming may be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09574403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144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641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1239-4D32-D00B-B633-3928DED02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78F40-6429-0394-9E76-5229E78C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1C3DC-49BA-E3A8-31B0-B63F0A40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85096-3283-311B-36F1-56C0D6C3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40E00-29D9-BBE4-F893-516809E4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5532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8CBC-134C-4915-0664-BA740B54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28F1-A210-C2AC-819B-7C47790AC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6FB70-6C6F-154D-E576-E6AAB97C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85F15-013B-8CCC-6296-BDB8C5CF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ECF2C-EC9E-59C2-29DD-EE7DEBA9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134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0F73-27F0-9A03-6D77-440EB143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B5F61-5164-5D6F-BE7E-08C004945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F1E54-109D-B498-1773-92B34A8B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9E682-211B-4ED7-DBBC-ECDF385D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892D8-672D-631E-4DBD-3CA1F580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8188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255BC-60E3-1918-0F46-B6169035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B64A-5D55-74AA-C6BA-161B63C7E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13C01-29A9-77BB-61DE-C11494045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44957-DC0E-F662-7BDA-76905EBB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636FA-4D27-C48E-D0A1-FA5FC420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CC645-FB73-2724-8D4E-9557BD74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044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2C24-6EDC-ECF3-2153-2FFA0BD4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75209-56FE-E7A8-A862-B3C02FE33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51E81-B1EE-71C0-B928-9240CA904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2311D-0CF0-EA6F-F1EC-8EB17EDBE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F9910-B322-A278-4816-57EA8E29A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BEA99-7F81-6B40-361B-52F6A117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3BC35-5B59-46AC-D3B2-55803A70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7F0C4-8CF3-35F5-3052-7855D239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2458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B1F4-7F8E-66E1-4D61-4F67644CA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C16FA-3CAA-0C5B-762D-3DFFA9BB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3686A-1486-A84F-0F24-4F9B3055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F1DE6-F541-D456-3CFA-1C0DC648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634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95D90-4AED-DE47-4C96-1ACDC61C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81647-2894-6FF3-3A51-6DCBAD05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16174-1B5B-DB34-2584-4EB8BD4C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56405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5040-32AD-5403-DD4E-93A88BFA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3B60B-47D8-017D-F836-AEAE72D8E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12068-B8BD-D429-B658-12139D9E5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3D41C-43F1-FE10-D2E9-6950549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E9BB5-BA31-53CA-8D4A-1700E441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9E71D-15D9-98DA-EA89-3A87E848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2275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ED56-A785-ABED-3CD0-EE023706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722A1E-F566-9587-6D0C-E2162DB67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689D6-365C-0B40-C606-D00FA1878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0E02D-FC7C-228E-9E02-392A14CA0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092AF-D253-A70A-8CE4-72D392D9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B184-F777-573B-5CE6-3032DC55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8759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C9ED-A8C9-2ABF-92EB-F055452C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32D3B-82A1-1A81-5C0D-AAD112FFF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912D9-CC1F-A88A-D5E0-B1E93E97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6A2A0-CF3E-D079-8E20-A6B31EEF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F654-7802-96D4-D768-B94DADEE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5843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6FADC-B833-FE26-D298-C2F8A1105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9EBED-EFD4-F62A-6B02-BBB9413B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5993-2886-2A85-CA7F-36480D70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F7D10-540D-2EB6-8649-14F69509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E163E-8820-6374-2D57-FEE15794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033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AA318-A0C0-2155-3F3F-26418178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9EF1A-22B6-1F5C-E080-002121502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8ADA6-F175-5FFF-F6DF-50F7A66E0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279A9-65F1-4A46-AD87-FE01284194AE}" type="datetimeFigureOut">
              <a:rPr lang="en-RU" smtClean="0"/>
              <a:t>11/11/25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F5A57-3E26-A92A-13D2-ED28CC55F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2BDEC-7FD7-E8F9-C3BB-AEE5A9991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6EBA8-C53B-7548-8AA3-56AC8E57193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8659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sv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sv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6.sv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sv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sv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sv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sv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sv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sv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sv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sv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sv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sv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sv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sv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sv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sv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sv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sv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sv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4" Type="http://schemas.openxmlformats.org/officeDocument/2006/relationships/image" Target="../media/image88.svg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710E-66B5-D045-AB89-1BE9AB2D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03C680-59B2-4960-AE5A-1900BA5AD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" b="694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BE14054-DCC9-435E-8837-CB4131E05F1B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6953C8D-FB77-61AF-0EF7-8A42B654AD78}"/>
              </a:ext>
            </a:extLst>
          </p:cNvPr>
          <p:cNvSpPr txBox="1">
            <a:spLocks/>
          </p:cNvSpPr>
          <p:nvPr/>
        </p:nvSpPr>
        <p:spPr>
          <a:xfrm>
            <a:off x="640977" y="4341626"/>
            <a:ext cx="6338047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RU"/>
              <a:t>Introduction to queues</a:t>
            </a:r>
            <a:br>
              <a:rPr lang="en-RU"/>
            </a:br>
            <a:br>
              <a:rPr lang="en-RU"/>
            </a:br>
            <a:r>
              <a:rPr lang="en-RU"/>
              <a:t>Mons Anderson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5672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30F5-B136-5E42-9A4D-845DF421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DC00-280A-9E4E-A1DD-6612A365E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Architect in </a:t>
            </a:r>
            <a:r>
              <a:rPr lang="en-US" dirty="0" err="1"/>
              <a:t>Exness</a:t>
            </a:r>
            <a:endParaRPr lang="ru-RU" dirty="0"/>
          </a:p>
          <a:p>
            <a:r>
              <a:rPr lang="en-US" dirty="0"/>
              <a:t>Ex VK Cloud Storage Architect</a:t>
            </a:r>
          </a:p>
          <a:p>
            <a:r>
              <a:rPr lang="en-US" dirty="0"/>
              <a:t>Ex Tarantool Architect &amp; PM &amp; Evangelist</a:t>
            </a:r>
            <a:endParaRPr lang="ru-RU" dirty="0"/>
          </a:p>
          <a:p>
            <a:r>
              <a:rPr lang="en-US" dirty="0"/>
              <a:t>I use queues since 2008</a:t>
            </a:r>
          </a:p>
          <a:p>
            <a:r>
              <a:rPr lang="en-US" dirty="0"/>
              <a:t>I like to create queues (esp. with Tarantool)</a:t>
            </a:r>
          </a:p>
          <a:p>
            <a:r>
              <a:rPr lang="en-US" dirty="0"/>
              <a:t>I like to talk about queues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8610F3-C38D-D544-ADC4-342820146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6343" y="1825625"/>
            <a:ext cx="2114385" cy="435002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6C179B9-FC14-90B2-90B6-44F9103733A5}"/>
              </a:ext>
            </a:extLst>
          </p:cNvPr>
          <p:cNvGrpSpPr/>
          <p:nvPr/>
        </p:nvGrpSpPr>
        <p:grpSpPr>
          <a:xfrm>
            <a:off x="838200" y="5419348"/>
            <a:ext cx="2559722" cy="892552"/>
            <a:chOff x="801722" y="4974973"/>
            <a:chExt cx="2559722" cy="8925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D3DDFB-3D26-FABC-7F36-80E03D999835}"/>
                </a:ext>
              </a:extLst>
            </p:cNvPr>
            <p:cNvSpPr txBox="1"/>
            <p:nvPr/>
          </p:nvSpPr>
          <p:spPr>
            <a:xfrm>
              <a:off x="801722" y="4974973"/>
              <a:ext cx="2559722" cy="89255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dirty="0">
                  <a:latin typeface="+mj-lt"/>
                </a:rPr>
                <a:t>Mons Anderson</a:t>
              </a:r>
            </a:p>
            <a:p>
              <a:r>
                <a:rPr lang="en-US" sz="2400" dirty="0">
                  <a:latin typeface="+mj-lt"/>
                </a:rPr>
                <a:t>      </a:t>
              </a:r>
              <a:r>
                <a:rPr lang="en-US" sz="2400" dirty="0" err="1">
                  <a:latin typeface="+mj-lt"/>
                </a:rPr>
                <a:t>inthrax</a:t>
              </a:r>
              <a:endParaRPr lang="en-US" sz="2400" dirty="0">
                <a:latin typeface="+mj-lt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6A945B-FE55-3B84-F33E-202943968653}"/>
                </a:ext>
              </a:extLst>
            </p:cNvPr>
            <p:cNvGrpSpPr/>
            <p:nvPr/>
          </p:nvGrpSpPr>
          <p:grpSpPr>
            <a:xfrm>
              <a:off x="896192" y="5490033"/>
              <a:ext cx="315057" cy="315000"/>
              <a:chOff x="5480720" y="5565373"/>
              <a:chExt cx="630113" cy="3640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72AFA98-EE02-02FA-6A3B-ACD1F5A8FB64}"/>
                  </a:ext>
                </a:extLst>
              </p:cNvPr>
              <p:cNvSpPr/>
              <p:nvPr/>
            </p:nvSpPr>
            <p:spPr>
              <a:xfrm>
                <a:off x="5480720" y="5565373"/>
                <a:ext cx="630113" cy="364065"/>
              </a:xfrm>
              <a:custGeom>
                <a:avLst/>
                <a:gdLst>
                  <a:gd name="connsiteX0" fmla="*/ 630199 w 630113"/>
                  <a:gd name="connsiteY0" fmla="*/ 182118 h 364065"/>
                  <a:gd name="connsiteX1" fmla="*/ 315142 w 630113"/>
                  <a:gd name="connsiteY1" fmla="*/ 364151 h 364065"/>
                  <a:gd name="connsiteX2" fmla="*/ 85 w 630113"/>
                  <a:gd name="connsiteY2" fmla="*/ 182118 h 364065"/>
                  <a:gd name="connsiteX3" fmla="*/ 315142 w 630113"/>
                  <a:gd name="connsiteY3" fmla="*/ 85 h 364065"/>
                  <a:gd name="connsiteX4" fmla="*/ 630199 w 630113"/>
                  <a:gd name="connsiteY4" fmla="*/ 182118 h 364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0113" h="364065">
                    <a:moveTo>
                      <a:pt x="630199" y="182118"/>
                    </a:moveTo>
                    <a:cubicBezTo>
                      <a:pt x="630199" y="282652"/>
                      <a:pt x="489143" y="364151"/>
                      <a:pt x="315142" y="364151"/>
                    </a:cubicBezTo>
                    <a:cubicBezTo>
                      <a:pt x="141141" y="364151"/>
                      <a:pt x="85" y="282652"/>
                      <a:pt x="85" y="182118"/>
                    </a:cubicBezTo>
                    <a:cubicBezTo>
                      <a:pt x="85" y="81584"/>
                      <a:pt x="141141" y="85"/>
                      <a:pt x="315142" y="85"/>
                    </a:cubicBezTo>
                    <a:cubicBezTo>
                      <a:pt x="489143" y="85"/>
                      <a:pt x="630199" y="81584"/>
                      <a:pt x="630199" y="182118"/>
                    </a:cubicBezTo>
                    <a:close/>
                  </a:path>
                </a:pathLst>
              </a:custGeom>
              <a:gradFill>
                <a:gsLst>
                  <a:gs pos="0">
                    <a:srgbClr val="37AEE2"/>
                  </a:gs>
                  <a:gs pos="50000">
                    <a:srgbClr val="2AA2D5"/>
                  </a:gs>
                  <a:gs pos="100000">
                    <a:srgbClr val="1E96C8"/>
                  </a:gs>
                </a:gsLst>
                <a:lin ang="6791998" scaled="1"/>
              </a:gradFill>
              <a:ln w="9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B3C7645-6630-3A3E-2531-3D8F771953C4}"/>
                  </a:ext>
                </a:extLst>
              </p:cNvPr>
              <p:cNvSpPr/>
              <p:nvPr/>
            </p:nvSpPr>
            <p:spPr>
              <a:xfrm>
                <a:off x="5590006" y="5671720"/>
                <a:ext cx="356175" cy="170159"/>
              </a:xfrm>
              <a:custGeom>
                <a:avLst/>
                <a:gdLst>
                  <a:gd name="connsiteX0" fmla="*/ 21914 w 356176"/>
                  <a:gd name="connsiteY0" fmla="*/ 74195 h 170159"/>
                  <a:gd name="connsiteX1" fmla="*/ 234077 w 356176"/>
                  <a:gd name="connsiteY1" fmla="*/ 23689 h 170159"/>
                  <a:gd name="connsiteX2" fmla="*/ 326044 w 356176"/>
                  <a:gd name="connsiteY2" fmla="*/ 1592 h 170159"/>
                  <a:gd name="connsiteX3" fmla="*/ 356093 w 356176"/>
                  <a:gd name="connsiteY3" fmla="*/ 12114 h 170159"/>
                  <a:gd name="connsiteX4" fmla="*/ 340613 w 356176"/>
                  <a:gd name="connsiteY4" fmla="*/ 73143 h 170159"/>
                  <a:gd name="connsiteX5" fmla="*/ 317849 w 356176"/>
                  <a:gd name="connsiteY5" fmla="*/ 155741 h 170159"/>
                  <a:gd name="connsiteX6" fmla="*/ 300548 w 356176"/>
                  <a:gd name="connsiteY6" fmla="*/ 169946 h 170159"/>
                  <a:gd name="connsiteX7" fmla="*/ 255020 w 356176"/>
                  <a:gd name="connsiteY7" fmla="*/ 160476 h 170159"/>
                  <a:gd name="connsiteX8" fmla="*/ 163052 w 356176"/>
                  <a:gd name="connsiteY8" fmla="*/ 123649 h 170159"/>
                  <a:gd name="connsiteX9" fmla="*/ 163963 w 356176"/>
                  <a:gd name="connsiteY9" fmla="*/ 106813 h 170159"/>
                  <a:gd name="connsiteX10" fmla="*/ 259573 w 356176"/>
                  <a:gd name="connsiteY10" fmla="*/ 54203 h 170159"/>
                  <a:gd name="connsiteX11" fmla="*/ 235898 w 356176"/>
                  <a:gd name="connsiteY11" fmla="*/ 51046 h 170159"/>
                  <a:gd name="connsiteX12" fmla="*/ 107508 w 356176"/>
                  <a:gd name="connsiteY12" fmla="*/ 101026 h 170159"/>
                  <a:gd name="connsiteX13" fmla="*/ 65622 w 356176"/>
                  <a:gd name="connsiteY13" fmla="*/ 101552 h 170159"/>
                  <a:gd name="connsiteX14" fmla="*/ 6435 w 356176"/>
                  <a:gd name="connsiteY14" fmla="*/ 90504 h 170159"/>
                  <a:gd name="connsiteX15" fmla="*/ 21914 w 356176"/>
                  <a:gd name="connsiteY15" fmla="*/ 74195 h 170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6176" h="170159">
                    <a:moveTo>
                      <a:pt x="21914" y="74195"/>
                    </a:moveTo>
                    <a:lnTo>
                      <a:pt x="234077" y="23689"/>
                    </a:lnTo>
                    <a:cubicBezTo>
                      <a:pt x="255020" y="18427"/>
                      <a:pt x="326044" y="1592"/>
                      <a:pt x="326044" y="1592"/>
                    </a:cubicBezTo>
                    <a:cubicBezTo>
                      <a:pt x="326044" y="1592"/>
                      <a:pt x="358825" y="-5773"/>
                      <a:pt x="356093" y="12114"/>
                    </a:cubicBezTo>
                    <a:cubicBezTo>
                      <a:pt x="355183" y="19480"/>
                      <a:pt x="347898" y="45259"/>
                      <a:pt x="340613" y="73143"/>
                    </a:cubicBezTo>
                    <a:lnTo>
                      <a:pt x="317849" y="155741"/>
                    </a:lnTo>
                    <a:cubicBezTo>
                      <a:pt x="317849" y="155741"/>
                      <a:pt x="316028" y="167842"/>
                      <a:pt x="300548" y="169946"/>
                    </a:cubicBezTo>
                    <a:cubicBezTo>
                      <a:pt x="285069" y="172051"/>
                      <a:pt x="259573" y="162581"/>
                      <a:pt x="255020" y="160476"/>
                    </a:cubicBezTo>
                    <a:cubicBezTo>
                      <a:pt x="251378" y="158898"/>
                      <a:pt x="186727" y="135223"/>
                      <a:pt x="163052" y="123649"/>
                    </a:cubicBezTo>
                    <a:cubicBezTo>
                      <a:pt x="156678" y="120492"/>
                      <a:pt x="149394" y="114179"/>
                      <a:pt x="163963" y="106813"/>
                    </a:cubicBezTo>
                    <a:cubicBezTo>
                      <a:pt x="196743" y="89452"/>
                      <a:pt x="235898" y="67881"/>
                      <a:pt x="259573" y="54203"/>
                    </a:cubicBezTo>
                    <a:cubicBezTo>
                      <a:pt x="270500" y="47889"/>
                      <a:pt x="281426" y="33158"/>
                      <a:pt x="235898" y="51046"/>
                    </a:cubicBezTo>
                    <a:lnTo>
                      <a:pt x="107508" y="101026"/>
                    </a:lnTo>
                    <a:cubicBezTo>
                      <a:pt x="107508" y="101026"/>
                      <a:pt x="92939" y="106287"/>
                      <a:pt x="65622" y="101552"/>
                    </a:cubicBezTo>
                    <a:cubicBezTo>
                      <a:pt x="38304" y="96817"/>
                      <a:pt x="6435" y="90504"/>
                      <a:pt x="6435" y="90504"/>
                    </a:cubicBezTo>
                    <a:cubicBezTo>
                      <a:pt x="6435" y="90504"/>
                      <a:pt x="-15419" y="82612"/>
                      <a:pt x="21914" y="74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469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B551F-2D0B-FA8D-886F-2110EA13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Full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8936B-A91D-3E3E-EDFA-60D6E56E8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RU" dirty="0"/>
              <a:t>1 x Overall queues theory (</a:t>
            </a:r>
            <a:r>
              <a:rPr lang="en-RU"/>
              <a:t>today)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RU"/>
              <a:t> x Apache Kafka (theory &amp; practice)</a:t>
            </a:r>
            <a:endParaRPr lang="en-RU" dirty="0"/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RU"/>
              <a:t> x Kafka</a:t>
            </a:r>
            <a:r>
              <a:rPr lang="en-US" dirty="0"/>
              <a:t> Streams</a:t>
            </a:r>
            <a:r>
              <a:rPr lang="en-RU"/>
              <a:t> </a:t>
            </a:r>
            <a:r>
              <a:rPr lang="en-RU" dirty="0"/>
              <a:t>(theory &amp; practice)</a:t>
            </a:r>
          </a:p>
          <a:p>
            <a:pPr marL="0" indent="0">
              <a:buNone/>
            </a:pPr>
            <a:r>
              <a:rPr lang="en-RU"/>
              <a:t>1 x </a:t>
            </a:r>
            <a:r>
              <a:rPr lang="en-US" dirty="0"/>
              <a:t>Transactional Outbox &amp; Inbox</a:t>
            </a:r>
            <a:r>
              <a:rPr lang="en-RU">
                <a:sym typeface="Wingdings" pitchFamily="2" charset="2"/>
              </a:rPr>
              <a:t> </a:t>
            </a:r>
            <a:r>
              <a:rPr lang="en-RU" dirty="0">
                <a:sym typeface="Wingdings" pitchFamily="2" charset="2"/>
              </a:rPr>
              <a:t>(</a:t>
            </a:r>
            <a:r>
              <a:rPr lang="en-RU" dirty="0"/>
              <a:t>theory &amp; practice)</a:t>
            </a:r>
            <a:endParaRPr lang="en-RU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RU">
                <a:sym typeface="Wingdings" pitchFamily="2" charset="2"/>
              </a:rPr>
              <a:t>1 </a:t>
            </a:r>
            <a:r>
              <a:rPr lang="en-RU" dirty="0">
                <a:sym typeface="Wingdings" pitchFamily="2" charset="2"/>
              </a:rPr>
              <a:t>x </a:t>
            </a:r>
            <a:r>
              <a:rPr lang="en-RU">
                <a:sym typeface="Wingdings" pitchFamily="2" charset="2"/>
              </a:rPr>
              <a:t>NATS (</a:t>
            </a:r>
            <a:r>
              <a:rPr lang="en-RU"/>
              <a:t>theory</a:t>
            </a:r>
            <a:r>
              <a:rPr lang="en-RU">
                <a:sym typeface="Wingdings" pitchFamily="2" charset="2"/>
              </a:rPr>
              <a:t> </a:t>
            </a:r>
            <a:r>
              <a:rPr lang="en-RU" dirty="0">
                <a:sym typeface="Wingdings" pitchFamily="2" charset="2"/>
              </a:rPr>
              <a:t>&amp; </a:t>
            </a:r>
            <a:r>
              <a:rPr lang="en-RU">
                <a:sym typeface="Wingdings" pitchFamily="2" charset="2"/>
              </a:rPr>
              <a:t>practice)</a:t>
            </a:r>
            <a:endParaRPr lang="en-RU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7108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6CC-E49D-9BF6-E82E-92837930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1E743-EEC2-A45A-3DD0-351FA3FE6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Fundamentals</a:t>
            </a:r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0863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queues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 distribution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06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2DE064-D9EB-F446-859A-FA68D87B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0000" y="1690688"/>
            <a:ext cx="7988621" cy="4356000"/>
          </a:xfrm>
        </p:spPr>
      </p:pic>
    </p:spTree>
    <p:extLst>
      <p:ext uri="{BB962C8B-B14F-4D97-AF65-F5344CB8AC3E}">
        <p14:creationId xmlns:p14="http://schemas.microsoft.com/office/powerpoint/2010/main" val="24884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2DE064-D9EB-F446-859A-FA68D87B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00000" y="1690688"/>
            <a:ext cx="8570729" cy="4356000"/>
          </a:xfrm>
        </p:spPr>
      </p:pic>
    </p:spTree>
    <p:extLst>
      <p:ext uri="{BB962C8B-B14F-4D97-AF65-F5344CB8AC3E}">
        <p14:creationId xmlns:p14="http://schemas.microsoft.com/office/powerpoint/2010/main" val="4144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89E9-5C11-10A2-A11A-AFE8D1DE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AB5F4-BAE2-B032-2281-6DADC15A7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upstream </a:t>
            </a:r>
            <a:r>
              <a:rPr lang="en-US" b="1" dirty="0"/>
              <a:t>backend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server backend1       weight=1;</a:t>
            </a:r>
          </a:p>
          <a:p>
            <a:pPr marL="0" indent="0">
              <a:buNone/>
            </a:pPr>
            <a:r>
              <a:rPr lang="en-US" dirty="0"/>
              <a:t>    server backend2       weight=2;</a:t>
            </a:r>
          </a:p>
          <a:p>
            <a:pPr marL="0" indent="0">
              <a:buNone/>
            </a:pPr>
            <a:r>
              <a:rPr lang="en-US" dirty="0"/>
              <a:t>    server backend3       weight=1;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87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49855-1875-60A1-D790-CFB0F9B82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600C-E1DE-E952-D09B-40717FF2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AB86-3002-FF1B-E4E2-085801AEC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upstream </a:t>
            </a:r>
            <a:r>
              <a:rPr lang="en-US" b="1" dirty="0"/>
              <a:t>backend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server backend1       weight=11;</a:t>
            </a:r>
          </a:p>
          <a:p>
            <a:pPr marL="0" indent="0">
              <a:buNone/>
            </a:pPr>
            <a:r>
              <a:rPr lang="en-US" dirty="0"/>
              <a:t>    server backend2       weight=19;</a:t>
            </a:r>
          </a:p>
          <a:p>
            <a:pPr marL="0" indent="0">
              <a:buNone/>
            </a:pPr>
            <a:r>
              <a:rPr lang="en-US" dirty="0"/>
              <a:t>    server backend3       weight=14;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7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1EE41-00B4-5F4D-D4C9-86895D92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D3D3-CFEE-44CF-D9A2-7D68EEC8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18D8-2A33-9D58-FC6F-58CDCDAF8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upstream </a:t>
            </a:r>
            <a:r>
              <a:rPr lang="en-US" b="1" dirty="0"/>
              <a:t>backend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server backend1       weight=11    </a:t>
            </a:r>
            <a:r>
              <a:rPr lang="en-US" dirty="0" err="1"/>
              <a:t>max_fails</a:t>
            </a:r>
            <a:r>
              <a:rPr lang="en-US" dirty="0"/>
              <a:t>=5    </a:t>
            </a:r>
            <a:r>
              <a:rPr lang="en-US" dirty="0" err="1"/>
              <a:t>fail_timeout</a:t>
            </a:r>
            <a:r>
              <a:rPr lang="en-US" dirty="0"/>
              <a:t>=5s;</a:t>
            </a:r>
          </a:p>
          <a:p>
            <a:pPr marL="0" indent="0">
              <a:buNone/>
            </a:pPr>
            <a:r>
              <a:rPr lang="en-US" dirty="0"/>
              <a:t>    server backend2       weight=19    </a:t>
            </a:r>
            <a:r>
              <a:rPr lang="en-US" dirty="0" err="1"/>
              <a:t>max_fails</a:t>
            </a:r>
            <a:r>
              <a:rPr lang="en-US" dirty="0"/>
              <a:t>=5    </a:t>
            </a:r>
            <a:r>
              <a:rPr lang="en-US" dirty="0" err="1"/>
              <a:t>fail_timeout</a:t>
            </a:r>
            <a:r>
              <a:rPr lang="en-US" dirty="0"/>
              <a:t>=5s;</a:t>
            </a:r>
          </a:p>
          <a:p>
            <a:pPr marL="0" indent="0">
              <a:buNone/>
            </a:pPr>
            <a:r>
              <a:rPr lang="en-US" dirty="0"/>
              <a:t>    server backend3       weight=14    </a:t>
            </a:r>
            <a:r>
              <a:rPr lang="en-US" dirty="0" err="1"/>
              <a:t>max_fails</a:t>
            </a:r>
            <a:r>
              <a:rPr lang="en-US" dirty="0"/>
              <a:t>=5    </a:t>
            </a:r>
            <a:r>
              <a:rPr lang="en-US" dirty="0" err="1"/>
              <a:t>fail_timeout</a:t>
            </a:r>
            <a:r>
              <a:rPr lang="en-US" dirty="0"/>
              <a:t>=5s;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>
              <a:latin typeface="Fira Code" panose="020B0809050000020004" pitchFamily="34" charset="0"/>
              <a:ea typeface="Fira Code" panose="020B0809050000020004" pitchFamily="34" charset="0"/>
              <a:cs typeface="Fira Code" panose="020B0809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661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distribution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2DE064-D9EB-F446-859A-FA68D87BB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00000" y="1690688"/>
            <a:ext cx="8617816" cy="4356000"/>
          </a:xfrm>
        </p:spPr>
      </p:pic>
    </p:spTree>
    <p:extLst>
      <p:ext uri="{BB962C8B-B14F-4D97-AF65-F5344CB8AC3E}">
        <p14:creationId xmlns:p14="http://schemas.microsoft.com/office/powerpoint/2010/main" val="335723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94" y="252000"/>
            <a:ext cx="11604328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4D4D4"/>
                </a:solidFill>
              </a:rPr>
              <a:t>Task distribution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/>
              <a:t>Execution scheduling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836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scheduling</a:t>
            </a:r>
            <a:endParaRPr lang="ru-RU" dirty="0"/>
          </a:p>
        </p:txBody>
      </p:sp>
      <p:pic>
        <p:nvPicPr>
          <p:cNvPr id="49" name="Content Placeholder 48">
            <a:extLst>
              <a:ext uri="{FF2B5EF4-FFF2-40B4-BE49-F238E27FC236}">
                <a16:creationId xmlns:a16="http://schemas.microsoft.com/office/drawing/2014/main" id="{494DF405-301A-5C5F-592A-5688D573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4659" y="1577563"/>
            <a:ext cx="9242682" cy="4847462"/>
          </a:xfrm>
        </p:spPr>
      </p:pic>
    </p:spTree>
    <p:extLst>
      <p:ext uri="{BB962C8B-B14F-4D97-AF65-F5344CB8AC3E}">
        <p14:creationId xmlns:p14="http://schemas.microsoft.com/office/powerpoint/2010/main" val="1490196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scheduling</a:t>
            </a:r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070EBE-36A3-E5B3-CBDD-82DCA2365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4659" y="1577563"/>
            <a:ext cx="9242682" cy="4847462"/>
          </a:xfrm>
        </p:spPr>
      </p:pic>
    </p:spTree>
    <p:extLst>
      <p:ext uri="{BB962C8B-B14F-4D97-AF65-F5344CB8AC3E}">
        <p14:creationId xmlns:p14="http://schemas.microsoft.com/office/powerpoint/2010/main" val="285112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0" y="252000"/>
            <a:ext cx="11608909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825624"/>
            <a:ext cx="11028218" cy="4521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Tasks distribution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Scheduling of execution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Fair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329730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0" y="252000"/>
            <a:ext cx="11608909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825624"/>
            <a:ext cx="11028218" cy="4521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Tasks distribution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Scheduling of execution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Fair resource allocation</a:t>
            </a:r>
          </a:p>
          <a:p>
            <a:r>
              <a:rPr lang="en-US" dirty="0"/>
              <a:t>Messages replication</a:t>
            </a:r>
          </a:p>
        </p:txBody>
      </p:sp>
    </p:spTree>
    <p:extLst>
      <p:ext uri="{BB962C8B-B14F-4D97-AF65-F5344CB8AC3E}">
        <p14:creationId xmlns:p14="http://schemas.microsoft.com/office/powerpoint/2010/main" val="333586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0" y="252000"/>
            <a:ext cx="11608909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825624"/>
            <a:ext cx="11028218" cy="4521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Tasks distribution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Scheduling of execution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Fair resource allocation</a:t>
            </a:r>
          </a:p>
          <a:p>
            <a:r>
              <a:rPr lang="en-US" dirty="0">
                <a:solidFill>
                  <a:schemeClr val="bg2"/>
                </a:solidFill>
              </a:rPr>
              <a:t>Messages replication</a:t>
            </a:r>
          </a:p>
          <a:p>
            <a:r>
              <a:rPr lang="en-US" dirty="0"/>
              <a:t>Fault tolerance, durability,</a:t>
            </a:r>
            <a:r>
              <a:rPr lang="ru-RU" dirty="0"/>
              <a:t> </a:t>
            </a:r>
            <a:r>
              <a:rPr lang="en-US" dirty="0"/>
              <a:t>delivery guarantee </a:t>
            </a:r>
          </a:p>
        </p:txBody>
      </p:sp>
    </p:spTree>
    <p:extLst>
      <p:ext uri="{BB962C8B-B14F-4D97-AF65-F5344CB8AC3E}">
        <p14:creationId xmlns:p14="http://schemas.microsoft.com/office/powerpoint/2010/main" val="214648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0" y="252000"/>
            <a:ext cx="11608909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825624"/>
            <a:ext cx="11028218" cy="4521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Tasks distribution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Scheduling of execution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Fair resource allocation</a:t>
            </a:r>
          </a:p>
          <a:p>
            <a:r>
              <a:rPr lang="en-US" dirty="0">
                <a:solidFill>
                  <a:schemeClr val="bg2"/>
                </a:solidFill>
              </a:rPr>
              <a:t>Messages replication</a:t>
            </a:r>
          </a:p>
          <a:p>
            <a:r>
              <a:rPr lang="en-US" dirty="0">
                <a:solidFill>
                  <a:schemeClr val="bg2"/>
                </a:solidFill>
              </a:rPr>
              <a:t>Fault tolerance, durability,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delivery guarantee </a:t>
            </a:r>
          </a:p>
          <a:p>
            <a:r>
              <a:rPr lang="en-US" dirty="0"/>
              <a:t>Microservices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49944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9120-4EEB-8D45-9CDA-017F2FEE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0" y="252000"/>
            <a:ext cx="11608909" cy="1325563"/>
          </a:xfrm>
        </p:spPr>
        <p:txBody>
          <a:bodyPr/>
          <a:lstStyle/>
          <a:p>
            <a:r>
              <a:rPr lang="en-US" dirty="0"/>
              <a:t>What are queues used for?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33F91-2F9C-E24F-8000-AB88FD732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1825624"/>
            <a:ext cx="11028218" cy="4521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Tasks distribution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Scheduling of execution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Fair resource allocation</a:t>
            </a:r>
          </a:p>
          <a:p>
            <a:r>
              <a:rPr lang="en-US" dirty="0">
                <a:solidFill>
                  <a:schemeClr val="bg2"/>
                </a:solidFill>
              </a:rPr>
              <a:t>Messages replication</a:t>
            </a:r>
          </a:p>
          <a:p>
            <a:r>
              <a:rPr lang="en-US" dirty="0">
                <a:solidFill>
                  <a:schemeClr val="bg2"/>
                </a:solidFill>
              </a:rPr>
              <a:t>Fault tolerance, durability,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delivery guarantee </a:t>
            </a:r>
          </a:p>
          <a:p>
            <a:r>
              <a:rPr lang="en-US" dirty="0">
                <a:solidFill>
                  <a:schemeClr val="bg2"/>
                </a:solidFill>
              </a:rPr>
              <a:t>Microservices communication</a:t>
            </a:r>
          </a:p>
          <a:p>
            <a:r>
              <a:rPr lang="en-US" dirty="0"/>
              <a:t>Event-driven architecture (Event Sourcing)</a:t>
            </a:r>
          </a:p>
          <a:p>
            <a:r>
              <a:rPr lang="en-US" dirty="0"/>
              <a:t>Streaming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44634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are queues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B318A-6F5D-8046-9E32-915447AFF6BC}"/>
              </a:ext>
            </a:extLst>
          </p:cNvPr>
          <p:cNvSpPr txBox="1"/>
          <p:nvPr/>
        </p:nvSpPr>
        <p:spPr>
          <a:xfrm>
            <a:off x="7200000" y="1825625"/>
            <a:ext cx="34115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IRQ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NCQ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Hardware Buffers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56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</a:t>
            </a:r>
            <a:endParaRPr lang="en-US" i="1" dirty="0">
              <a:solidFill>
                <a:schemeClr val="bg2"/>
              </a:solidFill>
            </a:endParaRPr>
          </a:p>
          <a:p>
            <a:r>
              <a:rPr lang="en-US" dirty="0"/>
              <a:t>OS Kernel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F5015-19A6-EF4E-B834-B2A32321B68B}"/>
              </a:ext>
            </a:extLst>
          </p:cNvPr>
          <p:cNvSpPr txBox="1"/>
          <p:nvPr/>
        </p:nvSpPr>
        <p:spPr>
          <a:xfrm>
            <a:off x="7200000" y="2282824"/>
            <a:ext cx="28777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TT Travels Regular" panose="02000503030000020004" pitchFamily="2" charset="77"/>
              </a:rPr>
              <a:t>epoll</a:t>
            </a:r>
            <a:r>
              <a:rPr lang="en-US" sz="2800" dirty="0">
                <a:latin typeface="TT Travels Regular" panose="02000503030000020004" pitchFamily="2" charset="77"/>
              </a:rPr>
              <a:t> / </a:t>
            </a:r>
            <a:r>
              <a:rPr lang="en-US" sz="2800" dirty="0" err="1">
                <a:latin typeface="TT Travels Regular" panose="02000503030000020004" pitchFamily="2" charset="77"/>
              </a:rPr>
              <a:t>kqueue</a:t>
            </a:r>
            <a:endParaRPr lang="en-US" sz="2800" dirty="0"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networking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signal handling</a:t>
            </a:r>
          </a:p>
        </p:txBody>
      </p:sp>
    </p:spTree>
    <p:extLst>
      <p:ext uri="{BB962C8B-B14F-4D97-AF65-F5344CB8AC3E}">
        <p14:creationId xmlns:p14="http://schemas.microsoft.com/office/powerpoint/2010/main" val="3369900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</a:t>
            </a:r>
            <a:endParaRPr lang="en-US" i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OS Kernel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Applications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8A432-BF5A-5846-B329-530C3F3CAE0E}"/>
              </a:ext>
            </a:extLst>
          </p:cNvPr>
          <p:cNvSpPr txBox="1"/>
          <p:nvPr/>
        </p:nvSpPr>
        <p:spPr>
          <a:xfrm>
            <a:off x="7200000" y="2840037"/>
            <a:ext cx="26052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Cross thread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IPC</a:t>
            </a:r>
          </a:p>
        </p:txBody>
      </p:sp>
    </p:spTree>
    <p:extLst>
      <p:ext uri="{BB962C8B-B14F-4D97-AF65-F5344CB8AC3E}">
        <p14:creationId xmlns:p14="http://schemas.microsoft.com/office/powerpoint/2010/main" val="3110567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</a:t>
            </a:r>
            <a:endParaRPr lang="en-US" i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OS Kernel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Applications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Network interactions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8949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</a:t>
            </a:r>
            <a:endParaRPr lang="en-US" i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OS Kernel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Applications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Network interactions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Distributed systems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09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</a:t>
            </a:r>
            <a:endParaRPr lang="en-US" i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OS Kernel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Applications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Network interactions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Distributed systems</a:t>
            </a:r>
          </a:p>
          <a:p>
            <a:r>
              <a:rPr lang="en-US" dirty="0"/>
              <a:t>Connection of businesses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590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Hardware</a:t>
            </a:r>
            <a:endParaRPr lang="en-US" i="1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OS Kernel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Applications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Network interactions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Distributed systems</a:t>
            </a:r>
          </a:p>
          <a:p>
            <a:r>
              <a:rPr lang="en-US">
                <a:solidFill>
                  <a:schemeClr val="bg2"/>
                </a:solidFill>
              </a:rPr>
              <a:t>Connection of businesses</a:t>
            </a:r>
          </a:p>
          <a:p>
            <a:endParaRPr lang="ru-RU"/>
          </a:p>
          <a:p>
            <a:r>
              <a:rPr lang="en-US"/>
              <a:t>In fact — everywhere</a:t>
            </a:r>
            <a:endParaRPr lang="ru-RU" dirty="0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AD6C59E2-5245-230D-14D4-EE7A62E9D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78" y="1193800"/>
            <a:ext cx="3743325" cy="561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583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A63B-268D-D748-B0F3-D4E8814C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queues are used?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1869-BF8C-AA41-B13E-32C48A26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Hardware</a:t>
            </a:r>
            <a:endParaRPr lang="en-US" i="1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OS Kernel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Applications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Network interactions</a:t>
            </a:r>
            <a:endParaRPr lang="ru-RU">
              <a:solidFill>
                <a:schemeClr val="bg2"/>
              </a:solidFill>
            </a:endParaRPr>
          </a:p>
          <a:p>
            <a:r>
              <a:rPr lang="en-US">
                <a:solidFill>
                  <a:schemeClr val="bg2"/>
                </a:solidFill>
              </a:rPr>
              <a:t>Distributed systems</a:t>
            </a:r>
          </a:p>
          <a:p>
            <a:r>
              <a:rPr lang="en-US">
                <a:solidFill>
                  <a:schemeClr val="bg2"/>
                </a:solidFill>
              </a:rPr>
              <a:t>Connection of businesses</a:t>
            </a:r>
          </a:p>
          <a:p>
            <a:endParaRPr lang="ru-RU"/>
          </a:p>
          <a:p>
            <a:r>
              <a:rPr lang="en-US"/>
              <a:t>In fact — everywhere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AD4C49-5FD9-5F47-8A21-8CD4DC5642AF}"/>
              </a:ext>
            </a:extLst>
          </p:cNvPr>
          <p:cNvSpPr txBox="1"/>
          <p:nvPr/>
        </p:nvSpPr>
        <p:spPr>
          <a:xfrm>
            <a:off x="7244064" y="5776720"/>
            <a:ext cx="3602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Queues are the glue</a:t>
            </a:r>
            <a:endParaRPr lang="ru-RU" sz="3200" b="1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101B7FF-56AE-B64E-BDB7-B80767B87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4015" y="1825625"/>
            <a:ext cx="3982558" cy="333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47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85CE-2781-FF25-007A-78EBE589D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3ADEF-928F-20B6-348F-56689D4BC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620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8D6D-BC81-F14B-B003-842473E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media for communication using messages</a:t>
            </a:r>
          </a:p>
        </p:txBody>
      </p:sp>
    </p:spTree>
    <p:extLst>
      <p:ext uri="{BB962C8B-B14F-4D97-AF65-F5344CB8AC3E}">
        <p14:creationId xmlns:p14="http://schemas.microsoft.com/office/powerpoint/2010/main" val="4184238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EF12C-EC81-FD4E-B989-99B5CFDBB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83279" y="2448235"/>
            <a:ext cx="9189496" cy="2906316"/>
          </a:xfrm>
        </p:spPr>
      </p:pic>
    </p:spTree>
    <p:extLst>
      <p:ext uri="{BB962C8B-B14F-4D97-AF65-F5344CB8AC3E}">
        <p14:creationId xmlns:p14="http://schemas.microsoft.com/office/powerpoint/2010/main" val="19772207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8D6D-BC81-F14B-B003-842473E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A media for communication using messages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One-to-one approach</a:t>
            </a:r>
            <a:r>
              <a:rPr lang="ru-RU" dirty="0"/>
              <a:t> </a:t>
            </a:r>
            <a:r>
              <a:rPr lang="en-US" dirty="0"/>
              <a:t>(Put/Take)</a:t>
            </a:r>
            <a:r>
              <a:rPr lang="ru-RU" dirty="0"/>
              <a:t>: 1</a:t>
            </a:r>
            <a:r>
              <a:rPr lang="en-US" dirty="0"/>
              <a:t> → 1</a:t>
            </a:r>
          </a:p>
        </p:txBody>
      </p:sp>
    </p:spTree>
    <p:extLst>
      <p:ext uri="{BB962C8B-B14F-4D97-AF65-F5344CB8AC3E}">
        <p14:creationId xmlns:p14="http://schemas.microsoft.com/office/powerpoint/2010/main" val="509868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Put/Take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EF12C-EC81-FD4E-B989-99B5CFDBB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83279" y="1938859"/>
            <a:ext cx="9189496" cy="3925068"/>
          </a:xfrm>
        </p:spPr>
      </p:pic>
    </p:spTree>
    <p:extLst>
      <p:ext uri="{BB962C8B-B14F-4D97-AF65-F5344CB8AC3E}">
        <p14:creationId xmlns:p14="http://schemas.microsoft.com/office/powerpoint/2010/main" val="75795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8D6D-BC81-F14B-B003-842473E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 media for communication using messages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One-to-one approach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(Put/Take)</a:t>
            </a:r>
            <a:r>
              <a:rPr lang="ru-RU" dirty="0">
                <a:solidFill>
                  <a:schemeClr val="bg2"/>
                </a:solidFill>
              </a:rPr>
              <a:t>: 1</a:t>
            </a:r>
            <a:r>
              <a:rPr lang="en-US" dirty="0">
                <a:solidFill>
                  <a:schemeClr val="bg2"/>
                </a:solidFill>
              </a:rPr>
              <a:t> → 1</a:t>
            </a:r>
          </a:p>
          <a:p>
            <a:r>
              <a:rPr lang="en-US" dirty="0"/>
              <a:t>One-to-many approach (Publish/Subscribe): </a:t>
            </a:r>
            <a:r>
              <a:rPr lang="ru-RU" dirty="0"/>
              <a:t>1</a:t>
            </a:r>
            <a:r>
              <a:rPr lang="en-US" dirty="0"/>
              <a:t> → *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707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Pub/Sub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EF12C-EC81-FD4E-B989-99B5CFDBB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63362" y="1500188"/>
            <a:ext cx="8629330" cy="4802410"/>
          </a:xfrm>
        </p:spPr>
      </p:pic>
    </p:spTree>
    <p:extLst>
      <p:ext uri="{BB962C8B-B14F-4D97-AF65-F5344CB8AC3E}">
        <p14:creationId xmlns:p14="http://schemas.microsoft.com/office/powerpoint/2010/main" val="37845949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8D6D-BC81-F14B-B003-842473E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 media for communication using messages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One-to-one approach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(Put/Take)</a:t>
            </a:r>
            <a:r>
              <a:rPr lang="ru-RU" dirty="0">
                <a:solidFill>
                  <a:schemeClr val="bg2"/>
                </a:solidFill>
              </a:rPr>
              <a:t>: 1</a:t>
            </a:r>
            <a:r>
              <a:rPr lang="en-US" dirty="0">
                <a:solidFill>
                  <a:schemeClr val="bg2"/>
                </a:solidFill>
              </a:rPr>
              <a:t> → 1</a:t>
            </a:r>
          </a:p>
          <a:p>
            <a:r>
              <a:rPr lang="en-US" dirty="0">
                <a:solidFill>
                  <a:schemeClr val="bg2"/>
                </a:solidFill>
              </a:rPr>
              <a:t>One-to-many approach (Publish/Subscribe): </a:t>
            </a:r>
            <a:r>
              <a:rPr lang="ru-RU" dirty="0">
                <a:solidFill>
                  <a:schemeClr val="bg2"/>
                </a:solidFill>
              </a:rPr>
              <a:t>1</a:t>
            </a:r>
            <a:r>
              <a:rPr lang="en-US" dirty="0">
                <a:solidFill>
                  <a:schemeClr val="bg2"/>
                </a:solidFill>
              </a:rPr>
              <a:t> → *</a:t>
            </a:r>
          </a:p>
          <a:p>
            <a:r>
              <a:rPr lang="en-US" dirty="0"/>
              <a:t>Synchronous flow (Request/Response): </a:t>
            </a:r>
            <a:r>
              <a:rPr lang="ru-RU" dirty="0"/>
              <a:t>1</a:t>
            </a:r>
            <a:r>
              <a:rPr lang="en-US" dirty="0"/>
              <a:t> ⇆ 1</a:t>
            </a:r>
          </a:p>
        </p:txBody>
      </p:sp>
    </p:spTree>
    <p:extLst>
      <p:ext uri="{BB962C8B-B14F-4D97-AF65-F5344CB8AC3E}">
        <p14:creationId xmlns:p14="http://schemas.microsoft.com/office/powerpoint/2010/main" val="3014303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4987-4864-E248-9EBA-1BB461196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queue?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8D6D-BC81-F14B-B003-842473E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 media for communication using messages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One-to-one approach</a:t>
            </a: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(Put/Take)</a:t>
            </a:r>
            <a:r>
              <a:rPr lang="ru-RU" dirty="0">
                <a:solidFill>
                  <a:schemeClr val="bg2"/>
                </a:solidFill>
              </a:rPr>
              <a:t>: 1</a:t>
            </a:r>
            <a:r>
              <a:rPr lang="en-US" dirty="0">
                <a:solidFill>
                  <a:schemeClr val="bg2"/>
                </a:solidFill>
              </a:rPr>
              <a:t> → 1</a:t>
            </a:r>
          </a:p>
          <a:p>
            <a:r>
              <a:rPr lang="en-US" dirty="0">
                <a:solidFill>
                  <a:schemeClr val="bg2"/>
                </a:solidFill>
              </a:rPr>
              <a:t>One-to-many approach (Publish/Subscribe): </a:t>
            </a:r>
            <a:r>
              <a:rPr lang="ru-RU" dirty="0">
                <a:solidFill>
                  <a:schemeClr val="bg2"/>
                </a:solidFill>
              </a:rPr>
              <a:t>1</a:t>
            </a:r>
            <a:r>
              <a:rPr lang="en-US" dirty="0">
                <a:solidFill>
                  <a:schemeClr val="bg2"/>
                </a:solidFill>
              </a:rPr>
              <a:t> → *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Synchronous flow (Request/Response): </a:t>
            </a:r>
            <a:r>
              <a:rPr lang="ru-RU" dirty="0">
                <a:solidFill>
                  <a:schemeClr val="bg2"/>
                </a:solidFill>
              </a:rPr>
              <a:t>1</a:t>
            </a:r>
            <a:r>
              <a:rPr lang="en-US" dirty="0">
                <a:solidFill>
                  <a:schemeClr val="bg2"/>
                </a:solidFill>
              </a:rPr>
              <a:t> ⇆ 1</a:t>
            </a:r>
          </a:p>
          <a:p>
            <a:r>
              <a:rPr lang="en-US" dirty="0"/>
              <a:t>Protocols</a:t>
            </a:r>
            <a:r>
              <a:rPr lang="ru-RU" dirty="0"/>
              <a:t>: </a:t>
            </a:r>
            <a:r>
              <a:rPr lang="en-US" dirty="0"/>
              <a:t>AMQP</a:t>
            </a:r>
            <a:r>
              <a:rPr lang="ru-RU" dirty="0"/>
              <a:t>, </a:t>
            </a:r>
            <a:r>
              <a:rPr lang="en-US" dirty="0"/>
              <a:t>MQTT, STOMP, NATS, </a:t>
            </a:r>
            <a:r>
              <a:rPr lang="en-US" dirty="0" err="1"/>
              <a:t>ZeroMQ</a:t>
            </a:r>
            <a:r>
              <a:rPr lang="en-US" dirty="0"/>
              <a:t>, …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5041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6C76-3C14-C9C3-0D33-2D638D69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options?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71495-AEB7-0177-8B9F-B4C384167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 dirty="0"/>
              <a:t>Major players</a:t>
            </a:r>
          </a:p>
        </p:txBody>
      </p:sp>
    </p:spTree>
    <p:extLst>
      <p:ext uri="{BB962C8B-B14F-4D97-AF65-F5344CB8AC3E}">
        <p14:creationId xmlns:p14="http://schemas.microsoft.com/office/powerpoint/2010/main" val="2077950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3552-4AF6-0B46-8EBF-EB40D8E6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options?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EC49-042D-9244-8126-A039C89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Managed / Cloud Services</a:t>
            </a:r>
            <a:endParaRPr lang="ru-RU" dirty="0"/>
          </a:p>
          <a:p>
            <a:pPr lvl="1"/>
            <a:r>
              <a:rPr lang="en-US" dirty="0"/>
              <a:t>Amazon SQS, </a:t>
            </a:r>
            <a:r>
              <a:rPr lang="en-US" dirty="0" err="1"/>
              <a:t>EventBridge</a:t>
            </a:r>
            <a:endParaRPr lang="en-US" dirty="0"/>
          </a:p>
          <a:p>
            <a:pPr lvl="1"/>
            <a:r>
              <a:rPr lang="en-US" dirty="0"/>
              <a:t>Google Cloud Tasks</a:t>
            </a:r>
          </a:p>
          <a:p>
            <a:pPr lvl="1"/>
            <a:r>
              <a:rPr lang="en-US" dirty="0" err="1"/>
              <a:t>CloudAMQP</a:t>
            </a:r>
            <a:endParaRPr lang="en-US" dirty="0"/>
          </a:p>
          <a:p>
            <a:pPr lvl="1"/>
            <a:r>
              <a:rPr lang="en-US" dirty="0"/>
              <a:t>…</a:t>
            </a:r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6602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3552-4AF6-0B46-8EBF-EB40D8E6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What are the options?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EC49-042D-9244-8126-A039C896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Managed / Cloud Services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Amazon SQS, </a:t>
            </a:r>
            <a:r>
              <a:rPr lang="en-US" dirty="0" err="1">
                <a:solidFill>
                  <a:schemeClr val="bg2"/>
                </a:solidFill>
              </a:rPr>
              <a:t>EventBridge</a:t>
            </a:r>
            <a:r>
              <a:rPr lang="en-US" dirty="0">
                <a:solidFill>
                  <a:schemeClr val="bg2"/>
                </a:solidFill>
              </a:rPr>
              <a:t>, Google Cloud Tasks, </a:t>
            </a:r>
            <a:r>
              <a:rPr lang="en-US" dirty="0" err="1">
                <a:solidFill>
                  <a:schemeClr val="bg2"/>
                </a:solidFill>
              </a:rPr>
              <a:t>CloudAMQP</a:t>
            </a:r>
            <a:r>
              <a:rPr lang="en-US" dirty="0">
                <a:solidFill>
                  <a:schemeClr val="bg2"/>
                </a:solidFill>
              </a:rPr>
              <a:t>, …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Message brokers</a:t>
            </a:r>
          </a:p>
          <a:p>
            <a:pPr lvl="1"/>
            <a:r>
              <a:rPr lang="en-US" dirty="0"/>
              <a:t>RabbitMQ</a:t>
            </a:r>
          </a:p>
          <a:p>
            <a:pPr lvl="1"/>
            <a:r>
              <a:rPr lang="en-US" dirty="0"/>
              <a:t>Apache Kafka</a:t>
            </a:r>
          </a:p>
          <a:p>
            <a:pPr lvl="1"/>
            <a:r>
              <a:rPr lang="en-US" dirty="0"/>
              <a:t>NATS JetStream</a:t>
            </a:r>
          </a:p>
          <a:p>
            <a:pPr lvl="1"/>
            <a:r>
              <a:rPr lang="en-US" dirty="0"/>
              <a:t>ActiveMQ</a:t>
            </a:r>
          </a:p>
          <a:p>
            <a:pPr lvl="1"/>
            <a:r>
              <a:rPr lang="en-US" dirty="0" err="1"/>
              <a:t>Tarantool</a:t>
            </a:r>
            <a:r>
              <a:rPr lang="en-US" dirty="0"/>
              <a:t> Queue</a:t>
            </a:r>
          </a:p>
          <a:p>
            <a:pPr lvl="1"/>
            <a:r>
              <a:rPr lang="en-US" dirty="0"/>
              <a:t>NSQ</a:t>
            </a:r>
          </a:p>
        </p:txBody>
      </p:sp>
    </p:spTree>
    <p:extLst>
      <p:ext uri="{BB962C8B-B14F-4D97-AF65-F5344CB8AC3E}">
        <p14:creationId xmlns:p14="http://schemas.microsoft.com/office/powerpoint/2010/main" val="892910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3552-4AF6-0B46-8EBF-EB40D8E6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options?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EC49-042D-9244-8126-A039C89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Managed / Cloud Services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Amazon SQS, </a:t>
            </a:r>
            <a:r>
              <a:rPr lang="en-US" dirty="0" err="1">
                <a:solidFill>
                  <a:schemeClr val="bg2"/>
                </a:solidFill>
              </a:rPr>
              <a:t>EventBridge</a:t>
            </a:r>
            <a:r>
              <a:rPr lang="en-US" dirty="0">
                <a:solidFill>
                  <a:schemeClr val="bg2"/>
                </a:solidFill>
              </a:rPr>
              <a:t>, Google Cloud Tasks, </a:t>
            </a:r>
            <a:r>
              <a:rPr lang="en-US" dirty="0" err="1">
                <a:solidFill>
                  <a:schemeClr val="bg2"/>
                </a:solidFill>
              </a:rPr>
              <a:t>CloudAMQP</a:t>
            </a:r>
            <a:r>
              <a:rPr lang="en-US" dirty="0">
                <a:solidFill>
                  <a:schemeClr val="bg2"/>
                </a:solidFill>
              </a:rPr>
              <a:t>, …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brokers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RabbitMQ, Apache Kafka, NATS JS, </a:t>
            </a:r>
            <a:r>
              <a:rPr lang="en-US" dirty="0" err="1">
                <a:solidFill>
                  <a:schemeClr val="bg2"/>
                </a:solidFill>
              </a:rPr>
              <a:t>Tarantool</a:t>
            </a:r>
            <a:r>
              <a:rPr lang="en-US" dirty="0">
                <a:solidFill>
                  <a:schemeClr val="bg2"/>
                </a:solidFill>
              </a:rPr>
              <a:t> Queue, NSQ, …</a:t>
            </a:r>
          </a:p>
          <a:p>
            <a:r>
              <a:rPr lang="en-US" dirty="0"/>
              <a:t>Database-backed queues</a:t>
            </a:r>
            <a:endParaRPr lang="ru-RU" dirty="0"/>
          </a:p>
          <a:p>
            <a:pPr lvl="1"/>
            <a:r>
              <a:rPr lang="en-US" dirty="0" err="1"/>
              <a:t>PgQueue</a:t>
            </a:r>
            <a:endParaRPr lang="en-US" dirty="0"/>
          </a:p>
          <a:p>
            <a:pPr lvl="1"/>
            <a:r>
              <a:rPr lang="en-US" dirty="0" err="1"/>
              <a:t>Tarantool</a:t>
            </a:r>
            <a:endParaRPr lang="en-US" dirty="0"/>
          </a:p>
          <a:p>
            <a:pPr lvl="1"/>
            <a:r>
              <a:rPr lang="en-US" dirty="0"/>
              <a:t>Redis</a:t>
            </a:r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9991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3552-4AF6-0B46-8EBF-EB40D8E6F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options?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5EC49-042D-9244-8126-A039C896E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Managed / Cloud Services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Amazon SQS, </a:t>
            </a:r>
            <a:r>
              <a:rPr lang="en-US" dirty="0" err="1">
                <a:solidFill>
                  <a:schemeClr val="bg2"/>
                </a:solidFill>
              </a:rPr>
              <a:t>EventBridge</a:t>
            </a:r>
            <a:r>
              <a:rPr lang="en-US" dirty="0">
                <a:solidFill>
                  <a:schemeClr val="bg2"/>
                </a:solidFill>
              </a:rPr>
              <a:t>, Google Cloud Tasks, </a:t>
            </a:r>
            <a:r>
              <a:rPr lang="en-US" dirty="0" err="1">
                <a:solidFill>
                  <a:schemeClr val="bg2"/>
                </a:solidFill>
              </a:rPr>
              <a:t>CloudAMQP</a:t>
            </a:r>
            <a:r>
              <a:rPr lang="en-US" dirty="0">
                <a:solidFill>
                  <a:schemeClr val="bg2"/>
                </a:solidFill>
              </a:rPr>
              <a:t>, …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brokers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RabbitMQ, Apache Kafka, NATS JS, </a:t>
            </a:r>
            <a:r>
              <a:rPr lang="en-US" dirty="0" err="1">
                <a:solidFill>
                  <a:schemeClr val="bg2"/>
                </a:solidFill>
              </a:rPr>
              <a:t>Tarantool</a:t>
            </a:r>
            <a:r>
              <a:rPr lang="en-US" dirty="0">
                <a:solidFill>
                  <a:schemeClr val="bg2"/>
                </a:solidFill>
              </a:rPr>
              <a:t> Queue, NSQ, …</a:t>
            </a:r>
          </a:p>
          <a:p>
            <a:r>
              <a:rPr lang="en-US" dirty="0">
                <a:solidFill>
                  <a:schemeClr val="bg2"/>
                </a:solidFill>
              </a:rPr>
              <a:t>Database-backed queues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 err="1">
                <a:solidFill>
                  <a:schemeClr val="bg2"/>
                </a:solidFill>
              </a:rPr>
              <a:t>PgQueue</a:t>
            </a:r>
            <a:r>
              <a:rPr lang="en-US" dirty="0">
                <a:solidFill>
                  <a:schemeClr val="bg2"/>
                </a:solidFill>
              </a:rPr>
              <a:t>, Tarantool, Redis, …</a:t>
            </a:r>
          </a:p>
          <a:p>
            <a:r>
              <a:rPr lang="en-US" dirty="0"/>
              <a:t>“Sockets on steroids” (lightweight or embedded)</a:t>
            </a:r>
          </a:p>
          <a:p>
            <a:pPr lvl="1"/>
            <a:r>
              <a:rPr lang="en-US" dirty="0" err="1"/>
              <a:t>ZeroMQ</a:t>
            </a:r>
            <a:r>
              <a:rPr lang="en-US" dirty="0"/>
              <a:t>, NATS (core), </a:t>
            </a:r>
            <a:r>
              <a:rPr lang="en-US" dirty="0" err="1"/>
              <a:t>nanomsg</a:t>
            </a:r>
            <a:r>
              <a:rPr lang="en-US" dirty="0"/>
              <a:t>, MQTT </a:t>
            </a:r>
            <a:r>
              <a:rPr lang="en-US" dirty="0" err="1"/>
              <a:t>brokets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6316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EBFA-8D63-D14F-B3EC-8C505990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the players?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7C194-1108-9F49-BFA0-338C41954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Apache Kafka</a:t>
            </a:r>
            <a:endParaRPr lang="ru-RU" dirty="0"/>
          </a:p>
          <a:p>
            <a:pPr lvl="1"/>
            <a:r>
              <a:rPr lang="en-US" dirty="0"/>
              <a:t>Distributed message log for streaming</a:t>
            </a:r>
          </a:p>
          <a:p>
            <a:r>
              <a:rPr lang="en-US" dirty="0"/>
              <a:t>RabbitMQ</a:t>
            </a:r>
          </a:p>
          <a:p>
            <a:pPr lvl="1"/>
            <a:r>
              <a:rPr lang="en-US" dirty="0"/>
              <a:t>Traditional broker with AMQP protocol</a:t>
            </a:r>
            <a:endParaRPr lang="ru-RU" dirty="0"/>
          </a:p>
          <a:p>
            <a:r>
              <a:rPr lang="en-US" dirty="0"/>
              <a:t>Managed Cloud Queue (SQS/</a:t>
            </a:r>
            <a:r>
              <a:rPr lang="en-US" dirty="0" err="1"/>
              <a:t>EventBridge</a:t>
            </a:r>
            <a:r>
              <a:rPr lang="en-US" dirty="0"/>
              <a:t>/MQ/…)</a:t>
            </a:r>
          </a:p>
          <a:p>
            <a:pPr lvl="1"/>
            <a:r>
              <a:rPr lang="en-US" dirty="0"/>
              <a:t>The solution to be used in clouds</a:t>
            </a:r>
          </a:p>
          <a:p>
            <a:r>
              <a:rPr lang="en-US" dirty="0"/>
              <a:t>NATS</a:t>
            </a:r>
          </a:p>
          <a:p>
            <a:pPr lvl="1"/>
            <a:r>
              <a:rPr lang="en-US" dirty="0"/>
              <a:t>Microservices communication bridge</a:t>
            </a:r>
          </a:p>
          <a:p>
            <a:r>
              <a:rPr lang="en-US" dirty="0"/>
              <a:t>Redis</a:t>
            </a:r>
          </a:p>
          <a:p>
            <a:pPr lvl="1"/>
            <a:r>
              <a:rPr lang="en-US" dirty="0"/>
              <a:t>The simplest queue-in-a-database</a:t>
            </a:r>
            <a:endParaRPr lang="ru-RU" dirty="0"/>
          </a:p>
          <a:p>
            <a:r>
              <a:rPr lang="en-US" dirty="0"/>
              <a:t>Tarantool</a:t>
            </a:r>
          </a:p>
          <a:p>
            <a:pPr lvl="1"/>
            <a:r>
              <a:rPr lang="en-US" dirty="0"/>
              <a:t>The platform for custom built solutions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8186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FA64-71B6-0E4D-802D-8A370206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Kafka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BA62-8D3A-4343-8547-575919F9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Replicated &amp; sharded message log</a:t>
            </a:r>
            <a:endParaRPr lang="ru-RU" dirty="0"/>
          </a:p>
          <a:p>
            <a:r>
              <a:rPr lang="en-US" dirty="0"/>
              <a:t>Strict delivery order</a:t>
            </a:r>
            <a:r>
              <a:rPr lang="ru-RU" dirty="0"/>
              <a:t> (</a:t>
            </a:r>
            <a:r>
              <a:rPr lang="en-GB" dirty="0"/>
              <a:t>FIFO)</a:t>
            </a:r>
          </a:p>
          <a:p>
            <a:r>
              <a:rPr lang="en-US" dirty="0"/>
              <a:t>A limited number of consumers</a:t>
            </a:r>
            <a:endParaRPr lang="ru-RU" dirty="0"/>
          </a:p>
          <a:p>
            <a:r>
              <a:rPr lang="en-US" dirty="0"/>
              <a:t>Stream replay</a:t>
            </a:r>
            <a:endParaRPr lang="ru-RU" dirty="0"/>
          </a:p>
          <a:p>
            <a:r>
              <a:rPr lang="en-GB" dirty="0"/>
              <a:t>Apache ecosystem integration</a:t>
            </a:r>
          </a:p>
          <a:p>
            <a:r>
              <a:rPr lang="en-US" dirty="0"/>
              <a:t>Mainly used for</a:t>
            </a:r>
          </a:p>
          <a:p>
            <a:pPr lvl="1"/>
            <a:r>
              <a:rPr lang="en-US" dirty="0"/>
              <a:t>Data analysis. Logs, metrics, audit</a:t>
            </a:r>
            <a:endParaRPr lang="ru-RU" dirty="0"/>
          </a:p>
          <a:p>
            <a:pPr lvl="1"/>
            <a:r>
              <a:rPr lang="en-US" dirty="0"/>
              <a:t>High performance stream data processing</a:t>
            </a:r>
          </a:p>
          <a:p>
            <a:pPr lvl="1"/>
            <a:r>
              <a:rPr lang="en-US" dirty="0"/>
              <a:t>Consistent data replication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3B580C6-09C9-0F42-ABBC-3F9018881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83339" y="262525"/>
            <a:ext cx="825570" cy="13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688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FA64-71B6-0E4D-802D-8A370206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 Panda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BA62-8D3A-4343-8547-575919F9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Kafka rewritten in C++/</a:t>
            </a:r>
            <a:r>
              <a:rPr lang="en-US" dirty="0" err="1"/>
              <a:t>dpdk</a:t>
            </a:r>
            <a:endParaRPr lang="en-GB" dirty="0"/>
          </a:p>
          <a:p>
            <a:r>
              <a:rPr lang="en-US" dirty="0"/>
              <a:t>No ZK or JVM</a:t>
            </a:r>
          </a:p>
          <a:p>
            <a:r>
              <a:rPr lang="en-US" dirty="0"/>
              <a:t>Thread-per-core approach</a:t>
            </a:r>
          </a:p>
          <a:p>
            <a:r>
              <a:rPr lang="en-US" dirty="0"/>
              <a:t>Multitiered storage*</a:t>
            </a:r>
          </a:p>
          <a:p>
            <a:r>
              <a:rPr lang="en-US" dirty="0"/>
              <a:t>Mainly used for</a:t>
            </a:r>
          </a:p>
          <a:p>
            <a:pPr lvl="1"/>
            <a:r>
              <a:rPr lang="en-US" dirty="0"/>
              <a:t>Everywhere as Kafka</a:t>
            </a:r>
          </a:p>
        </p:txBody>
      </p:sp>
    </p:spTree>
    <p:extLst>
      <p:ext uri="{BB962C8B-B14F-4D97-AF65-F5344CB8AC3E}">
        <p14:creationId xmlns:p14="http://schemas.microsoft.com/office/powerpoint/2010/main" val="30339369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C936-95D8-E34D-805B-D269D08E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3EE56-593E-CB41-A16E-38C01EEE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Protocols</a:t>
            </a:r>
            <a:r>
              <a:rPr lang="ru-RU" dirty="0"/>
              <a:t>: </a:t>
            </a:r>
            <a:r>
              <a:rPr lang="en-GB" dirty="0"/>
              <a:t>AMQP, MQTT, STOMP</a:t>
            </a:r>
          </a:p>
          <a:p>
            <a:r>
              <a:rPr lang="en-US" dirty="0"/>
              <a:t>Prioritized, delayed and background tasks</a:t>
            </a:r>
          </a:p>
          <a:p>
            <a:r>
              <a:rPr lang="en-US" dirty="0"/>
              <a:t>Unlimited number of consumers</a:t>
            </a:r>
          </a:p>
          <a:p>
            <a:r>
              <a:rPr lang="en-US" dirty="0"/>
              <a:t>Flexible storage: memory, disk, replication, quorum</a:t>
            </a:r>
          </a:p>
          <a:p>
            <a:r>
              <a:rPr lang="en-US" dirty="0"/>
              <a:t>Easy to learn. Hard to master</a:t>
            </a:r>
          </a:p>
          <a:p>
            <a:r>
              <a:rPr lang="en-US" dirty="0"/>
              <a:t>Mainly used for</a:t>
            </a:r>
            <a:endParaRPr lang="ru-RU" dirty="0"/>
          </a:p>
          <a:p>
            <a:pPr lvl="1"/>
            <a:r>
              <a:rPr lang="en-US" dirty="0"/>
              <a:t>Microservices communication</a:t>
            </a:r>
          </a:p>
          <a:p>
            <a:pPr lvl="1"/>
            <a:r>
              <a:rPr lang="en-US" dirty="0"/>
              <a:t>As a message bus</a:t>
            </a:r>
          </a:p>
          <a:p>
            <a:pPr lvl="1"/>
            <a:r>
              <a:rPr lang="en-US" dirty="0"/>
              <a:t>As a traditional pub/sub broker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CB32525-BDA6-7746-A49C-7A3BC4B0F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61893" y="407702"/>
            <a:ext cx="1247016" cy="101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73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1016-1373-4342-BAA8-51A4D121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Cloud Queue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8FBB-FDFF-2241-AE3D-534F4F50C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Reliable and scalable queue</a:t>
            </a:r>
          </a:p>
          <a:p>
            <a:r>
              <a:rPr lang="en-US" dirty="0"/>
              <a:t>Stateless protocol, simple interaction</a:t>
            </a:r>
            <a:endParaRPr lang="ru-RU" dirty="0"/>
          </a:p>
          <a:p>
            <a:r>
              <a:rPr lang="en-US" dirty="0"/>
              <a:t>Standard API</a:t>
            </a:r>
          </a:p>
          <a:p>
            <a:r>
              <a:rPr lang="en-US" dirty="0"/>
              <a:t>Pay-as-you-go: low consumption — low expenses</a:t>
            </a:r>
          </a:p>
          <a:p>
            <a:r>
              <a:rPr lang="en-US" dirty="0"/>
              <a:t>Mainly used for</a:t>
            </a:r>
          </a:p>
          <a:p>
            <a:pPr lvl="1"/>
            <a:r>
              <a:rPr lang="en-US" dirty="0"/>
              <a:t>Communication between cloud components</a:t>
            </a:r>
          </a:p>
          <a:p>
            <a:pPr lvl="1"/>
            <a:r>
              <a:rPr lang="en-US" dirty="0"/>
              <a:t>Serverless architecture</a:t>
            </a:r>
            <a:endParaRPr lang="en-GB" dirty="0"/>
          </a:p>
          <a:p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4269EC-4840-EB4F-BE6C-A0A4D7AD9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9966" y="320163"/>
            <a:ext cx="1138943" cy="118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00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1016-1373-4342-BAA8-51A4D121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 Messaging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8FBB-FDFF-2241-AE3D-534F4F50C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non-persistent message communication</a:t>
            </a:r>
          </a:p>
          <a:p>
            <a:r>
              <a:rPr lang="en-US" dirty="0"/>
              <a:t>High performance and scalability</a:t>
            </a:r>
            <a:endParaRPr lang="ru-RU" dirty="0"/>
          </a:p>
          <a:p>
            <a:r>
              <a:rPr lang="en-US" dirty="0"/>
              <a:t>Multi-paradigm: </a:t>
            </a:r>
            <a:r>
              <a:rPr lang="en-GB" dirty="0"/>
              <a:t>pub/sub, put/take, </a:t>
            </a:r>
            <a:r>
              <a:rPr lang="en-GB" dirty="0" err="1"/>
              <a:t>req</a:t>
            </a:r>
            <a:r>
              <a:rPr lang="en-GB" dirty="0"/>
              <a:t>/res</a:t>
            </a:r>
            <a:endParaRPr lang="ru-RU" dirty="0"/>
          </a:p>
          <a:p>
            <a:r>
              <a:rPr lang="en-US" dirty="0"/>
              <a:t>Persistent Streaming Option</a:t>
            </a:r>
          </a:p>
          <a:p>
            <a:pPr lvl="1"/>
            <a:r>
              <a:rPr lang="en-US" dirty="0"/>
              <a:t>Streaming architecture support</a:t>
            </a:r>
          </a:p>
          <a:p>
            <a:pPr lvl="1"/>
            <a:r>
              <a:rPr lang="en-US" dirty="0"/>
              <a:t>Durable storage, RAFT cluster</a:t>
            </a:r>
            <a:endParaRPr lang="ru-RU" dirty="0"/>
          </a:p>
          <a:p>
            <a:r>
              <a:rPr lang="en-US" dirty="0"/>
              <a:t>Cluster, Supercluster, Federation</a:t>
            </a:r>
          </a:p>
          <a:p>
            <a:r>
              <a:rPr lang="en-US" dirty="0"/>
              <a:t>Mainly used as</a:t>
            </a:r>
          </a:p>
          <a:p>
            <a:pPr lvl="1"/>
            <a:r>
              <a:rPr lang="en-US" dirty="0"/>
              <a:t>Messaging media for distributed systems</a:t>
            </a: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4269EC-4840-EB4F-BE6C-A0A4D7AD9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5637" y="320095"/>
            <a:ext cx="1143272" cy="118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04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20EF-F538-C1A9-D284-15CB3792D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Redis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C1CE-B021-6D71-558C-2A545BB37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U" dirty="0"/>
              <a:t>Easy to bootstrap</a:t>
            </a:r>
          </a:p>
          <a:p>
            <a:r>
              <a:rPr lang="en-RU" dirty="0"/>
              <a:t>Simple queue-like approach based on lists</a:t>
            </a:r>
          </a:p>
          <a:p>
            <a:r>
              <a:rPr lang="en-RU" dirty="0"/>
              <a:t>Simple pub/sub implementation (not durable)</a:t>
            </a:r>
          </a:p>
          <a:p>
            <a:endParaRPr lang="en-RU" dirty="0"/>
          </a:p>
          <a:p>
            <a:r>
              <a:rPr lang="en-US" dirty="0"/>
              <a:t>Mainly used when</a:t>
            </a:r>
          </a:p>
          <a:p>
            <a:pPr lvl="1"/>
            <a:r>
              <a:rPr lang="en-US" dirty="0"/>
              <a:t>Redis already present</a:t>
            </a:r>
          </a:p>
          <a:p>
            <a:pPr lvl="1"/>
            <a:r>
              <a:rPr lang="en-US" dirty="0"/>
              <a:t>Very simple message delivery</a:t>
            </a:r>
          </a:p>
          <a:p>
            <a:pPr lvl="1"/>
            <a:r>
              <a:rPr lang="en-US" dirty="0"/>
              <a:t>Non-reliable pub/sub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3197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1016-1373-4342-BAA8-51A4D121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Tarantool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8FBB-FDFF-2241-AE3D-534F4F50C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High-performance broker</a:t>
            </a:r>
          </a:p>
          <a:p>
            <a:r>
              <a:rPr lang="en-US" dirty="0"/>
              <a:t>Integration with streaming systems</a:t>
            </a:r>
          </a:p>
          <a:p>
            <a:r>
              <a:rPr lang="en-US" dirty="0"/>
              <a:t>The platform for building custom queues</a:t>
            </a:r>
            <a:endParaRPr lang="ru-RU" dirty="0"/>
          </a:p>
          <a:p>
            <a:r>
              <a:rPr lang="en-US" dirty="0"/>
              <a:t>Arbitrary logic and event processing</a:t>
            </a:r>
          </a:p>
          <a:p>
            <a:r>
              <a:rPr lang="en-US" dirty="0"/>
              <a:t>Transaction support within exchange</a:t>
            </a:r>
          </a:p>
          <a:p>
            <a:r>
              <a:rPr lang="en-US" dirty="0"/>
              <a:t>Mainly used for</a:t>
            </a:r>
          </a:p>
          <a:p>
            <a:pPr lvl="1"/>
            <a:r>
              <a:rPr lang="en-US" dirty="0"/>
              <a:t>High performance and high throughput message delivery</a:t>
            </a:r>
          </a:p>
          <a:p>
            <a:pPr lvl="1"/>
            <a:r>
              <a:rPr lang="en-US" dirty="0"/>
              <a:t>Building complex event processing with custom logic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4269EC-4840-EB4F-BE6C-A0A4D7AD9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50045" y="385349"/>
            <a:ext cx="1058864" cy="105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37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C813-6450-5CE7-576D-C2AC49599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Problems and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13A05-2F2E-BFB4-39A2-956005BA3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RU"/>
              <a:t>Or what is worth to know?</a:t>
            </a:r>
          </a:p>
        </p:txBody>
      </p:sp>
    </p:spTree>
    <p:extLst>
      <p:ext uri="{BB962C8B-B14F-4D97-AF65-F5344CB8AC3E}">
        <p14:creationId xmlns:p14="http://schemas.microsoft.com/office/powerpoint/2010/main" val="42241297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2356-930A-5029-E0E8-759E3344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Possible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C7FC-33E5-C1AB-A1BD-DD2C3B696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U" dirty="0"/>
              <a:t>Or what is worth to know?</a:t>
            </a:r>
          </a:p>
          <a:p>
            <a:endParaRPr lang="en-RU" dirty="0"/>
          </a:p>
          <a:p>
            <a:r>
              <a:rPr lang="en-RU" dirty="0"/>
              <a:t>Algorithms of queues</a:t>
            </a:r>
          </a:p>
          <a:p>
            <a:r>
              <a:rPr lang="en-RU" dirty="0"/>
              <a:t>Network problems</a:t>
            </a:r>
          </a:p>
          <a:p>
            <a:r>
              <a:rPr lang="en-RU" dirty="0"/>
              <a:t>“Exactly once”</a:t>
            </a:r>
          </a:p>
          <a:p>
            <a:r>
              <a:rPr lang="en-RU" dirty="0"/>
              <a:t>Network (again) and disk problems</a:t>
            </a:r>
          </a:p>
          <a:p>
            <a:r>
              <a:rPr lang="en-RU" dirty="0"/>
              <a:t>Outages &amp; failures</a:t>
            </a:r>
          </a:p>
        </p:txBody>
      </p:sp>
    </p:spTree>
    <p:extLst>
      <p:ext uri="{BB962C8B-B14F-4D97-AF65-F5344CB8AC3E}">
        <p14:creationId xmlns:p14="http://schemas.microsoft.com/office/powerpoint/2010/main" val="38005105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FIFO</a:t>
            </a:r>
            <a:r>
              <a:rPr lang="en-US" dirty="0">
                <a:solidFill>
                  <a:schemeClr val="bg2"/>
                </a:solidFill>
              </a:rPr>
              <a:t>, LIFO, Best Effort, QoS</a:t>
            </a:r>
            <a:endParaRPr lang="ru-RU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D288AD-AFCF-6649-9529-B3152A39C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50" y="3511651"/>
            <a:ext cx="2587775" cy="8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14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</a:t>
            </a:r>
            <a:r>
              <a:rPr lang="en-US" dirty="0"/>
              <a:t>LIFO</a:t>
            </a:r>
            <a:r>
              <a:rPr lang="en-US" dirty="0">
                <a:solidFill>
                  <a:schemeClr val="bg2"/>
                </a:solidFill>
              </a:rPr>
              <a:t>, Best Effort, QoS</a:t>
            </a:r>
            <a:endParaRPr lang="ru-RU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D288AD-AFCF-6649-9529-B3152A39C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50" y="3511651"/>
            <a:ext cx="2587775" cy="8523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F82B660-BA3C-074F-ACC2-4E00E2862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9302" y="2667150"/>
            <a:ext cx="2587775" cy="210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888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</a:t>
            </a:r>
            <a:r>
              <a:rPr lang="en-US" dirty="0"/>
              <a:t>Best Effort</a:t>
            </a:r>
            <a:r>
              <a:rPr lang="en-US" dirty="0">
                <a:solidFill>
                  <a:schemeClr val="bg2"/>
                </a:solidFill>
              </a:rPr>
              <a:t>, QoS</a:t>
            </a:r>
            <a:endParaRPr lang="ru-RU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D288AD-AFCF-6649-9529-B3152A39C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50" y="3511651"/>
            <a:ext cx="2587775" cy="8523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F82B660-BA3C-074F-ACC2-4E00E2862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9302" y="2667150"/>
            <a:ext cx="2587775" cy="21047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48CCA50-1615-CA43-A56B-49815294E1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34527" y="3937813"/>
            <a:ext cx="5219273" cy="22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83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</a:t>
            </a:r>
            <a:r>
              <a:rPr lang="en-US" dirty="0"/>
              <a:t>Best Effort</a:t>
            </a:r>
            <a:r>
              <a:rPr lang="en-US" dirty="0">
                <a:solidFill>
                  <a:schemeClr val="bg2"/>
                </a:solidFill>
              </a:rPr>
              <a:t>, QoS</a:t>
            </a:r>
            <a:endParaRPr lang="ru-RU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D288AD-AFCF-6649-9529-B3152A39C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50" y="3511651"/>
            <a:ext cx="2587775" cy="8523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F82B660-BA3C-074F-ACC2-4E00E2862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9302" y="2667150"/>
            <a:ext cx="2587775" cy="21047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48CCA50-1615-CA43-A56B-49815294E1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34527" y="3937813"/>
            <a:ext cx="5219273" cy="22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455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Effort,</a:t>
            </a:r>
            <a:r>
              <a:rPr lang="en-US" dirty="0"/>
              <a:t> QoS</a:t>
            </a:r>
            <a:endParaRPr lang="ru-RU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D288AD-AFCF-6649-9529-B3152A39C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750" y="3511651"/>
            <a:ext cx="2587775" cy="8523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F82B660-BA3C-074F-ACC2-4E00E2862A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9302" y="2667150"/>
            <a:ext cx="2587775" cy="21047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48CCA50-1615-CA43-A56B-49815294E1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34527" y="3937813"/>
            <a:ext cx="5219273" cy="223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07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Message prioritization: Heap vs List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3E9D9F-89B0-FB44-9D74-D68696710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0949" y="3588331"/>
            <a:ext cx="3810002" cy="141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775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prioritization</a:t>
            </a:r>
          </a:p>
          <a:p>
            <a:r>
              <a:rPr lang="en-US" dirty="0"/>
              <a:t>Nested queues, hierarchy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93206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prioritization</a:t>
            </a:r>
          </a:p>
          <a:p>
            <a:r>
              <a:rPr lang="en-US" dirty="0">
                <a:solidFill>
                  <a:schemeClr val="bg2"/>
                </a:solidFill>
              </a:rPr>
              <a:t>Nested queues, hierarchy</a:t>
            </a:r>
          </a:p>
          <a:p>
            <a:r>
              <a:rPr lang="en-US" dirty="0"/>
              <a:t>Retry, delay, retry with delay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866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prioritization</a:t>
            </a:r>
          </a:p>
          <a:p>
            <a:r>
              <a:rPr lang="en-US" dirty="0">
                <a:solidFill>
                  <a:schemeClr val="bg2"/>
                </a:solidFill>
              </a:rPr>
              <a:t>Nested queues, hierarchy</a:t>
            </a:r>
          </a:p>
          <a:p>
            <a:r>
              <a:rPr lang="en-US" dirty="0">
                <a:solidFill>
                  <a:schemeClr val="bg2"/>
                </a:solidFill>
              </a:rPr>
              <a:t>Retry, delay, retry with delay</a:t>
            </a:r>
          </a:p>
          <a:p>
            <a:r>
              <a:rPr lang="en-US" dirty="0"/>
              <a:t>Dead letter queue (and reordering)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8369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prioritization</a:t>
            </a:r>
          </a:p>
          <a:p>
            <a:r>
              <a:rPr lang="en-US" dirty="0">
                <a:solidFill>
                  <a:schemeClr val="bg2"/>
                </a:solidFill>
              </a:rPr>
              <a:t>Nested queues, hierarchy</a:t>
            </a:r>
          </a:p>
          <a:p>
            <a:r>
              <a:rPr lang="en-US" dirty="0">
                <a:solidFill>
                  <a:schemeClr val="bg2"/>
                </a:solidFill>
              </a:rPr>
              <a:t>Retry, delay, retry with delay</a:t>
            </a:r>
          </a:p>
          <a:p>
            <a:r>
              <a:rPr lang="en-US" dirty="0">
                <a:solidFill>
                  <a:schemeClr val="bg2"/>
                </a:solidFill>
              </a:rPr>
              <a:t>Dead letter queue (and reordering)</a:t>
            </a:r>
          </a:p>
          <a:p>
            <a:r>
              <a:rPr lang="en-US" dirty="0"/>
              <a:t>Task dependency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5890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FIFO, LIFO, Best Effort</a:t>
            </a:r>
            <a:r>
              <a:rPr lang="ru-RU" dirty="0">
                <a:solidFill>
                  <a:schemeClr val="bg2"/>
                </a:solidFill>
              </a:rPr>
              <a:t>, </a:t>
            </a:r>
            <a:r>
              <a:rPr lang="en-US" dirty="0">
                <a:solidFill>
                  <a:schemeClr val="bg2"/>
                </a:solidFill>
              </a:rPr>
              <a:t>QoS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Message prioritization</a:t>
            </a:r>
          </a:p>
          <a:p>
            <a:r>
              <a:rPr lang="en-US" dirty="0">
                <a:solidFill>
                  <a:schemeClr val="bg2"/>
                </a:solidFill>
              </a:rPr>
              <a:t>Nested queues, hierarchy</a:t>
            </a:r>
          </a:p>
          <a:p>
            <a:r>
              <a:rPr lang="en-US" dirty="0">
                <a:solidFill>
                  <a:schemeClr val="bg2"/>
                </a:solidFill>
              </a:rPr>
              <a:t>Retry, delay, retry with delay</a:t>
            </a:r>
          </a:p>
          <a:p>
            <a:r>
              <a:rPr lang="en-US" dirty="0">
                <a:solidFill>
                  <a:schemeClr val="bg2"/>
                </a:solidFill>
              </a:rPr>
              <a:t>Dead letter queue (and reordering)</a:t>
            </a:r>
          </a:p>
          <a:p>
            <a:r>
              <a:rPr lang="en-US" dirty="0">
                <a:solidFill>
                  <a:schemeClr val="bg2"/>
                </a:solidFill>
              </a:rPr>
              <a:t>Task dependency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TTL (time-to-live), TTR (time-to-release), Putback, Visibility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227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Prioritization and Starvation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49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Prioritization and Starvation</a:t>
            </a:r>
          </a:p>
          <a:p>
            <a:r>
              <a:rPr lang="en-US" dirty="0"/>
              <a:t>Throughput</a:t>
            </a:r>
          </a:p>
          <a:p>
            <a:r>
              <a:rPr lang="en-US" dirty="0"/>
              <a:t>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1106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Prioritization and Starvation</a:t>
            </a:r>
          </a:p>
          <a:p>
            <a:r>
              <a:rPr lang="en-US" dirty="0"/>
              <a:t>Throughput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Scalability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18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Prioritization and Starvation</a:t>
            </a:r>
          </a:p>
          <a:p>
            <a:r>
              <a:rPr lang="en-US" dirty="0">
                <a:solidFill>
                  <a:schemeClr val="bg2"/>
                </a:solidFill>
              </a:rPr>
              <a:t>Throughput</a:t>
            </a:r>
          </a:p>
          <a:p>
            <a:r>
              <a:rPr lang="en-US" dirty="0">
                <a:solidFill>
                  <a:schemeClr val="bg2"/>
                </a:solidFill>
              </a:rPr>
              <a:t>Performance</a:t>
            </a:r>
          </a:p>
          <a:p>
            <a:r>
              <a:rPr lang="en-US" dirty="0">
                <a:solidFill>
                  <a:schemeClr val="bg2"/>
                </a:solidFill>
              </a:rPr>
              <a:t>Scalability</a:t>
            </a:r>
          </a:p>
          <a:p>
            <a:r>
              <a:rPr lang="en-US" dirty="0"/>
              <a:t>Limits and Capacity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4321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Prioritization and Starvation</a:t>
            </a:r>
          </a:p>
          <a:p>
            <a:r>
              <a:rPr lang="en-US" dirty="0">
                <a:solidFill>
                  <a:schemeClr val="bg2"/>
                </a:solidFill>
              </a:rPr>
              <a:t>Throughput</a:t>
            </a:r>
          </a:p>
          <a:p>
            <a:r>
              <a:rPr lang="en-US" dirty="0">
                <a:solidFill>
                  <a:schemeClr val="bg2"/>
                </a:solidFill>
              </a:rPr>
              <a:t>Performance</a:t>
            </a:r>
          </a:p>
          <a:p>
            <a:r>
              <a:rPr lang="en-US" dirty="0">
                <a:solidFill>
                  <a:schemeClr val="bg2"/>
                </a:solidFill>
              </a:rPr>
              <a:t>Scalability</a:t>
            </a:r>
          </a:p>
          <a:p>
            <a:r>
              <a:rPr lang="en-US" dirty="0">
                <a:solidFill>
                  <a:schemeClr val="bg2"/>
                </a:solidFill>
              </a:rPr>
              <a:t>Limits and Capacity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235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ACEB-920C-334D-9B14-CE86DA2A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 you like yet more?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5041-3C7A-E640-854D-CA5E03F3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Prioritization and Starvation</a:t>
            </a:r>
          </a:p>
          <a:p>
            <a:r>
              <a:rPr lang="en-US" dirty="0">
                <a:solidFill>
                  <a:schemeClr val="bg2"/>
                </a:solidFill>
              </a:rPr>
              <a:t>Throughput</a:t>
            </a:r>
          </a:p>
          <a:p>
            <a:r>
              <a:rPr lang="en-US" dirty="0">
                <a:solidFill>
                  <a:schemeClr val="bg2"/>
                </a:solidFill>
              </a:rPr>
              <a:t>Performance</a:t>
            </a:r>
          </a:p>
          <a:p>
            <a:r>
              <a:rPr lang="en-US" dirty="0">
                <a:solidFill>
                  <a:schemeClr val="bg2"/>
                </a:solidFill>
              </a:rPr>
              <a:t>Scalability</a:t>
            </a:r>
          </a:p>
          <a:p>
            <a:r>
              <a:rPr lang="en-US" dirty="0">
                <a:solidFill>
                  <a:schemeClr val="bg2"/>
                </a:solidFill>
              </a:rPr>
              <a:t>Limits and Capacity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Reliability </a:t>
            </a:r>
            <a:r>
              <a:rPr lang="en-RU" dirty="0"/>
              <a:t>→ </a:t>
            </a:r>
            <a:r>
              <a:rPr lang="en-US" dirty="0"/>
              <a:t>Availability + Durability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546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 Network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D512-6787-9C49-997E-D7FC2D5D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Undefined behavior</a:t>
            </a:r>
          </a:p>
        </p:txBody>
      </p:sp>
    </p:spTree>
    <p:extLst>
      <p:ext uri="{BB962C8B-B14F-4D97-AF65-F5344CB8AC3E}">
        <p14:creationId xmlns:p14="http://schemas.microsoft.com/office/powerpoint/2010/main" val="34927357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50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9DA2-36A2-8B27-A6E4-C286CBE9E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Also known as:</a:t>
            </a:r>
          </a:p>
          <a:p>
            <a:pPr lvl="1"/>
            <a:r>
              <a:rPr lang="en-GB" dirty="0"/>
              <a:t>Two Generals' Paradox</a:t>
            </a:r>
          </a:p>
          <a:p>
            <a:pPr lvl="1"/>
            <a:r>
              <a:rPr lang="en-GB" dirty="0"/>
              <a:t>Two Armies Problem</a:t>
            </a:r>
          </a:p>
          <a:p>
            <a:pPr lvl="1"/>
            <a:r>
              <a:rPr lang="en-GB" dirty="0"/>
              <a:t>Coordinated Attack Problem</a:t>
            </a:r>
            <a:endParaRPr lang="en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365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BA7C-CE18-50A8-85C7-5DA2E0CB0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br>
              <a:rPr lang="en-RU" dirty="0"/>
            </a:br>
            <a:br>
              <a:rPr lang="en-RU" dirty="0"/>
            </a:br>
            <a:br>
              <a:rPr lang="en-RU" dirty="0"/>
            </a:br>
            <a:br>
              <a:rPr lang="en-RU" dirty="0"/>
            </a:br>
            <a:r>
              <a:rPr lang="en-RU" dirty="0"/>
              <a:t>How to reach an agreement</a:t>
            </a:r>
            <a:br>
              <a:rPr lang="en-RU" dirty="0"/>
            </a:br>
            <a:r>
              <a:rPr lang="en-RU" dirty="0"/>
              <a:t>on both “do” or “don’t”</a:t>
            </a:r>
            <a:br>
              <a:rPr lang="en-RU" dirty="0"/>
            </a:br>
            <a:r>
              <a:rPr lang="en-RU" dirty="0"/>
              <a:t>with unreliable media in between them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432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8EDFF15-EAE8-D84F-AB3D-CDC95ED3E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887" y="3914921"/>
            <a:ext cx="5610226" cy="210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905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A0E8-2869-D6F3-A2F5-55800BA1D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Problem was the first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computer communication problem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to be proved to be unsolvable*</a:t>
            </a:r>
            <a:endParaRPr lang="en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C411D-A65F-306B-9737-FAB85C18426C}"/>
              </a:ext>
            </a:extLst>
          </p:cNvPr>
          <p:cNvSpPr txBox="1"/>
          <p:nvPr/>
        </p:nvSpPr>
        <p:spPr>
          <a:xfrm>
            <a:off x="3485193" y="6411310"/>
            <a:ext cx="870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* Leslie </a:t>
            </a:r>
            <a:r>
              <a:rPr lang="en-GB" dirty="0" err="1"/>
              <a:t>Lamport</a:t>
            </a:r>
            <a:r>
              <a:rPr lang="en-GB" dirty="0"/>
              <a:t>. "Solved Problems, Unsolved Problems and Non-Problems in Concurrency"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6638608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Generals’ Problem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89BD8-30E1-264E-BA9E-366C7F0D0328}"/>
              </a:ext>
            </a:extLst>
          </p:cNvPr>
          <p:cNvSpPr txBox="1"/>
          <p:nvPr/>
        </p:nvSpPr>
        <p:spPr>
          <a:xfrm>
            <a:off x="3615159" y="3268827"/>
            <a:ext cx="4961682" cy="26431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i="1" dirty="0">
                <a:latin typeface="TT Travels Bold" panose="02000503030000020004" pitchFamily="2" charset="77"/>
              </a:rPr>
              <a:t>There are two complex problems in distributed systems:</a:t>
            </a:r>
            <a:endParaRPr lang="ru-RU" sz="2800" i="1" dirty="0">
              <a:latin typeface="TT Travels Bold" panose="02000503030000020004" pitchFamily="2" charset="77"/>
            </a:endParaRPr>
          </a:p>
          <a:p>
            <a:pPr>
              <a:lnSpc>
                <a:spcPct val="120000"/>
              </a:lnSpc>
            </a:pPr>
            <a:r>
              <a:rPr lang="ru-RU" sz="2800" dirty="0">
                <a:latin typeface="TT Travels Regular" panose="02000503030000020004" pitchFamily="2" charset="77"/>
              </a:rPr>
              <a:t>2. </a:t>
            </a:r>
            <a:r>
              <a:rPr lang="en-US" sz="2800" dirty="0">
                <a:latin typeface="TT Travels Regular" panose="02000503030000020004" pitchFamily="2" charset="77"/>
              </a:rPr>
              <a:t>Exactly once delivery</a:t>
            </a:r>
            <a:endParaRPr lang="ru-RU" sz="2800" dirty="0">
              <a:latin typeface="TT Travels Regular" panose="02000503030000020004" pitchFamily="2" charset="77"/>
            </a:endParaRPr>
          </a:p>
          <a:p>
            <a:pPr>
              <a:lnSpc>
                <a:spcPct val="120000"/>
              </a:lnSpc>
            </a:pPr>
            <a:r>
              <a:rPr lang="ru-RU" sz="2800" dirty="0">
                <a:latin typeface="TT Travels Regular" panose="02000503030000020004" pitchFamily="2" charset="77"/>
              </a:rPr>
              <a:t>1.</a:t>
            </a:r>
            <a:r>
              <a:rPr lang="en-US" sz="2800" dirty="0">
                <a:latin typeface="TT Travels Regular" panose="02000503030000020004" pitchFamily="2" charset="77"/>
              </a:rPr>
              <a:t> Strict message order</a:t>
            </a:r>
            <a:endParaRPr lang="ru-RU" sz="2800" dirty="0">
              <a:latin typeface="TT Travels Regular" panose="02000503030000020004" pitchFamily="2" charset="77"/>
            </a:endParaRPr>
          </a:p>
          <a:p>
            <a:pPr>
              <a:lnSpc>
                <a:spcPct val="120000"/>
              </a:lnSpc>
            </a:pPr>
            <a:r>
              <a:rPr lang="ru-RU" sz="2800" dirty="0">
                <a:latin typeface="TT Travels Regular" panose="02000503030000020004" pitchFamily="2" charset="77"/>
              </a:rPr>
              <a:t>2. </a:t>
            </a:r>
            <a:r>
              <a:rPr lang="en-US" sz="2800" dirty="0">
                <a:latin typeface="TT Travels Regular" panose="02000503030000020004" pitchFamily="2" charset="77"/>
              </a:rPr>
              <a:t>Exactly once delivery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5575" y="3757229"/>
            <a:ext cx="1038225" cy="241973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38200" y="3757229"/>
            <a:ext cx="1038225" cy="241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83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CA1E-4156-2146-9B1D-4DD5672F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r>
              <a:rPr lang="ru-RU" dirty="0"/>
              <a:t> </a:t>
            </a:r>
            <a:r>
              <a:rPr lang="en-US" dirty="0"/>
              <a:t>for “exactly once”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06868-EF39-604B-8F3C-B20BA27D4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613" y="2176777"/>
            <a:ext cx="11026775" cy="3649033"/>
          </a:xfrm>
        </p:spPr>
      </p:pic>
    </p:spTree>
    <p:extLst>
      <p:ext uri="{BB962C8B-B14F-4D97-AF65-F5344CB8AC3E}">
        <p14:creationId xmlns:p14="http://schemas.microsoft.com/office/powerpoint/2010/main" val="348261609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CA1E-4156-2146-9B1D-4DD5672F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r>
              <a:rPr lang="ru-RU" dirty="0"/>
              <a:t> </a:t>
            </a:r>
            <a:r>
              <a:rPr lang="en-US" dirty="0"/>
              <a:t>for “exactly once”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06868-EF39-604B-8F3C-B20BA27D4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2613" y="2176777"/>
            <a:ext cx="11026775" cy="3649033"/>
          </a:xfrm>
        </p:spPr>
      </p:pic>
    </p:spTree>
    <p:extLst>
      <p:ext uri="{BB962C8B-B14F-4D97-AF65-F5344CB8AC3E}">
        <p14:creationId xmlns:p14="http://schemas.microsoft.com/office/powerpoint/2010/main" val="11203489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r>
              <a:rPr lang="ru-RU" dirty="0"/>
              <a:t> </a:t>
            </a:r>
            <a:r>
              <a:rPr lang="en-US" dirty="0"/>
              <a:t>for “exactly once”</a:t>
            </a:r>
            <a:endParaRPr lang="ru-R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81F395-02A1-CD4F-9474-CB032E1B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0636" y="4765263"/>
            <a:ext cx="590552" cy="137636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8E51B25-E4D7-A044-B9C9-364A8BE1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747962" y="4765263"/>
            <a:ext cx="590550" cy="137636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8EDFF15-EAE8-D84F-AB3D-CDC95ED3E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9003" y="4854961"/>
            <a:ext cx="3191144" cy="119697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FF4F347-611E-424A-979A-C52FA1A1AE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9636" y="1690688"/>
            <a:ext cx="2752728" cy="25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9115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F2DE-1FC8-96CF-41F0-4E90B85A8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1A2AE-5250-57ED-BC9D-265A79542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 </a:t>
            </a:r>
            <a:r>
              <a:rPr lang="en-US" dirty="0"/>
              <a:t>Solution</a:t>
            </a:r>
            <a:r>
              <a:rPr lang="ru-RU" dirty="0"/>
              <a:t> </a:t>
            </a:r>
            <a:r>
              <a:rPr lang="en-US" dirty="0"/>
              <a:t>for “exactly once”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3D2EB-7306-8683-9DEB-4368CCB07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Money</a:t>
            </a:r>
          </a:p>
        </p:txBody>
      </p:sp>
    </p:spTree>
    <p:extLst>
      <p:ext uri="{BB962C8B-B14F-4D97-AF65-F5344CB8AC3E}">
        <p14:creationId xmlns:p14="http://schemas.microsoft.com/office/powerpoint/2010/main" val="20324034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9A26-91ED-9AAA-025D-3A55B78E2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2420-E9AC-8E2E-B896-965B0B37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 </a:t>
            </a:r>
            <a:r>
              <a:rPr lang="en-US" dirty="0"/>
              <a:t>Solution</a:t>
            </a:r>
            <a:r>
              <a:rPr lang="ru-RU" dirty="0"/>
              <a:t> </a:t>
            </a:r>
            <a:r>
              <a:rPr lang="en-US" dirty="0"/>
              <a:t>for “exactly once”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757C8-F57D-5966-1331-A79B8240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Money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Pay customers for violating exactly once</a:t>
            </a:r>
          </a:p>
        </p:txBody>
      </p:sp>
    </p:spTree>
    <p:extLst>
      <p:ext uri="{BB962C8B-B14F-4D97-AF65-F5344CB8AC3E}">
        <p14:creationId xmlns:p14="http://schemas.microsoft.com/office/powerpoint/2010/main" val="37965159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4A9B-751C-5B47-8321-8CDFCB005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Problems: network &amp; disk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D512-6787-9C49-997E-D7FC2D5DE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Throughput</a:t>
            </a:r>
            <a:endParaRPr lang="ru-RU" dirty="0"/>
          </a:p>
          <a:p>
            <a:r>
              <a:rPr lang="en-US" dirty="0"/>
              <a:t>Latency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57527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Outages &amp; failures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failures</a:t>
            </a:r>
            <a:endParaRPr lang="ru-RU" dirty="0"/>
          </a:p>
          <a:p>
            <a:pPr lvl="1"/>
            <a:r>
              <a:rPr lang="en-US" dirty="0"/>
              <a:t>Disk</a:t>
            </a:r>
            <a:endParaRPr lang="ru-RU" dirty="0"/>
          </a:p>
          <a:p>
            <a:pPr lvl="1"/>
            <a:r>
              <a:rPr lang="en-US" dirty="0"/>
              <a:t>Host</a:t>
            </a:r>
            <a:endParaRPr lang="ru-RU" dirty="0"/>
          </a:p>
          <a:p>
            <a:pPr lvl="1"/>
            <a:r>
              <a:rPr lang="en-US" dirty="0"/>
              <a:t>Datacenter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16503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Outages &amp; failures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 failures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Disk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Host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Datacenter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Temporary failures</a:t>
            </a:r>
            <a:r>
              <a:rPr lang="ru-RU" dirty="0"/>
              <a:t> </a:t>
            </a:r>
          </a:p>
          <a:p>
            <a:pPr lvl="1"/>
            <a:r>
              <a:rPr lang="en-US" dirty="0"/>
              <a:t>Power</a:t>
            </a:r>
            <a:endParaRPr lang="ru-RU" dirty="0"/>
          </a:p>
          <a:p>
            <a:pPr lvl="1"/>
            <a:r>
              <a:rPr lang="en-US" dirty="0"/>
              <a:t>Network</a:t>
            </a:r>
            <a:endParaRPr lang="ru-RU" dirty="0"/>
          </a:p>
          <a:p>
            <a:pPr lvl="1"/>
            <a:r>
              <a:rPr lang="en-US" dirty="0"/>
              <a:t>Split brain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34963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Outages &amp; failures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 failures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Disk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Host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Datacenter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Temporary failures</a:t>
            </a:r>
            <a:r>
              <a:rPr lang="ru-RU" dirty="0">
                <a:solidFill>
                  <a:schemeClr val="bg2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Power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Network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Split brain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Permanent failure</a:t>
            </a:r>
            <a:endParaRPr lang="ru-RU" dirty="0"/>
          </a:p>
          <a:p>
            <a:pPr lvl="1"/>
            <a:r>
              <a:rPr lang="en-US" dirty="0"/>
              <a:t>Physical destruction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5521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Outages &amp; failures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 failures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Disk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Host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Datacenter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Temporary failures</a:t>
            </a:r>
            <a:r>
              <a:rPr lang="ru-RU" dirty="0">
                <a:solidFill>
                  <a:schemeClr val="bg2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Power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Network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Split brain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Permanent failure</a:t>
            </a:r>
            <a:endParaRPr lang="ru-RU" dirty="0"/>
          </a:p>
          <a:p>
            <a:pPr lvl="1"/>
            <a:r>
              <a:rPr lang="en-US" dirty="0"/>
              <a:t>Physical destruction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E6EE3-177C-CBF3-5C40-B5F4FC83EA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339" y="1690688"/>
            <a:ext cx="6883662" cy="51673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163395-256D-4DE3-6816-611E6955B951}"/>
              </a:ext>
            </a:extLst>
          </p:cNvPr>
          <p:cNvSpPr/>
          <p:nvPr/>
        </p:nvSpPr>
        <p:spPr>
          <a:xfrm>
            <a:off x="5308339" y="1696756"/>
            <a:ext cx="3856365" cy="516124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0B16C-4AEF-9927-F029-387955DF1359}"/>
              </a:ext>
            </a:extLst>
          </p:cNvPr>
          <p:cNvSpPr txBox="1"/>
          <p:nvPr/>
        </p:nvSpPr>
        <p:spPr>
          <a:xfrm rot="16200000">
            <a:off x="11406208" y="5937271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RU" sz="1600" dirty="0">
                <a:latin typeface="TT Travels Regular" panose="02000503030000020004" pitchFamily="2" charset="77"/>
              </a:rPr>
              <a:t>© TVN BiS</a:t>
            </a:r>
          </a:p>
        </p:txBody>
      </p:sp>
    </p:spTree>
    <p:extLst>
      <p:ext uri="{BB962C8B-B14F-4D97-AF65-F5344CB8AC3E}">
        <p14:creationId xmlns:p14="http://schemas.microsoft.com/office/powerpoint/2010/main" val="5772209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A818B-66B7-5301-9087-F972715E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90E8-BDEE-E13A-B8E9-1A6BF92A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Outages &amp; failures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506D-5FB3-99A0-D950-ED6349B2A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Hardware failures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Disk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Host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Datacenter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Temporary failures</a:t>
            </a:r>
            <a:r>
              <a:rPr lang="ru-RU" dirty="0">
                <a:solidFill>
                  <a:schemeClr val="bg2"/>
                </a:solidFill>
              </a:rPr>
              <a:t>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Power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Network</a:t>
            </a:r>
            <a:endParaRPr lang="ru-RU" dirty="0">
              <a:solidFill>
                <a:schemeClr val="bg2"/>
              </a:solidFill>
            </a:endParaRPr>
          </a:p>
          <a:p>
            <a:pPr lvl="1"/>
            <a:r>
              <a:rPr lang="en-US" dirty="0">
                <a:solidFill>
                  <a:schemeClr val="bg2"/>
                </a:solidFill>
              </a:rPr>
              <a:t>Split brain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en-US" dirty="0"/>
              <a:t>Permanent failure</a:t>
            </a:r>
            <a:endParaRPr lang="ru-RU" dirty="0"/>
          </a:p>
          <a:p>
            <a:pPr lvl="1"/>
            <a:r>
              <a:rPr lang="en-US" dirty="0"/>
              <a:t>Physical destruction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7C8A7-A58A-9791-444F-B83681F64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1037"/>
            <a:ext cx="5257800" cy="52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951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explained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  <a:p>
            <a:pPr lvl="1"/>
            <a:endParaRPr lang="en-US" dirty="0"/>
          </a:p>
          <a:p>
            <a:pPr lvl="1"/>
            <a:endParaRPr lang="ru-RU" dirty="0"/>
          </a:p>
          <a:p>
            <a:r>
              <a:rPr lang="en-US" dirty="0"/>
              <a:t>Durability</a:t>
            </a:r>
          </a:p>
          <a:p>
            <a:pPr lvl="1"/>
            <a:endParaRPr lang="en-US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5068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explained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messages</a:t>
            </a:r>
          </a:p>
          <a:p>
            <a:pPr lvl="1"/>
            <a:r>
              <a:rPr lang="en-US" dirty="0"/>
              <a:t>Ability to store messages</a:t>
            </a:r>
            <a:endParaRPr lang="ru-RU" dirty="0"/>
          </a:p>
          <a:p>
            <a:r>
              <a:rPr lang="en-US" dirty="0"/>
              <a:t>Durability</a:t>
            </a:r>
          </a:p>
        </p:txBody>
      </p:sp>
    </p:spTree>
    <p:extLst>
      <p:ext uri="{BB962C8B-B14F-4D97-AF65-F5344CB8AC3E}">
        <p14:creationId xmlns:p14="http://schemas.microsoft.com/office/powerpoint/2010/main" val="33826880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explained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messages</a:t>
            </a:r>
          </a:p>
          <a:p>
            <a:pPr lvl="1"/>
            <a:r>
              <a:rPr lang="en-US" dirty="0"/>
              <a:t>Ability to store messages</a:t>
            </a:r>
            <a:endParaRPr lang="ru-RU" dirty="0"/>
          </a:p>
          <a:p>
            <a:r>
              <a:rPr lang="en-US" dirty="0"/>
              <a:t>Durability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5C012-8706-32A2-08AB-2B350B5469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RU" dirty="0"/>
              <a:t>The queue is </a:t>
            </a:r>
            <a:r>
              <a:rPr lang="en-RU" b="1" i="1" dirty="0"/>
              <a:t>available</a:t>
            </a:r>
            <a:br>
              <a:rPr lang="en-RU" dirty="0"/>
            </a:br>
            <a:r>
              <a:rPr lang="en-GB" dirty="0" err="1"/>
              <a:t>i</a:t>
            </a:r>
            <a:r>
              <a:rPr lang="en-RU" dirty="0"/>
              <a:t>f </a:t>
            </a:r>
            <a:r>
              <a:rPr lang="en-RU" b="1" i="1" dirty="0"/>
              <a:t>producer</a:t>
            </a:r>
            <a:r>
              <a:rPr lang="en-RU" dirty="0"/>
              <a:t> could produce message</a:t>
            </a:r>
          </a:p>
        </p:txBody>
      </p:sp>
    </p:spTree>
    <p:extLst>
      <p:ext uri="{BB962C8B-B14F-4D97-AF65-F5344CB8AC3E}">
        <p14:creationId xmlns:p14="http://schemas.microsoft.com/office/powerpoint/2010/main" val="8991850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explained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messages</a:t>
            </a:r>
          </a:p>
          <a:p>
            <a:pPr lvl="1"/>
            <a:r>
              <a:rPr lang="en-US" dirty="0"/>
              <a:t>Ability to store messages</a:t>
            </a:r>
            <a:endParaRPr lang="ru-RU" dirty="0"/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received and confirmed messages</a:t>
            </a:r>
          </a:p>
        </p:txBody>
      </p:sp>
    </p:spTree>
    <p:extLst>
      <p:ext uri="{BB962C8B-B14F-4D97-AF65-F5344CB8AC3E}">
        <p14:creationId xmlns:p14="http://schemas.microsoft.com/office/powerpoint/2010/main" val="15395785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explained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messages</a:t>
            </a:r>
          </a:p>
          <a:p>
            <a:pPr lvl="1"/>
            <a:r>
              <a:rPr lang="en-US" dirty="0"/>
              <a:t>Ability to store messages</a:t>
            </a:r>
            <a:endParaRPr lang="ru-RU" dirty="0"/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messages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50E9A-E0E8-AF0A-57A8-4283C97DE6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RU" dirty="0"/>
              <a:t>The queue is </a:t>
            </a:r>
            <a:r>
              <a:rPr lang="en-RU" b="1" i="1" dirty="0"/>
              <a:t>durable</a:t>
            </a:r>
            <a:br>
              <a:rPr lang="en-RU" dirty="0"/>
            </a:br>
            <a:r>
              <a:rPr lang="en-RU" dirty="0"/>
              <a:t>if </a:t>
            </a:r>
            <a:r>
              <a:rPr lang="en-RU" b="1" i="1" dirty="0"/>
              <a:t>concumer</a:t>
            </a:r>
            <a:r>
              <a:rPr lang="en-RU" dirty="0"/>
              <a:t> receives</a:t>
            </a:r>
            <a:br>
              <a:rPr lang="en-RU" dirty="0"/>
            </a:br>
            <a:r>
              <a:rPr lang="en-RU" b="1" i="1" dirty="0"/>
              <a:t>all the messages</a:t>
            </a:r>
            <a:r>
              <a:rPr lang="en-RU" dirty="0"/>
              <a:t> from producer</a:t>
            </a:r>
          </a:p>
        </p:txBody>
      </p:sp>
    </p:spTree>
    <p:extLst>
      <p:ext uri="{BB962C8B-B14F-4D97-AF65-F5344CB8AC3E}">
        <p14:creationId xmlns:p14="http://schemas.microsoft.com/office/powerpoint/2010/main" val="6931352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queue properties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&amp; store messages</a:t>
            </a:r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received messages</a:t>
            </a:r>
          </a:p>
          <a:p>
            <a:r>
              <a:rPr lang="en-US" dirty="0"/>
              <a:t>Delivery guarantee</a:t>
            </a:r>
          </a:p>
          <a:p>
            <a:pPr lvl="1"/>
            <a:r>
              <a:rPr lang="en-US" dirty="0"/>
              <a:t>A promise to deliver a message</a:t>
            </a:r>
          </a:p>
          <a:p>
            <a:pPr lvl="1"/>
            <a:r>
              <a:rPr lang="en-US" dirty="0"/>
              <a:t>“At least once” (X ≥ 1)</a:t>
            </a:r>
          </a:p>
          <a:p>
            <a:pPr lvl="1"/>
            <a:r>
              <a:rPr lang="en-US" dirty="0"/>
              <a:t>“At most once” (X ≤ 1)</a:t>
            </a:r>
          </a:p>
          <a:p>
            <a:pPr lvl="1"/>
            <a:r>
              <a:rPr lang="en-US" dirty="0"/>
              <a:t>“Exactly once”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598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queue properties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&amp; store messages</a:t>
            </a:r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received messages</a:t>
            </a:r>
          </a:p>
          <a:p>
            <a:r>
              <a:rPr lang="en-US" dirty="0"/>
              <a:t>Delivery guarantee</a:t>
            </a:r>
          </a:p>
          <a:p>
            <a:pPr lvl="1"/>
            <a:r>
              <a:rPr lang="en-US" dirty="0"/>
              <a:t>A promise to deliver a message</a:t>
            </a:r>
          </a:p>
          <a:p>
            <a:pPr lvl="1"/>
            <a:r>
              <a:rPr lang="en-US" dirty="0"/>
              <a:t>“At least once” (X ≥ 1)</a:t>
            </a:r>
          </a:p>
          <a:p>
            <a:pPr lvl="1"/>
            <a:r>
              <a:rPr lang="en-US" dirty="0"/>
              <a:t>“At most once” (X ≤ 1)</a:t>
            </a:r>
          </a:p>
          <a:p>
            <a:pPr lvl="1"/>
            <a:r>
              <a:rPr lang="en-US" dirty="0"/>
              <a:t>“Exactly once” is impossible, while stated by many*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029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queue properties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&amp; store messages</a:t>
            </a:r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received messages</a:t>
            </a:r>
          </a:p>
          <a:p>
            <a:r>
              <a:rPr lang="en-US" dirty="0"/>
              <a:t>Delivery guarantee</a:t>
            </a:r>
          </a:p>
          <a:p>
            <a:pPr lvl="1"/>
            <a:r>
              <a:rPr lang="en-US" dirty="0"/>
              <a:t>A promise to deliver a message</a:t>
            </a:r>
          </a:p>
          <a:p>
            <a:pPr lvl="1"/>
            <a:r>
              <a:rPr lang="en-US" dirty="0"/>
              <a:t>“At least once” (X ≥ 1, delivered once or more)</a:t>
            </a:r>
          </a:p>
          <a:p>
            <a:pPr lvl="1"/>
            <a:r>
              <a:rPr lang="en-US" dirty="0"/>
              <a:t>“At most once” (X ≤ 1, delivered once or lost)</a:t>
            </a:r>
          </a:p>
          <a:p>
            <a:pPr lvl="1"/>
            <a:r>
              <a:rPr lang="en-US" dirty="0"/>
              <a:t>“Exactly once” = “At least once” + Idempotence</a:t>
            </a:r>
          </a:p>
          <a:p>
            <a:pPr lvl="1"/>
            <a:r>
              <a:rPr lang="en-US" dirty="0"/>
              <a:t>“Somehow” (X ≠ 1, may loose messages and redelivery is available)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9430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8E0E-CF7B-6F4B-B9F6-46A2E2C6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queue properties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2ACE-4578-054D-AAF3-517791DC6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Availability</a:t>
            </a:r>
          </a:p>
          <a:p>
            <a:pPr lvl="1"/>
            <a:r>
              <a:rPr lang="en-US" dirty="0"/>
              <a:t>Ability to receive &amp; store messages</a:t>
            </a:r>
          </a:p>
          <a:p>
            <a:r>
              <a:rPr lang="en-US" dirty="0"/>
              <a:t>Durability</a:t>
            </a:r>
          </a:p>
          <a:p>
            <a:pPr lvl="1"/>
            <a:r>
              <a:rPr lang="en-US" dirty="0"/>
              <a:t>Ability to not lose received messages</a:t>
            </a:r>
          </a:p>
          <a:p>
            <a:r>
              <a:rPr lang="en-US" dirty="0"/>
              <a:t>Delivery guarantee</a:t>
            </a:r>
          </a:p>
          <a:p>
            <a:pPr lvl="1"/>
            <a:r>
              <a:rPr lang="en-US" dirty="0"/>
              <a:t>A promise to deliver “At least once” or “At most once”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Ability to increase throughput by adding nodes</a:t>
            </a:r>
          </a:p>
        </p:txBody>
      </p:sp>
    </p:spTree>
    <p:extLst>
      <p:ext uri="{BB962C8B-B14F-4D97-AF65-F5344CB8AC3E}">
        <p14:creationId xmlns:p14="http://schemas.microsoft.com/office/powerpoint/2010/main" val="17965461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99C3-F135-4F2F-5679-29DAB83C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Topology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6409-91C7-D381-4176-2791ADFE9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767949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</p:spTree>
    <p:extLst>
      <p:ext uri="{BB962C8B-B14F-4D97-AF65-F5344CB8AC3E}">
        <p14:creationId xmlns:p14="http://schemas.microsoft.com/office/powerpoint/2010/main" val="18652246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A6A795-74B1-CA3A-E853-AFC8A9F1E517}"/>
              </a:ext>
            </a:extLst>
          </p:cNvPr>
          <p:cNvSpPr txBox="1"/>
          <p:nvPr/>
        </p:nvSpPr>
        <p:spPr>
          <a:xfrm>
            <a:off x="5073570" y="4321831"/>
            <a:ext cx="2044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RU" sz="2400" dirty="0">
                <a:latin typeface="TT Travels Regular" panose="02000503030000020004" pitchFamily="2" charset="77"/>
              </a:rPr>
              <a:t>RabbitMQ</a:t>
            </a:r>
          </a:p>
          <a:p>
            <a:r>
              <a:rPr lang="en-RU" sz="2400" dirty="0">
                <a:latin typeface="TT Travels Regular" panose="02000503030000020004" pitchFamily="2" charset="77"/>
              </a:rPr>
              <a:t>Redis</a:t>
            </a:r>
          </a:p>
          <a:p>
            <a:pPr algn="l"/>
            <a:r>
              <a:rPr lang="en-RU" sz="2400" dirty="0">
                <a:latin typeface="TT Travels Regular" panose="02000503030000020004" pitchFamily="2" charset="77"/>
              </a:rPr>
              <a:t>ActiveMQ</a:t>
            </a:r>
          </a:p>
          <a:p>
            <a:pPr algn="l"/>
            <a:r>
              <a:rPr lang="en-RU" sz="2400" dirty="0">
                <a:latin typeface="TT Travels Regular" panose="02000503030000020004" pitchFamily="2" charset="77"/>
              </a:rPr>
              <a:t>Beanstakld</a:t>
            </a:r>
          </a:p>
          <a:p>
            <a:pPr algn="l"/>
            <a:r>
              <a:rPr lang="en-RU" sz="2400" dirty="0">
                <a:latin typeface="TT Travels Regular" panose="02000503030000020004" pitchFamily="2" charset="7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38115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257369-CFEA-1C85-3C73-8A965887B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2213" y="2698767"/>
            <a:ext cx="1287574" cy="138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0333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no</a:t>
            </a:r>
          </a:p>
          <a:p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669234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no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X ≠ 1 </a:t>
            </a:r>
            <a:r>
              <a:rPr lang="en-US" sz="2800" dirty="0">
                <a:latin typeface="TT Travels Regular" panose="02000503030000020004" pitchFamily="2" charset="77"/>
              </a:rPr>
              <a:t>|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 X ≤ 1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87468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single instance</a:t>
            </a:r>
            <a:endParaRPr lang="ru-RU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EF77F73-B90B-D04C-A270-0111576EA3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00200" y="2550005"/>
            <a:ext cx="8991600" cy="202773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no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X ≠ 1 </a:t>
            </a:r>
            <a:r>
              <a:rPr lang="en-US" sz="2800" dirty="0">
                <a:latin typeface="TT Travels Regular" panose="02000503030000020004" pitchFamily="2" charset="77"/>
              </a:rPr>
              <a:t>|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 X ≤ 1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low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447AEA-82BA-B243-81DE-FCAF64601E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9738" y="3887957"/>
            <a:ext cx="1581150" cy="103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315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</a:t>
            </a:r>
            <a:r>
              <a:rPr lang="ru-RU" dirty="0"/>
              <a:t>: </a:t>
            </a:r>
            <a:r>
              <a:rPr lang="en-US" dirty="0"/>
              <a:t>multi-instance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57300" y="1771697"/>
            <a:ext cx="9677400" cy="331460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40967-470E-3402-6C0B-7E1331105BE8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34900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queues, put to 1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57600" y="1769225"/>
            <a:ext cx="9676800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</a:p>
          <a:p>
            <a:endParaRPr lang="ru-RU" sz="2800" dirty="0">
              <a:solidFill>
                <a:srgbClr val="FFC00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48226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queues, put to 1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57600" y="1769225"/>
            <a:ext cx="9676800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X ≠ 1 </a:t>
            </a:r>
            <a:r>
              <a:rPr lang="en-US" sz="2800" dirty="0">
                <a:latin typeface="TT Travels Regular" panose="02000503030000020004" pitchFamily="2" charset="77"/>
              </a:rPr>
              <a:t>|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 X ≤ 1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C000"/>
                </a:solidFill>
                <a:latin typeface="TT Travels Regular" panose="02000503030000020004" pitchFamily="2" charset="77"/>
              </a:rPr>
              <a:t>medium</a:t>
            </a:r>
            <a:endParaRPr lang="ru-RU" sz="2800" dirty="0">
              <a:solidFill>
                <a:srgbClr val="FFC00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430462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queues, put to K/N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1175" y="1769225"/>
            <a:ext cx="9669650" cy="3319549"/>
          </a:xfrm>
        </p:spPr>
      </p:pic>
    </p:spTree>
    <p:extLst>
      <p:ext uri="{BB962C8B-B14F-4D97-AF65-F5344CB8AC3E}">
        <p14:creationId xmlns:p14="http://schemas.microsoft.com/office/powerpoint/2010/main" val="12229775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queues, put to K/N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1175" y="1769225"/>
            <a:ext cx="9669650" cy="331954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384313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queues, put to K/N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1175" y="1769225"/>
            <a:ext cx="9669650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X ≠ K </a:t>
            </a:r>
            <a:r>
              <a:rPr lang="en-US" sz="2800" dirty="0">
                <a:latin typeface="TT Travels Regular" panose="02000503030000020004" pitchFamily="2" charset="77"/>
              </a:rPr>
              <a:t>| X ≤ K ⇒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≥ 1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74B2E-DAE7-5E42-8191-C7FB89BE9EFB}"/>
              </a:ext>
            </a:extLst>
          </p:cNvPr>
          <p:cNvSpPr txBox="1"/>
          <p:nvPr/>
        </p:nvSpPr>
        <p:spPr>
          <a:xfrm>
            <a:off x="838200" y="1429079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T Travels Regular" panose="02000503030000020004" pitchFamily="2" charset="77"/>
              </a:rPr>
              <a:t>“Multiplication”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46C84-95B7-AD2E-C733-C4A55189681A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A34A3-0CE1-E23C-B1E0-B7016A2C4BEF}"/>
              </a:ext>
            </a:extLst>
          </p:cNvPr>
          <p:cNvSpPr txBox="1"/>
          <p:nvPr/>
        </p:nvSpPr>
        <p:spPr>
          <a:xfrm>
            <a:off x="8873358" y="3167389"/>
            <a:ext cx="2383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T Travels Regular" panose="02000503030000020004" pitchFamily="2" charset="77"/>
              </a:rPr>
              <a:t>Idempotence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36604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Replication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1175" y="1888874"/>
            <a:ext cx="9669650" cy="308025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Interaction</a:t>
            </a:r>
            <a:br>
              <a:rPr lang="en-US" sz="2800" dirty="0">
                <a:latin typeface="TT Travels Regular" panose="02000503030000020004" pitchFamily="2" charset="77"/>
              </a:rPr>
            </a:br>
            <a:r>
              <a:rPr lang="en-US" sz="2800" dirty="0">
                <a:latin typeface="TT Travels Regular" panose="02000503030000020004" pitchFamily="2" charset="77"/>
              </a:rPr>
              <a:t>with a leader</a:t>
            </a:r>
            <a:endParaRPr lang="ru-RU" sz="2800" dirty="0">
              <a:solidFill>
                <a:srgbClr val="FF000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Replicas</a:t>
            </a:r>
            <a:br>
              <a:rPr lang="en-US" sz="2800" dirty="0">
                <a:latin typeface="TT Travels Regular" panose="02000503030000020004" pitchFamily="2" charset="77"/>
              </a:rPr>
            </a:br>
            <a:r>
              <a:rPr lang="en-US" sz="2800" dirty="0">
                <a:latin typeface="TT Travels Regular" panose="02000503030000020004" pitchFamily="2" charset="77"/>
              </a:rPr>
              <a:t>are on standby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460318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Replicated queues, 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769225"/>
            <a:ext cx="9654029" cy="331954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72605-C408-4342-81BE-3355181A3157}"/>
              </a:ext>
            </a:extLst>
          </p:cNvPr>
          <p:cNvSpPr txBox="1"/>
          <p:nvPr/>
        </p:nvSpPr>
        <p:spPr>
          <a:xfrm>
            <a:off x="838200" y="133347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T Travels Regular" panose="02000503030000020004" pitchFamily="2" charset="77"/>
              </a:rPr>
              <a:t>“like a database”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369191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Replicated queues, 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769225"/>
            <a:ext cx="9654029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72605-C408-4342-81BE-3355181A3157}"/>
              </a:ext>
            </a:extLst>
          </p:cNvPr>
          <p:cNvSpPr txBox="1"/>
          <p:nvPr/>
        </p:nvSpPr>
        <p:spPr>
          <a:xfrm>
            <a:off x="838200" y="133347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T Travels Regular" panose="02000503030000020004" pitchFamily="2" charset="77"/>
              </a:rPr>
              <a:t>“like a database”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024133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Replicated queues, 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769225"/>
            <a:ext cx="9654029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934888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Replicated queues, 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769225"/>
            <a:ext cx="9654029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866C-7AB8-2614-ECAA-3D4677EFF6D9}"/>
              </a:ext>
            </a:extLst>
          </p:cNvPr>
          <p:cNvSpPr txBox="1"/>
          <p:nvPr/>
        </p:nvSpPr>
        <p:spPr>
          <a:xfrm>
            <a:off x="4726294" y="1382386"/>
            <a:ext cx="273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U" sz="2400" dirty="0">
                <a:latin typeface="TT Travels Regular" panose="02000503030000020004" pitchFamily="2" charset="77"/>
              </a:rPr>
              <a:t>Apache Kafka*</a:t>
            </a:r>
          </a:p>
        </p:txBody>
      </p:sp>
    </p:spTree>
    <p:extLst>
      <p:ext uri="{BB962C8B-B14F-4D97-AF65-F5344CB8AC3E}">
        <p14:creationId xmlns:p14="http://schemas.microsoft.com/office/powerpoint/2010/main" val="32041313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“Like a database”: quorum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1176" y="1888874"/>
            <a:ext cx="9669648" cy="308025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190618"/>
            <a:ext cx="10515599" cy="138499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Quorum writes give protection from data loss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Quorum guarantees consistency,</a:t>
            </a:r>
            <a:r>
              <a:rPr lang="ru-RU" sz="2800" dirty="0">
                <a:latin typeface="TT Travels Regular" panose="02000503030000020004" pitchFamily="2" charset="77"/>
              </a:rPr>
              <a:t> </a:t>
            </a:r>
            <a:r>
              <a:rPr lang="en-GB" sz="2800" dirty="0">
                <a:latin typeface="TT Travels Regular" panose="02000503030000020004" pitchFamily="2" charset="77"/>
              </a:rPr>
              <a:t>X → 1 (X ≥ 1)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Most reliable. But slow.</a:t>
            </a:r>
            <a:endParaRPr lang="ru-RU" sz="2800" dirty="0"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472283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 cluster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906100"/>
            <a:ext cx="9654029" cy="30457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867946"/>
            <a:ext cx="52578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867945"/>
            <a:ext cx="52578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11436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 cluster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6" y="1906100"/>
            <a:ext cx="9654026" cy="304579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867946"/>
            <a:ext cx="52578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C000"/>
                </a:solidFill>
                <a:latin typeface="TT Travels Regular" panose="02000503030000020004" pitchFamily="2" charset="77"/>
              </a:rPr>
              <a:t>limited</a:t>
            </a:r>
            <a:endParaRPr lang="ru-RU" sz="2800" dirty="0">
              <a:solidFill>
                <a:srgbClr val="FFC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148608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 cluster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6" y="1906100"/>
            <a:ext cx="9654026" cy="304579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4889E-38E1-130C-21A8-EE365C095415}"/>
              </a:ext>
            </a:extLst>
          </p:cNvPr>
          <p:cNvSpPr txBox="1"/>
          <p:nvPr/>
        </p:nvSpPr>
        <p:spPr>
          <a:xfrm>
            <a:off x="838200" y="5867946"/>
            <a:ext cx="5257800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42947-19D2-AC97-F599-0093D237EE19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C000"/>
                </a:solidFill>
                <a:latin typeface="TT Travels Regular" panose="02000503030000020004" pitchFamily="2" charset="77"/>
              </a:rPr>
              <a:t>limited</a:t>
            </a:r>
            <a:endParaRPr lang="ru-RU" sz="2800" dirty="0">
              <a:solidFill>
                <a:srgbClr val="FFC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920289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 cluster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6" y="1906100"/>
            <a:ext cx="9654026" cy="304579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T Travels Regular" panose="02000503030000020004" pitchFamily="2" charset="77"/>
              </a:rPr>
              <a:t>no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B52AD-8BAC-ADF3-76A5-019CFF5C2624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FFC000"/>
                </a:solidFill>
                <a:latin typeface="TT Travels Regular" panose="02000503030000020004" pitchFamily="2" charset="77"/>
              </a:rPr>
              <a:t>limited</a:t>
            </a:r>
            <a:endParaRPr lang="ru-RU" sz="2800" dirty="0">
              <a:solidFill>
                <a:srgbClr val="FFC00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0188191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Replicated queue, 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985" y="1769225"/>
            <a:ext cx="9654029" cy="331954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37A24-DD78-8948-93BD-92FF0BF37C04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C4CDF-FCC1-1148-B686-FE8F5A399AA2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95318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queues</a:t>
            </a:r>
            <a:r>
              <a:rPr lang="ru-RU" dirty="0"/>
              <a:t>, </a:t>
            </a:r>
            <a:r>
              <a:rPr lang="en-US" dirty="0"/>
              <a:t>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68400" y="1757458"/>
            <a:ext cx="9655200" cy="334308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EE00C-7104-2CEA-883A-FE8209396FCD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ADEE7-2BF8-C14A-6F08-5E434FB4EF96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950364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queues</a:t>
            </a:r>
            <a:r>
              <a:rPr lang="ru-RU" dirty="0"/>
              <a:t>, </a:t>
            </a:r>
            <a:r>
              <a:rPr lang="en-US" dirty="0"/>
              <a:t>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30707" y="1757458"/>
            <a:ext cx="9330585" cy="334308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986D1B-B39D-52DC-9541-931F13CB492A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11094-E5A1-9798-3E43-97F2BBE6B1EB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8873181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03C6A-997E-6C44-8AF8-14C29C84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Quorum queues</a:t>
            </a:r>
            <a:r>
              <a:rPr lang="ru-RU" dirty="0"/>
              <a:t>, </a:t>
            </a:r>
            <a:r>
              <a:rPr lang="en-US" dirty="0"/>
              <a:t>1/N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179E6-F265-9C4F-BF0A-A8D23E973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30707" y="1757458"/>
            <a:ext cx="9330585" cy="334308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7C22B1-C160-8EB9-BD5B-C92FACA2D6AB}"/>
              </a:ext>
            </a:extLst>
          </p:cNvPr>
          <p:cNvSpPr txBox="1"/>
          <p:nvPr/>
        </p:nvSpPr>
        <p:spPr>
          <a:xfrm>
            <a:off x="838200" y="5437059"/>
            <a:ext cx="5257800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Scalability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yes</a:t>
            </a:r>
          </a:p>
          <a:p>
            <a:r>
              <a:rPr lang="en-US" sz="2800" dirty="0">
                <a:latin typeface="TT Travels Regular" panose="02000503030000020004" pitchFamily="2" charset="77"/>
              </a:rPr>
              <a:t>Guarantee: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X ≈ 1 (X ≥ 1)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52B50-C524-C87D-A0B8-7FFB7FAB53BA}"/>
              </a:ext>
            </a:extLst>
          </p:cNvPr>
          <p:cNvSpPr txBox="1"/>
          <p:nvPr/>
        </p:nvSpPr>
        <p:spPr>
          <a:xfrm>
            <a:off x="6096000" y="5437058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T Travels Regular" panose="02000503030000020004" pitchFamily="2" charset="77"/>
              </a:rPr>
              <a:t>Availability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  <a:p>
            <a:r>
              <a:rPr lang="en-US" sz="2800" dirty="0">
                <a:latin typeface="TT Travels Regular" panose="02000503030000020004" pitchFamily="2" charset="77"/>
              </a:rPr>
              <a:t>Durability</a:t>
            </a:r>
            <a:r>
              <a:rPr lang="ru-RU" sz="2800" dirty="0">
                <a:latin typeface="TT Travels Regular" panose="02000503030000020004" pitchFamily="2" charset="77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TT Travels Regular" panose="02000503030000020004" pitchFamily="2" charset="77"/>
              </a:rPr>
              <a:t>high</a:t>
            </a:r>
            <a:endParaRPr lang="ru-RU" sz="2800" dirty="0">
              <a:solidFill>
                <a:srgbClr val="00B050"/>
              </a:solidFill>
              <a:latin typeface="TT Travels Regular" panose="0200050303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88163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D659-EF89-E0BA-93A2-B9C2B38D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What else to know?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0C0C8-1868-ECB5-87AE-032E36DE5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Protocols &amp; limitations</a:t>
            </a:r>
          </a:p>
          <a:p>
            <a:r>
              <a:rPr lang="en-US" dirty="0"/>
              <a:t>Monitoring &amp; maintenance</a:t>
            </a:r>
          </a:p>
          <a:p>
            <a:r>
              <a:rPr lang="en-US" dirty="0"/>
              <a:t>Best choices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52414605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DA1C-7E83-D347-BED8-04049812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Protocols &amp; limitations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D4D7A-018E-5744-891F-C2F26F5073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Message state</a:t>
            </a:r>
            <a:br>
              <a:rPr lang="en-US" dirty="0"/>
            </a:br>
            <a:r>
              <a:rPr lang="en-US" dirty="0"/>
              <a:t>is bound to connection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Low latency</a:t>
            </a:r>
          </a:p>
          <a:p>
            <a:r>
              <a:rPr lang="en-US" dirty="0"/>
              <a:t>Immediate requeue</a:t>
            </a:r>
          </a:p>
          <a:p>
            <a:endParaRPr lang="ru-RU" dirty="0"/>
          </a:p>
          <a:p>
            <a:r>
              <a:rPr lang="en-US" dirty="0"/>
              <a:t>Hard to scale</a:t>
            </a:r>
          </a:p>
          <a:p>
            <a:r>
              <a:rPr lang="en-US" dirty="0"/>
              <a:t>Task lifecycle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C8CD62-912B-9444-BFDF-43CDF11F7D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Stateless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HTTP/REST/SQS)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Scaling</a:t>
            </a:r>
            <a:endParaRPr lang="ru-RU" dirty="0"/>
          </a:p>
          <a:p>
            <a:r>
              <a:rPr lang="en-US" dirty="0"/>
              <a:t>HTTP-balancing</a:t>
            </a:r>
          </a:p>
          <a:p>
            <a:pPr marL="0" indent="0">
              <a:buNone/>
            </a:pPr>
            <a:endParaRPr lang="ru-RU" dirty="0"/>
          </a:p>
          <a:p>
            <a:r>
              <a:rPr lang="en-US" dirty="0" err="1"/>
              <a:t>Autorelease</a:t>
            </a:r>
            <a:r>
              <a:rPr lang="en-US" dirty="0"/>
              <a:t> is a must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8700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E4174-9FA3-5C47-9224-17A026A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56AE6-E765-314B-8A3E-3DCD23C0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Queue capacity and consumption</a:t>
            </a:r>
            <a:endParaRPr lang="ru-RU" dirty="0"/>
          </a:p>
          <a:p>
            <a:pPr lvl="1"/>
            <a:r>
              <a:rPr lang="en-US" dirty="0"/>
              <a:t>There is always a limit.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52302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E4174-9FA3-5C47-9224-17A026A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56AE6-E765-314B-8A3E-3DCD23C0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Queue capacity and consumption</a:t>
            </a:r>
            <a:endParaRPr lang="ru-RU" dirty="0"/>
          </a:p>
          <a:p>
            <a:pPr lvl="1"/>
            <a:r>
              <a:rPr lang="en-US" dirty="0">
                <a:solidFill>
                  <a:srgbClr val="D4D4D4"/>
                </a:solidFill>
              </a:rPr>
              <a:t>There is always a limit.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/>
              <a:t>Timing</a:t>
            </a:r>
            <a:endParaRPr lang="ru-RU" dirty="0"/>
          </a:p>
          <a:p>
            <a:pPr lvl="1"/>
            <a:r>
              <a:rPr lang="en-US" dirty="0"/>
              <a:t>Full event cycle</a:t>
            </a:r>
            <a:r>
              <a:rPr lang="ru-RU" dirty="0"/>
              <a:t> (</a:t>
            </a:r>
            <a:r>
              <a:rPr lang="en-US" dirty="0"/>
              <a:t>QoS)</a:t>
            </a:r>
            <a:endParaRPr lang="ru-RU" dirty="0"/>
          </a:p>
          <a:p>
            <a:pPr lvl="1"/>
            <a:r>
              <a:rPr lang="en-US" dirty="0"/>
              <a:t>Consumer execution time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73406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E4174-9FA3-5C47-9224-17A026A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56AE6-E765-314B-8A3E-3DCD23C0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Queue capacity and consumption</a:t>
            </a:r>
            <a:endParaRPr lang="ru-RU" dirty="0"/>
          </a:p>
          <a:p>
            <a:pPr lvl="1"/>
            <a:r>
              <a:rPr lang="en-US" dirty="0">
                <a:solidFill>
                  <a:srgbClr val="D4D4D4"/>
                </a:solidFill>
              </a:rPr>
              <a:t>There is always a limit.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/>
              <a:t>Timing</a:t>
            </a:r>
            <a:endParaRPr lang="ru-RU" dirty="0"/>
          </a:p>
          <a:p>
            <a:pPr lvl="1"/>
            <a:r>
              <a:rPr lang="en-US" dirty="0">
                <a:solidFill>
                  <a:srgbClr val="D4D4D4"/>
                </a:solidFill>
              </a:rPr>
              <a:t>Full event cycle</a:t>
            </a:r>
            <a:r>
              <a:rPr lang="ru-RU" dirty="0">
                <a:solidFill>
                  <a:srgbClr val="D4D4D4"/>
                </a:solidFill>
              </a:rPr>
              <a:t> (</a:t>
            </a:r>
            <a:r>
              <a:rPr lang="en-US" dirty="0">
                <a:solidFill>
                  <a:srgbClr val="D4D4D4"/>
                </a:solidFill>
              </a:rPr>
              <a:t>QoS)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Consumer execution time</a:t>
            </a:r>
          </a:p>
          <a:p>
            <a:r>
              <a:rPr lang="en-US" dirty="0"/>
              <a:t>Quantity of retries, losses and failures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3998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E4174-9FA3-5C47-9224-17A026A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56AE6-E765-314B-8A3E-3DCD23C0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Queue capacity and consumption</a:t>
            </a:r>
            <a:endParaRPr lang="ru-RU" dirty="0"/>
          </a:p>
          <a:p>
            <a:pPr lvl="1"/>
            <a:r>
              <a:rPr lang="en-US" dirty="0">
                <a:solidFill>
                  <a:srgbClr val="D4D4D4"/>
                </a:solidFill>
              </a:rPr>
              <a:t>There is always a limit.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/>
              <a:t>Timing</a:t>
            </a:r>
            <a:endParaRPr lang="ru-RU" dirty="0"/>
          </a:p>
          <a:p>
            <a:pPr lvl="1"/>
            <a:r>
              <a:rPr lang="en-US" dirty="0">
                <a:solidFill>
                  <a:srgbClr val="D4D4D4"/>
                </a:solidFill>
              </a:rPr>
              <a:t>Full event cycle</a:t>
            </a:r>
            <a:r>
              <a:rPr lang="ru-RU" dirty="0">
                <a:solidFill>
                  <a:srgbClr val="D4D4D4"/>
                </a:solidFill>
              </a:rPr>
              <a:t> (</a:t>
            </a:r>
            <a:r>
              <a:rPr lang="en-US" dirty="0">
                <a:solidFill>
                  <a:srgbClr val="D4D4D4"/>
                </a:solidFill>
              </a:rPr>
              <a:t>QoS)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Consumer execution time</a:t>
            </a:r>
          </a:p>
          <a:p>
            <a:r>
              <a:rPr lang="en-US" dirty="0"/>
              <a:t>Quantity of retries, losses and failures</a:t>
            </a:r>
          </a:p>
          <a:p>
            <a:r>
              <a:rPr lang="en-US" dirty="0"/>
              <a:t>Message flow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163560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E4174-9FA3-5C47-9224-17A026A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56AE6-E765-314B-8A3E-3DCD23C08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4D4D4"/>
                </a:solidFill>
              </a:rPr>
              <a:t>Queue capacity and consumption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There is always a limit.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>
                <a:solidFill>
                  <a:srgbClr val="D4D4D4"/>
                </a:solidFill>
              </a:rPr>
              <a:t>Timing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Full event cycle</a:t>
            </a:r>
            <a:r>
              <a:rPr lang="ru-RU" dirty="0">
                <a:solidFill>
                  <a:srgbClr val="D4D4D4"/>
                </a:solidFill>
              </a:rPr>
              <a:t> (</a:t>
            </a:r>
            <a:r>
              <a:rPr lang="en-US" dirty="0">
                <a:solidFill>
                  <a:srgbClr val="D4D4D4"/>
                </a:solidFill>
              </a:rPr>
              <a:t>QoS)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Consumer execution time</a:t>
            </a:r>
          </a:p>
          <a:p>
            <a:r>
              <a:rPr lang="en-US" dirty="0">
                <a:solidFill>
                  <a:srgbClr val="D4D4D4"/>
                </a:solidFill>
              </a:rPr>
              <a:t>Quantity of retries, losses and failures</a:t>
            </a:r>
          </a:p>
          <a:p>
            <a:r>
              <a:rPr lang="en-US" dirty="0">
                <a:solidFill>
                  <a:srgbClr val="D4D4D4"/>
                </a:solidFill>
              </a:rPr>
              <a:t>Message flow</a:t>
            </a:r>
            <a:endParaRPr lang="ru-RU" dirty="0">
              <a:solidFill>
                <a:srgbClr val="D4D4D4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r>
              <a:rPr lang="en-US" dirty="0"/>
              <a:t>Duplicate your messages to logs :)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796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B20B-8D46-1041-D526-6D94CE93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0473F1-E3A7-122D-568B-45E512FF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&amp; maintenance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7A1662-0B21-9276-DF14-3E0C14EDD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D4D4D4"/>
                </a:solidFill>
              </a:rPr>
              <a:t>Queue capacity and consumption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There is always a limit.</a:t>
            </a:r>
            <a:endParaRPr lang="ru-RU" dirty="0">
              <a:solidFill>
                <a:srgbClr val="D4D4D4"/>
              </a:solidFill>
            </a:endParaRPr>
          </a:p>
          <a:p>
            <a:r>
              <a:rPr lang="en-US" dirty="0">
                <a:solidFill>
                  <a:srgbClr val="D4D4D4"/>
                </a:solidFill>
              </a:rPr>
              <a:t>Timing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Full event cycle</a:t>
            </a:r>
            <a:r>
              <a:rPr lang="ru-RU" dirty="0">
                <a:solidFill>
                  <a:srgbClr val="D4D4D4"/>
                </a:solidFill>
              </a:rPr>
              <a:t> (</a:t>
            </a:r>
            <a:r>
              <a:rPr lang="en-US" dirty="0">
                <a:solidFill>
                  <a:srgbClr val="D4D4D4"/>
                </a:solidFill>
              </a:rPr>
              <a:t>QoS)</a:t>
            </a:r>
            <a:endParaRPr lang="ru-RU" dirty="0">
              <a:solidFill>
                <a:srgbClr val="D4D4D4"/>
              </a:solidFill>
            </a:endParaRPr>
          </a:p>
          <a:p>
            <a:pPr lvl="1"/>
            <a:r>
              <a:rPr lang="en-US" dirty="0">
                <a:solidFill>
                  <a:srgbClr val="D4D4D4"/>
                </a:solidFill>
              </a:rPr>
              <a:t>Consumer execution time</a:t>
            </a:r>
          </a:p>
          <a:p>
            <a:r>
              <a:rPr lang="en-US" dirty="0">
                <a:solidFill>
                  <a:srgbClr val="D4D4D4"/>
                </a:solidFill>
              </a:rPr>
              <a:t>Quantity of retries, losses and failures</a:t>
            </a:r>
          </a:p>
          <a:p>
            <a:r>
              <a:rPr lang="en-US" dirty="0">
                <a:solidFill>
                  <a:srgbClr val="D4D4D4"/>
                </a:solidFill>
              </a:rPr>
              <a:t>Message flow</a:t>
            </a:r>
            <a:endParaRPr lang="ru-RU" dirty="0">
              <a:solidFill>
                <a:srgbClr val="D4D4D4"/>
              </a:solidFill>
            </a:endParaRPr>
          </a:p>
          <a:p>
            <a:pPr marL="0" indent="0">
              <a:buNone/>
            </a:pPr>
            <a:endParaRPr lang="ru-RU" dirty="0"/>
          </a:p>
          <a:p>
            <a:r>
              <a:rPr lang="en-US" dirty="0"/>
              <a:t>Duplicate your messages to logs or use streaming!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543500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E5B-85C3-9343-B62D-E97D28E2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Maintenance: plan </a:t>
            </a:r>
            <a:r>
              <a:rPr lang="en-GB"/>
              <a:t>a failure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F092-2D4B-474A-BD89-4FC98F6C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failure policies</a:t>
            </a:r>
          </a:p>
        </p:txBody>
      </p:sp>
    </p:spTree>
    <p:extLst>
      <p:ext uri="{BB962C8B-B14F-4D97-AF65-F5344CB8AC3E}">
        <p14:creationId xmlns:p14="http://schemas.microsoft.com/office/powerpoint/2010/main" val="311011952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E5B-85C3-9343-B62D-E97D28E2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Maintenance: plan </a:t>
            </a:r>
            <a:r>
              <a:rPr lang="en-GB"/>
              <a:t>a failure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F092-2D4B-474A-BD89-4FC98F6C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failure policies</a:t>
            </a:r>
          </a:p>
          <a:p>
            <a:pPr lvl="1"/>
            <a:r>
              <a:rPr lang="en-US" dirty="0"/>
              <a:t>Stop accepting new messages</a:t>
            </a:r>
          </a:p>
          <a:p>
            <a:pPr lvl="1"/>
            <a:r>
              <a:rPr lang="en-US" dirty="0"/>
              <a:t>Discard/drop old messages</a:t>
            </a:r>
          </a:p>
          <a:p>
            <a:pPr lvl="1"/>
            <a:r>
              <a:rPr lang="en-US" dirty="0"/>
              <a:t>Save the survivors</a:t>
            </a:r>
          </a:p>
        </p:txBody>
      </p:sp>
    </p:spTree>
    <p:extLst>
      <p:ext uri="{BB962C8B-B14F-4D97-AF65-F5344CB8AC3E}">
        <p14:creationId xmlns:p14="http://schemas.microsoft.com/office/powerpoint/2010/main" val="15659946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E5B-85C3-9343-B62D-E97D28E2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Maintenance: plan </a:t>
            </a:r>
            <a:r>
              <a:rPr lang="en-GB"/>
              <a:t>a failure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F092-2D4B-474A-BD89-4FC98F6C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failure policies</a:t>
            </a:r>
          </a:p>
          <a:p>
            <a:pPr lvl="1"/>
            <a:r>
              <a:rPr lang="en-US" dirty="0"/>
              <a:t>Stop accepting new messages</a:t>
            </a:r>
          </a:p>
          <a:p>
            <a:pPr lvl="1"/>
            <a:r>
              <a:rPr lang="en-US" dirty="0"/>
              <a:t>Discard/drop old messages</a:t>
            </a:r>
          </a:p>
          <a:p>
            <a:pPr lvl="1"/>
            <a:r>
              <a:rPr lang="en-US" dirty="0"/>
              <a:t>Save the survivors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CC437-F1A4-A24D-8E53-17A41DADEE3D}"/>
              </a:ext>
            </a:extLst>
          </p:cNvPr>
          <p:cNvSpPr txBox="1"/>
          <p:nvPr/>
        </p:nvSpPr>
        <p:spPr>
          <a:xfrm>
            <a:off x="7658100" y="1690688"/>
            <a:ext cx="36957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/>
              <a:t>“Our greatest glory is</a:t>
            </a:r>
            <a:br>
              <a:rPr lang="en-US" sz="2400" dirty="0"/>
            </a:br>
            <a:r>
              <a:rPr lang="en-US" sz="2400" dirty="0"/>
              <a:t>not in never falling.</a:t>
            </a:r>
            <a:br>
              <a:rPr lang="en-US" sz="2400" dirty="0"/>
            </a:br>
            <a:r>
              <a:rPr lang="en-US" sz="2400" dirty="0"/>
              <a:t>But in rising</a:t>
            </a:r>
            <a:br>
              <a:rPr lang="en-US" sz="2400" dirty="0"/>
            </a:br>
            <a:r>
              <a:rPr lang="en-US" sz="2400" dirty="0"/>
              <a:t>every time we fall”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0FA822E-186D-CA43-9EF4-6CD537E33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0780" y="3479611"/>
            <a:ext cx="1810340" cy="247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8073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E5B-85C3-9343-B62D-E97D28E2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Maintenance: plan </a:t>
            </a:r>
            <a:r>
              <a:rPr lang="en-GB"/>
              <a:t>a failure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F092-2D4B-474A-BD89-4FC98F6C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failure policies</a:t>
            </a:r>
          </a:p>
          <a:p>
            <a:pPr lvl="1"/>
            <a:r>
              <a:rPr lang="en-US" dirty="0"/>
              <a:t>Stop accepting new messages</a:t>
            </a:r>
          </a:p>
          <a:p>
            <a:pPr lvl="1"/>
            <a:r>
              <a:rPr lang="en-US" dirty="0"/>
              <a:t>Discard/drop old messages</a:t>
            </a:r>
          </a:p>
          <a:p>
            <a:pPr lvl="1"/>
            <a:r>
              <a:rPr lang="en-US" dirty="0"/>
              <a:t>Save the survivors</a:t>
            </a:r>
          </a:p>
          <a:p>
            <a:endParaRPr lang="en-US" dirty="0"/>
          </a:p>
          <a:p>
            <a:r>
              <a:rPr lang="en-US" dirty="0"/>
              <a:t>Have a plan for a fall down</a:t>
            </a:r>
          </a:p>
          <a:p>
            <a:pPr lvl="1"/>
            <a:r>
              <a:rPr lang="en-US" dirty="0"/>
              <a:t>To use it to get up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0FA822E-186D-CA43-9EF4-6CD537E33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0780" y="3479611"/>
            <a:ext cx="1810340" cy="2478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E51DD9-943E-ACD7-EB10-8E9EF9A0A657}"/>
              </a:ext>
            </a:extLst>
          </p:cNvPr>
          <p:cNvSpPr txBox="1"/>
          <p:nvPr/>
        </p:nvSpPr>
        <p:spPr>
          <a:xfrm>
            <a:off x="7658100" y="1690688"/>
            <a:ext cx="369570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dirty="0"/>
              <a:t>“Our greatest glory is</a:t>
            </a:r>
            <a:br>
              <a:rPr lang="en-US" sz="2400" dirty="0"/>
            </a:br>
            <a:r>
              <a:rPr lang="en-US" sz="2400" dirty="0"/>
              <a:t>not in never falling.</a:t>
            </a:r>
            <a:br>
              <a:rPr lang="en-US" sz="2400" dirty="0"/>
            </a:br>
            <a:r>
              <a:rPr lang="en-US" sz="2400" dirty="0"/>
              <a:t>But in rising</a:t>
            </a:r>
            <a:br>
              <a:rPr lang="en-US" sz="2400" dirty="0"/>
            </a:br>
            <a:r>
              <a:rPr lang="en-US" sz="2400" dirty="0"/>
              <a:t>every time we fall”</a:t>
            </a:r>
          </a:p>
        </p:txBody>
      </p:sp>
    </p:spTree>
    <p:extLst>
      <p:ext uri="{BB962C8B-B14F-4D97-AF65-F5344CB8AC3E}">
        <p14:creationId xmlns:p14="http://schemas.microsoft.com/office/powerpoint/2010/main" val="278565445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DE433-EE72-3130-C4CA-F59268CE1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633" y="1943240"/>
            <a:ext cx="2970734" cy="390987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B79406D-E255-BD62-D3F6-B22F31C770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172251">
            <a:off x="7330635" y="4263265"/>
            <a:ext cx="2507848" cy="188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009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loss tolerance</a:t>
            </a:r>
            <a:endParaRPr lang="ru-RU" dirty="0"/>
          </a:p>
          <a:p>
            <a:r>
              <a:rPr lang="en-US" dirty="0"/>
              <a:t>Simple message delivery</a:t>
            </a:r>
            <a:endParaRPr lang="ru-RU" dirty="0"/>
          </a:p>
          <a:p>
            <a:r>
              <a:rPr lang="en-US" dirty="0"/>
              <a:t>High throughput, scalability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39536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loss tolerance</a:t>
            </a:r>
            <a:endParaRPr lang="ru-RU" dirty="0"/>
          </a:p>
          <a:p>
            <a:r>
              <a:rPr lang="en-US" dirty="0"/>
              <a:t>Simple message delivery</a:t>
            </a:r>
            <a:endParaRPr lang="ru-RU" dirty="0"/>
          </a:p>
          <a:p>
            <a:r>
              <a:rPr lang="en-US" dirty="0"/>
              <a:t>High throughput, scalability</a:t>
            </a:r>
          </a:p>
          <a:p>
            <a:endParaRPr lang="ru-RU" dirty="0"/>
          </a:p>
          <a:p>
            <a:r>
              <a:rPr lang="en-US" b="1" dirty="0"/>
              <a:t>NATS</a:t>
            </a:r>
          </a:p>
          <a:p>
            <a:r>
              <a:rPr lang="en-US" dirty="0"/>
              <a:t>NSQ</a:t>
            </a:r>
          </a:p>
          <a:p>
            <a:r>
              <a:rPr lang="en-US" dirty="0" err="1"/>
              <a:t>ZeroMQ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241900D-B6D6-3C2F-58B1-232B8A332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5637" y="320095"/>
            <a:ext cx="1143272" cy="118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3798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give it a try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9451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give it a try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SQS (Simple Queue Service)</a:t>
            </a:r>
          </a:p>
          <a:p>
            <a:pPr lvl="1"/>
            <a:r>
              <a:rPr lang="en-US" dirty="0"/>
              <a:t>Amazon, GCP, … </a:t>
            </a:r>
            <a:endParaRPr lang="ru-RU" dirty="0"/>
          </a:p>
          <a:p>
            <a:r>
              <a:rPr lang="en-US" dirty="0" err="1"/>
              <a:t>CloudAMQP</a:t>
            </a:r>
            <a:endParaRPr lang="en-US" dirty="0"/>
          </a:p>
          <a:p>
            <a:r>
              <a:rPr lang="en-US" dirty="0"/>
              <a:t>Simple brokers</a:t>
            </a:r>
            <a:r>
              <a:rPr lang="ru-RU" dirty="0"/>
              <a:t>: </a:t>
            </a:r>
            <a:r>
              <a:rPr lang="en-US" dirty="0"/>
              <a:t>RabbitMQ, Redis, NATS</a:t>
            </a:r>
            <a:br>
              <a:rPr lang="ru-RU" dirty="0"/>
            </a:br>
            <a:r>
              <a:rPr lang="en-US" dirty="0"/>
              <a:t>(</a:t>
            </a:r>
            <a:r>
              <a:rPr lang="en-GB" dirty="0"/>
              <a:t>watch out for durability and availability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5DE28C2-E501-EA58-842E-E4A6B8AFE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361893" y="407702"/>
            <a:ext cx="1247016" cy="101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3222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cloud applications</a:t>
            </a:r>
          </a:p>
          <a:p>
            <a:r>
              <a:rPr lang="en-US" dirty="0"/>
              <a:t>For microservices</a:t>
            </a:r>
          </a:p>
          <a:p>
            <a:r>
              <a:rPr lang="en-US" dirty="0"/>
              <a:t>For serverless architecture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46163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cloud applications</a:t>
            </a:r>
          </a:p>
          <a:p>
            <a:r>
              <a:rPr lang="en-US" dirty="0"/>
              <a:t>For microservices</a:t>
            </a:r>
          </a:p>
          <a:p>
            <a:r>
              <a:rPr lang="en-US" dirty="0"/>
              <a:t>For serverless architecture</a:t>
            </a:r>
            <a:endParaRPr lang="ru-RU" dirty="0"/>
          </a:p>
          <a:p>
            <a:endParaRPr lang="en-US" dirty="0"/>
          </a:p>
          <a:p>
            <a:r>
              <a:rPr lang="en-US" dirty="0"/>
              <a:t>SQS (Simple Queue Service)</a:t>
            </a:r>
          </a:p>
          <a:p>
            <a:pPr lvl="1"/>
            <a:r>
              <a:rPr lang="en-US" dirty="0"/>
              <a:t>Amazon, GCP, … </a:t>
            </a:r>
          </a:p>
          <a:p>
            <a:r>
              <a:rPr lang="en-US" dirty="0"/>
              <a:t>Amazon </a:t>
            </a:r>
            <a:r>
              <a:rPr lang="en-US" dirty="0" err="1"/>
              <a:t>EventBridge</a:t>
            </a:r>
            <a:endParaRPr lang="en-US" dirty="0"/>
          </a:p>
          <a:p>
            <a:r>
              <a:rPr lang="en-US" dirty="0"/>
              <a:t>NATS</a:t>
            </a:r>
            <a:endParaRPr lang="ru-RU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90DF8D-CF82-ED1F-0513-BD5B66A89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469966" y="320163"/>
            <a:ext cx="1138943" cy="118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4555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 streaming architecture</a:t>
            </a:r>
          </a:p>
          <a:p>
            <a:r>
              <a:rPr lang="en-US" dirty="0"/>
              <a:t>High requirements for durability</a:t>
            </a:r>
          </a:p>
          <a:p>
            <a:r>
              <a:rPr lang="en-US" dirty="0"/>
              <a:t>Strict FIFO</a:t>
            </a:r>
            <a:endParaRPr lang="ru-RU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59311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up a streaming architecture</a:t>
            </a:r>
          </a:p>
          <a:p>
            <a:r>
              <a:rPr lang="en-US" dirty="0"/>
              <a:t>High requirements for durability</a:t>
            </a:r>
          </a:p>
          <a:p>
            <a:r>
              <a:rPr lang="en-US" dirty="0"/>
              <a:t>Strict FIFO</a:t>
            </a:r>
            <a:endParaRPr lang="ru-RU" dirty="0"/>
          </a:p>
          <a:p>
            <a:endParaRPr lang="en-US" dirty="0"/>
          </a:p>
          <a:p>
            <a:r>
              <a:rPr lang="en-US" dirty="0"/>
              <a:t>Apache Kafka / RedPanda</a:t>
            </a:r>
          </a:p>
          <a:p>
            <a:r>
              <a:rPr lang="en-US" dirty="0"/>
              <a:t>NATS </a:t>
            </a:r>
            <a:r>
              <a:rPr lang="en-US" dirty="0" err="1"/>
              <a:t>JetStream</a:t>
            </a:r>
            <a:endParaRPr lang="en-US" dirty="0"/>
          </a:p>
          <a:p>
            <a:r>
              <a:rPr lang="en-US" dirty="0"/>
              <a:t>Apache Pulsar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6C2259-2B37-5DFA-7949-CB7F8C8E0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83339" y="262525"/>
            <a:ext cx="825570" cy="13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441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processing scenarios and chains</a:t>
            </a:r>
          </a:p>
          <a:p>
            <a:r>
              <a:rPr lang="en-US" dirty="0"/>
              <a:t>Delayed processing, rescheduling</a:t>
            </a:r>
          </a:p>
          <a:p>
            <a:r>
              <a:rPr lang="en-US" dirty="0"/>
              <a:t>Arbitrary topologies</a:t>
            </a:r>
          </a:p>
          <a:p>
            <a:r>
              <a:rPr lang="en-US" dirty="0"/>
              <a:t>Dependent events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90756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277D-4CCA-554F-8791-621FA8C8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&amp; how to?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04E-FE57-334B-8574-612C19BC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processing scenarios and chains</a:t>
            </a:r>
          </a:p>
          <a:p>
            <a:r>
              <a:rPr lang="en-US" dirty="0"/>
              <a:t>Delayed processing, rescheduling</a:t>
            </a:r>
          </a:p>
          <a:p>
            <a:r>
              <a:rPr lang="en-US" dirty="0"/>
              <a:t>Arbitrary topologies</a:t>
            </a:r>
          </a:p>
          <a:p>
            <a:r>
              <a:rPr lang="en-US" dirty="0"/>
              <a:t>Dependent events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Tarantool</a:t>
            </a:r>
            <a:endParaRPr lang="ru-RU" dirty="0"/>
          </a:p>
          <a:p>
            <a:r>
              <a:rPr lang="en-US" dirty="0"/>
              <a:t>RabbitMQ</a:t>
            </a:r>
          </a:p>
          <a:p>
            <a:r>
              <a:rPr lang="en-US" dirty="0"/>
              <a:t>NATS (for topology)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302D256-1C3B-D7E1-E775-B861ECEEB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50045" y="385349"/>
            <a:ext cx="1058864" cy="105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1960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346F-8DD9-67F9-AE71-EE5A426C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What’s next? Apache Kafka!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36D0-0FBE-F757-5502-540D73C0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U" dirty="0"/>
              <a:t>Architecture of Kafka and why it’s so popular</a:t>
            </a:r>
          </a:p>
          <a:p>
            <a:r>
              <a:rPr lang="en-RU" dirty="0"/>
              <a:t>The principles behind and main properties</a:t>
            </a:r>
          </a:p>
          <a:p>
            <a:r>
              <a:rPr lang="en-RU" dirty="0"/>
              <a:t>Stream processing and EventSourcing with Kafka Streams</a:t>
            </a:r>
          </a:p>
          <a:p>
            <a:r>
              <a:rPr lang="en-RU" dirty="0"/>
              <a:t>Deployment topologies, Mirroring</a:t>
            </a:r>
          </a:p>
          <a:p>
            <a:r>
              <a:rPr lang="en-RU" dirty="0"/>
              <a:t>Cluster parameters tuning</a:t>
            </a:r>
          </a:p>
          <a:p>
            <a:r>
              <a:rPr lang="en-RU" dirty="0"/>
              <a:t>Working with Kafka from Python and Go</a:t>
            </a:r>
          </a:p>
        </p:txBody>
      </p:sp>
    </p:spTree>
    <p:extLst>
      <p:ext uri="{BB962C8B-B14F-4D97-AF65-F5344CB8AC3E}">
        <p14:creationId xmlns:p14="http://schemas.microsoft.com/office/powerpoint/2010/main" val="181698702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94DE-0370-1E50-9814-91975FB0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it a try: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CB69-96E0-163E-9285-BE7FCE16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 simple processing pipeline:</a:t>
            </a:r>
          </a:p>
          <a:p>
            <a:r>
              <a:rPr lang="en-US" dirty="0"/>
              <a:t>Run/use any broker of your choice</a:t>
            </a:r>
          </a:p>
          <a:p>
            <a:r>
              <a:rPr lang="en-US" dirty="0"/>
              <a:t>Create minimal producer (infinite generation of messages)</a:t>
            </a:r>
          </a:p>
          <a:p>
            <a:r>
              <a:rPr lang="en-US" dirty="0"/>
              <a:t>Create minimal consumer (forever consume messages)</a:t>
            </a:r>
          </a:p>
          <a:p>
            <a:r>
              <a:rPr lang="en-US" dirty="0"/>
              <a:t>Run several producers and several consumer simultaneously</a:t>
            </a:r>
          </a:p>
        </p:txBody>
      </p:sp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B0080BD3-1B02-0C2E-BC55-FCEDCBF8D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00200" y="4465140"/>
            <a:ext cx="8991600" cy="202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738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64A4-8A39-E4C5-DF94-F8AFB9573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CE711-E1BD-72C5-9593-D26AC50E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it a try: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15FAC-BBF1-95E9-1081-4A6B4498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 simple processing pipeline:</a:t>
            </a:r>
          </a:p>
          <a:p>
            <a:r>
              <a:rPr lang="en-US" dirty="0"/>
              <a:t>Run/use any broker of your choice</a:t>
            </a:r>
          </a:p>
          <a:p>
            <a:r>
              <a:rPr lang="en-US" dirty="0"/>
              <a:t>Create minimal producer and consumer</a:t>
            </a:r>
          </a:p>
          <a:p>
            <a:r>
              <a:rPr lang="en-US" dirty="0"/>
              <a:t>Run several producers and several consumer simultaneously</a:t>
            </a:r>
          </a:p>
          <a:p>
            <a:endParaRPr lang="en-US" dirty="0"/>
          </a:p>
          <a:p>
            <a:r>
              <a:rPr lang="en-US" dirty="0"/>
              <a:t>Use your favorite language</a:t>
            </a:r>
          </a:p>
          <a:p>
            <a:r>
              <a:rPr lang="en-US" dirty="0"/>
              <a:t>Prepare questions</a:t>
            </a:r>
          </a:p>
        </p:txBody>
      </p:sp>
    </p:spTree>
    <p:extLst>
      <p:ext uri="{BB962C8B-B14F-4D97-AF65-F5344CB8AC3E}">
        <p14:creationId xmlns:p14="http://schemas.microsoft.com/office/powerpoint/2010/main" val="165439410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C5DB-85BA-5F2E-C33D-8E7F0D72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0FB72-FBE2-54DB-F8FA-7C931134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 it a try: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1BBC4-31E8-9EF1-20CB-388246D2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 simple processing pipeline:</a:t>
            </a:r>
          </a:p>
          <a:p>
            <a:r>
              <a:rPr lang="en-US" dirty="0"/>
              <a:t>Run/use any broker of your choice</a:t>
            </a:r>
          </a:p>
          <a:p>
            <a:r>
              <a:rPr lang="en-US" dirty="0"/>
              <a:t>Create minimal producer and consumer</a:t>
            </a:r>
          </a:p>
          <a:p>
            <a:r>
              <a:rPr lang="en-US" dirty="0"/>
              <a:t>Run several producers and several consumer simultaneously</a:t>
            </a:r>
          </a:p>
          <a:p>
            <a:endParaRPr lang="en-US" dirty="0"/>
          </a:p>
          <a:p>
            <a:r>
              <a:rPr lang="en-US" dirty="0"/>
              <a:t>Use your favorite language</a:t>
            </a:r>
          </a:p>
          <a:p>
            <a:r>
              <a:rPr lang="en-US" dirty="0"/>
              <a:t>Prepare questions</a:t>
            </a:r>
          </a:p>
          <a:p>
            <a:endParaRPr lang="en-US" dirty="0"/>
          </a:p>
          <a:p>
            <a:r>
              <a:rPr lang="en-US" dirty="0"/>
              <a:t>ChatGPT could help you</a:t>
            </a:r>
          </a:p>
        </p:txBody>
      </p:sp>
    </p:spTree>
    <p:extLst>
      <p:ext uri="{BB962C8B-B14F-4D97-AF65-F5344CB8AC3E}">
        <p14:creationId xmlns:p14="http://schemas.microsoft.com/office/powerpoint/2010/main" val="1965809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7021</TotalTime>
  <Words>6599</Words>
  <Application>Microsoft Macintosh PowerPoint</Application>
  <PresentationFormat>Widescreen</PresentationFormat>
  <Paragraphs>1080</Paragraphs>
  <Slides>149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7" baseType="lpstr">
      <vt:lpstr>Arial</vt:lpstr>
      <vt:lpstr>Calibri</vt:lpstr>
      <vt:lpstr>Calibri Light</vt:lpstr>
      <vt:lpstr>Fira Code</vt:lpstr>
      <vt:lpstr>TT Travels Bold</vt:lpstr>
      <vt:lpstr>TT Travels Regular</vt:lpstr>
      <vt:lpstr>Wingdings</vt:lpstr>
      <vt:lpstr>Office Theme</vt:lpstr>
      <vt:lpstr>PowerPoint Presentation</vt:lpstr>
      <vt:lpstr>Who am I?</vt:lpstr>
      <vt:lpstr>Full plan</vt:lpstr>
      <vt:lpstr>What is a queue?</vt:lpstr>
      <vt:lpstr>What are queues for?</vt:lpstr>
      <vt:lpstr>Task distribution</vt:lpstr>
      <vt:lpstr>Task distribution</vt:lpstr>
      <vt:lpstr>Task distribution</vt:lpstr>
      <vt:lpstr>Task distribution</vt:lpstr>
      <vt:lpstr>Task distribution</vt:lpstr>
      <vt:lpstr>Task distribution</vt:lpstr>
      <vt:lpstr>What are queues used for?</vt:lpstr>
      <vt:lpstr>Execution scheduling</vt:lpstr>
      <vt:lpstr>Execution scheduling</vt:lpstr>
      <vt:lpstr>What are queues used for?</vt:lpstr>
      <vt:lpstr>What are queues used for?</vt:lpstr>
      <vt:lpstr>What are queues used for?</vt:lpstr>
      <vt:lpstr>What are queues used for?</vt:lpstr>
      <vt:lpstr>What are queues used for?</vt:lpstr>
      <vt:lpstr>Where are queues used?</vt:lpstr>
      <vt:lpstr>Where queues are used?</vt:lpstr>
      <vt:lpstr>Where queues are used?</vt:lpstr>
      <vt:lpstr>Where queues are used?</vt:lpstr>
      <vt:lpstr>Where queues are used?</vt:lpstr>
      <vt:lpstr>Where queues are used?</vt:lpstr>
      <vt:lpstr>Where queues are used?</vt:lpstr>
      <vt:lpstr>Where queues are used?</vt:lpstr>
      <vt:lpstr>What is a Queue?</vt:lpstr>
      <vt:lpstr>What is a queue?</vt:lpstr>
      <vt:lpstr>What is a queue?</vt:lpstr>
      <vt:lpstr>What is a queue?</vt:lpstr>
      <vt:lpstr>Put/Take</vt:lpstr>
      <vt:lpstr>What is a queue?</vt:lpstr>
      <vt:lpstr>Pub/Sub</vt:lpstr>
      <vt:lpstr>What is a queue?</vt:lpstr>
      <vt:lpstr>What is a queue?</vt:lpstr>
      <vt:lpstr>What are the options?</vt:lpstr>
      <vt:lpstr>What are the options?</vt:lpstr>
      <vt:lpstr>What are the options?</vt:lpstr>
      <vt:lpstr>What are the options?</vt:lpstr>
      <vt:lpstr>What are the options?</vt:lpstr>
      <vt:lpstr>Who are the players?</vt:lpstr>
      <vt:lpstr>Apache Kafka</vt:lpstr>
      <vt:lpstr>Red Panda</vt:lpstr>
      <vt:lpstr>RabbitMQ</vt:lpstr>
      <vt:lpstr>Managed Cloud Queue</vt:lpstr>
      <vt:lpstr>NATS Messaging</vt:lpstr>
      <vt:lpstr>Redis</vt:lpstr>
      <vt:lpstr>Tarantool</vt:lpstr>
      <vt:lpstr>Problems and Algorithms</vt:lpstr>
      <vt:lpstr>Possible problems</vt:lpstr>
      <vt:lpstr>Algorithms</vt:lpstr>
      <vt:lpstr>Algorithms</vt:lpstr>
      <vt:lpstr>Algorithms</vt:lpstr>
      <vt:lpstr>Algorithms</vt:lpstr>
      <vt:lpstr>Algorithms</vt:lpstr>
      <vt:lpstr>Algorithms</vt:lpstr>
      <vt:lpstr>Algorithms</vt:lpstr>
      <vt:lpstr>Algorithms</vt:lpstr>
      <vt:lpstr>Algorithms</vt:lpstr>
      <vt:lpstr>Algorithms</vt:lpstr>
      <vt:lpstr>Algorithms</vt:lpstr>
      <vt:lpstr>Would you like yet more?</vt:lpstr>
      <vt:lpstr>Would you like yet more?</vt:lpstr>
      <vt:lpstr>Would you like yet more?</vt:lpstr>
      <vt:lpstr>Would you like yet more?</vt:lpstr>
      <vt:lpstr>Would you like yet more?</vt:lpstr>
      <vt:lpstr>Would you like yet more?</vt:lpstr>
      <vt:lpstr>What’s next? Network</vt:lpstr>
      <vt:lpstr>Two Generals’ Problem</vt:lpstr>
      <vt:lpstr>Two Generals’ Problem</vt:lpstr>
      <vt:lpstr>Two Generals’ Problem</vt:lpstr>
      <vt:lpstr>Two Generals’ Problem</vt:lpstr>
      <vt:lpstr>Two Generals’ Problem</vt:lpstr>
      <vt:lpstr>Two Generals’ Problem</vt:lpstr>
      <vt:lpstr>Solution for “exactly once”</vt:lpstr>
      <vt:lpstr>Solution for “exactly once”</vt:lpstr>
      <vt:lpstr>Solution for “exactly once”</vt:lpstr>
      <vt:lpstr>2nd Solution for “exactly once”</vt:lpstr>
      <vt:lpstr>2nd Solution for “exactly once”</vt:lpstr>
      <vt:lpstr>Problems: network &amp; disk</vt:lpstr>
      <vt:lpstr>Outages &amp; failures</vt:lpstr>
      <vt:lpstr>Outages &amp; failures</vt:lpstr>
      <vt:lpstr>Outages &amp; failures</vt:lpstr>
      <vt:lpstr>Outages &amp; failures</vt:lpstr>
      <vt:lpstr>Outages &amp; failures</vt:lpstr>
      <vt:lpstr>Reliability explained</vt:lpstr>
      <vt:lpstr>Reliability explained</vt:lpstr>
      <vt:lpstr>Reliability explained</vt:lpstr>
      <vt:lpstr>Reliability explained</vt:lpstr>
      <vt:lpstr>Reliability explained</vt:lpstr>
      <vt:lpstr>Main queue properties</vt:lpstr>
      <vt:lpstr>Main queue properties</vt:lpstr>
      <vt:lpstr>Main queue properties</vt:lpstr>
      <vt:lpstr>Main queue properties</vt:lpstr>
      <vt:lpstr>Topology overview</vt:lpstr>
      <vt:lpstr>Topology: single instance</vt:lpstr>
      <vt:lpstr>Topology: single instance</vt:lpstr>
      <vt:lpstr>Topology: single instance</vt:lpstr>
      <vt:lpstr>Topology: single instance</vt:lpstr>
      <vt:lpstr>Topology: single instance</vt:lpstr>
      <vt:lpstr>Topology: single instance</vt:lpstr>
      <vt:lpstr>Topology: multi-instance</vt:lpstr>
      <vt:lpstr>Multiple queues, put to 1</vt:lpstr>
      <vt:lpstr>Multiple queues, put to 1</vt:lpstr>
      <vt:lpstr>Multiple queues, put to K/N</vt:lpstr>
      <vt:lpstr>Multiple queues, put to K/N</vt:lpstr>
      <vt:lpstr>Multiple queues, put to K/N</vt:lpstr>
      <vt:lpstr>Replication</vt:lpstr>
      <vt:lpstr>Replicated queues, 1/N</vt:lpstr>
      <vt:lpstr>Replicated queues, 1/N</vt:lpstr>
      <vt:lpstr>Replicated queues, 1/N</vt:lpstr>
      <vt:lpstr>Replicated queues, 1/N</vt:lpstr>
      <vt:lpstr>“Like a database”: quorum</vt:lpstr>
      <vt:lpstr>Quorum queue cluster</vt:lpstr>
      <vt:lpstr>Quorum queue cluster</vt:lpstr>
      <vt:lpstr>Quorum queue cluster</vt:lpstr>
      <vt:lpstr>Quorum queue cluster</vt:lpstr>
      <vt:lpstr>Replicated queue, 1/N</vt:lpstr>
      <vt:lpstr>Quorum queues, 1/N</vt:lpstr>
      <vt:lpstr>Quorum queues, 1/N</vt:lpstr>
      <vt:lpstr>Quorum queues, 1/N</vt:lpstr>
      <vt:lpstr>What else to know?</vt:lpstr>
      <vt:lpstr>Protocols &amp; limitations</vt:lpstr>
      <vt:lpstr>Monitoring &amp; maintenance</vt:lpstr>
      <vt:lpstr>Monitoring &amp; maintenance</vt:lpstr>
      <vt:lpstr>Monitoring &amp; maintenance</vt:lpstr>
      <vt:lpstr>Monitoring &amp; maintenance</vt:lpstr>
      <vt:lpstr>Monitoring &amp; maintenance</vt:lpstr>
      <vt:lpstr>Monitoring &amp; maintenance</vt:lpstr>
      <vt:lpstr>Maintenance: plan a failure</vt:lpstr>
      <vt:lpstr>Maintenance: plan a failure</vt:lpstr>
      <vt:lpstr>Maintenance: plan a failure</vt:lpstr>
      <vt:lpstr>Maintenance: plan a failure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 if &amp; how to?</vt:lpstr>
      <vt:lpstr>What’s next? Apache Kafka!</vt:lpstr>
      <vt:lpstr>Give it a try: homework</vt:lpstr>
      <vt:lpstr>Give it a try: homework</vt:lpstr>
      <vt:lpstr>Give it a try: 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 Crash Course</dc:title>
  <dc:creator>Mons Anderson</dc:creator>
  <cp:lastModifiedBy>Volodymyr Perepelytsya</cp:lastModifiedBy>
  <cp:revision>136</cp:revision>
  <dcterms:created xsi:type="dcterms:W3CDTF">2024-06-09T09:27:57Z</dcterms:created>
  <dcterms:modified xsi:type="dcterms:W3CDTF">2025-11-11T15:51:15Z</dcterms:modified>
</cp:coreProperties>
</file>
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647" r:id="rId2"/>
    <p:sldId id="612" r:id="rId3"/>
    <p:sldId id="615" r:id="rId4"/>
    <p:sldId id="614" r:id="rId5"/>
    <p:sldId id="636" r:id="rId6"/>
    <p:sldId id="635" r:id="rId7"/>
    <p:sldId id="618" r:id="rId8"/>
    <p:sldId id="619" r:id="rId9"/>
    <p:sldId id="616" r:id="rId10"/>
    <p:sldId id="620" r:id="rId11"/>
    <p:sldId id="613" r:id="rId12"/>
    <p:sldId id="623" r:id="rId13"/>
    <p:sldId id="622" r:id="rId14"/>
    <p:sldId id="624" r:id="rId15"/>
    <p:sldId id="625" r:id="rId16"/>
    <p:sldId id="626" r:id="rId17"/>
    <p:sldId id="627" r:id="rId18"/>
    <p:sldId id="628" r:id="rId19"/>
    <p:sldId id="621" r:id="rId20"/>
    <p:sldId id="630" r:id="rId21"/>
    <p:sldId id="631" r:id="rId22"/>
    <p:sldId id="632" r:id="rId23"/>
    <p:sldId id="633" r:id="rId24"/>
    <p:sldId id="634" r:id="rId25"/>
    <p:sldId id="629" r:id="rId26"/>
    <p:sldId id="468" r:id="rId27"/>
    <p:sldId id="604" r:id="rId28"/>
    <p:sldId id="637" r:id="rId29"/>
    <p:sldId id="638" r:id="rId30"/>
    <p:sldId id="639" r:id="rId31"/>
    <p:sldId id="641" r:id="rId32"/>
    <p:sldId id="644" r:id="rId33"/>
    <p:sldId id="640" r:id="rId34"/>
    <p:sldId id="642" r:id="rId35"/>
    <p:sldId id="643" r:id="rId36"/>
    <p:sldId id="649" r:id="rId3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99"/>
    <p:restoredTop sz="95822"/>
  </p:normalViewPr>
  <p:slideViewPr>
    <p:cSldViewPr snapToGrid="0">
      <p:cViewPr varScale="1">
        <p:scale>
          <a:sx n="107" d="100"/>
          <a:sy n="107" d="100"/>
        </p:scale>
        <p:origin x="192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45E35-86FA-064D-8EEE-2E631EDDA7AF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25A73-5D88-3D4C-89F0-62E33B533BC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769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2DD9-B605-DE11-0DEB-6896E465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E2EA7-2FE3-F6BD-3B50-0749F19FB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FC2E8-B204-0A34-B850-5EC822B28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A6606-1417-ACF9-41CB-324283566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9610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6345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F246-EFD6-7197-5A2B-AC8CACA4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B8AA0-6061-2CC1-1791-12CA1109B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A700E-5891-5970-9B63-1F992B768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FCC75-EFCE-4AAB-FD4F-FF2003D89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36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00344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1A8D-6DAD-387A-E6E8-1BDDEFC18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625C0-4C9F-339B-09CE-28D81A8A1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F022-E432-49CC-477C-1E043DC1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0E8A2-8A28-EB75-A42B-CA01B13E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158AF-E39C-B044-4348-0ED7400B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8993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E9A-087B-311E-80E8-97E4ABA1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3376-5F0B-E3F7-7090-3610CF51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6C346-3888-DA43-52E0-0E7DDC12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016B-E3A9-FD88-3F17-EBBCD3B7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37128-28B1-B80C-FBEB-179FC037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564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97EE-06BB-0B11-5B8A-D6AB85AF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7FD9-7E2F-A1A1-9B34-108B0108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BF58A-9311-6663-B43F-5DE86692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69C6-3CA9-E4C6-9293-BF8D070E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87E4-9242-0503-2FCD-162EA6F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2149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EFD8-1771-879F-A49B-DADDC5DA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B115-432F-961F-329E-EB82F10EF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8DF4F-B795-48BD-E798-C7405781F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5ADA-0810-6A41-8A99-71A47FB8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A1227-A6EB-112D-089C-4982A4AD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A4A92-D329-DD30-45D2-39C4D990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993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33D2-DBB5-8227-6DD8-2284705A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FB92D-6FE4-399F-C0F4-F7C921A0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5F1A6-A7D4-29AE-948C-1A4A9D8C0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C67B6-C373-89A9-C875-762110872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F5696-48F8-0F50-BEB7-867680143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DC270-C59B-51F7-E94D-AB3E7E27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5343C-A508-1538-159F-82D8AFF8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B9904-C1CC-D3A5-85AA-BA431740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327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7335-1B19-E9B7-5496-8458B31D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3BA2E-23B1-CA0C-A073-D7D6C204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DDEC-B8F3-703C-157E-BC0BD084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36B6A-9353-1D5C-E84C-69A9BDE0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149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41677-5CBA-11E4-D65D-0F1D722C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2ED06-7036-E547-B92D-A13B8544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92113-B086-B43C-1A39-2F993E34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43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0E30-0569-4019-1488-F52F1AC1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8E7C-783D-0F15-528F-DB136067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7C2AE-2CD0-75A4-62C7-3BEB470B6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0B93-D43C-21B2-FFC2-B7E85D42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20B0A-79EC-B98F-320F-9BB9CC8F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7218C-682D-DC1A-8F4A-B08A44FA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140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756A-BAB4-99BB-2A88-99733C76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8B7A5-729E-E9DC-1740-2963ABD2D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D5E14-8951-7271-CB20-2CFB4D5DC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D9A54-4DC4-08B0-7903-6DA90E74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C7743-4C84-3D8A-F054-F2584554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77ACE-4D4E-4735-13BD-D9908C80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5500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4FCB-3855-E45A-4600-27A8B33E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6DCB-AB09-D879-DFCC-6437C21E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CF157-A4E1-CCD6-F23F-4CC8806B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F280-0B75-9C29-1D21-E4DFA67D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C54E-4685-78FC-112C-002D6D08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466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B30AF-76E1-DA3C-BA28-4D80FE86A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44EB4-A296-3510-7022-CCCB6F3EB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ACCA9-4A52-7AA6-1BB4-A4718331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FCF3-1928-BDAC-DB14-00AFD3C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A7BD9-66C9-AB20-40D5-9EDE5940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8058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B0CE64-2860-89AA-B54B-4E159ECC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E02E-64EB-3911-6F83-82A5FB0E9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CF7C2-A80E-11C7-A7E3-022F610E8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361C5-4659-EA48-BFE1-D8CA88959CE5}" type="datetimeFigureOut">
              <a:rPr lang="en-RU" smtClean="0"/>
              <a:t>11/20/25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E3758-E7DC-5CE6-2AF9-70D5B82E6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CF840-BE64-D021-4B97-258CDD067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9796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ervices.io/patterns/data/transactional-outbox.html" TargetMode="External"/><Relationship Id="rId2" Type="http://schemas.openxmlformats.org/officeDocument/2006/relationships/hyperlink" Target="https://softwaremill.com/microservices-101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bezium.io/" TargetMode="External"/><Relationship Id="rId5" Type="http://schemas.openxmlformats.org/officeDocument/2006/relationships/hyperlink" Target="https://en.wikipedia.org/wiki/Inbox_and_outbox_pattern" TargetMode="External"/><Relationship Id="rId4" Type="http://schemas.openxmlformats.org/officeDocument/2006/relationships/hyperlink" Target="https://microservices.io/patterns/data/transaction-log-tailing.html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5490-946E-DFEA-8F76-1CDAD814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556655-8BDB-7D44-8723-F5F81428F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4" b="694"/>
          <a:stretch/>
        </p:blipFill>
        <p:spPr>
          <a:xfrm>
            <a:off x="6979024" y="0"/>
            <a:ext cx="5212976" cy="6854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01E1A3E-CA17-89F3-27B5-986B95F10C9B}"/>
              </a:ext>
            </a:extLst>
          </p:cNvPr>
          <p:cNvSpPr txBox="1">
            <a:spLocks/>
          </p:cNvSpPr>
          <p:nvPr/>
        </p:nvSpPr>
        <p:spPr>
          <a:xfrm>
            <a:off x="640977" y="1861951"/>
            <a:ext cx="6338047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RU"/>
              <a:t>Queues Crash Course</a:t>
            </a:r>
            <a:endParaRPr lang="en-RU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119EF19-8B99-2325-4790-AB76938405BA}"/>
              </a:ext>
            </a:extLst>
          </p:cNvPr>
          <p:cNvSpPr txBox="1">
            <a:spLocks/>
          </p:cNvSpPr>
          <p:nvPr/>
        </p:nvSpPr>
        <p:spPr>
          <a:xfrm>
            <a:off x="640977" y="4341626"/>
            <a:ext cx="6338047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Transactional Outbox</a:t>
            </a:r>
          </a:p>
          <a:p>
            <a:pPr marL="0" indent="0">
              <a:buNone/>
            </a:pPr>
            <a:r>
              <a:rPr lang="en-US" dirty="0"/>
              <a:t>Transactional Inbox</a:t>
            </a:r>
          </a:p>
          <a:p>
            <a:pPr marL="0" indent="0">
              <a:buNone/>
            </a:pPr>
            <a:r>
              <a:rPr lang="en-US" dirty="0"/>
              <a:t>CDC (Change Data Capture)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6159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Distributed databases, same state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C313F26-6E2B-DC72-7AE3-E9B51BD5F54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123027" y="2877671"/>
            <a:ext cx="594594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A9C9CF6-FE5B-0724-9892-30F73D589059}"/>
              </a:ext>
            </a:extLst>
          </p:cNvPr>
          <p:cNvCxnSpPr>
            <a:cxnSpLocks/>
            <a:stCxn id="8" idx="1"/>
            <a:endCxn id="34" idx="3"/>
          </p:cNvCxnSpPr>
          <p:nvPr/>
        </p:nvCxnSpPr>
        <p:spPr>
          <a:xfrm flipH="1">
            <a:off x="8826021" y="4413863"/>
            <a:ext cx="700152" cy="1026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82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Distributed databases, same state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C313F26-6E2B-DC72-7AE3-E9B51BD5F54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123027" y="2877671"/>
            <a:ext cx="594594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A9C9CF6-FE5B-0724-9892-30F73D589059}"/>
              </a:ext>
            </a:extLst>
          </p:cNvPr>
          <p:cNvCxnSpPr>
            <a:cxnSpLocks/>
            <a:stCxn id="8" idx="1"/>
            <a:endCxn id="34" idx="3"/>
          </p:cNvCxnSpPr>
          <p:nvPr/>
        </p:nvCxnSpPr>
        <p:spPr>
          <a:xfrm flipH="1">
            <a:off x="8826021" y="4413863"/>
            <a:ext cx="700152" cy="1026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15B4F64-EA46-9170-23E4-1EEBDA81B81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665825" y="3734562"/>
            <a:ext cx="1943589" cy="198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488F95-5A33-7121-5804-7F3519EA87F4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580225" y="2877671"/>
            <a:ext cx="1029189" cy="8767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E4C73E3-EBE4-584F-6DC0-1A1100FFA163}"/>
              </a:ext>
            </a:extLst>
          </p:cNvPr>
          <p:cNvSpPr txBox="1"/>
          <p:nvPr/>
        </p:nvSpPr>
        <p:spPr>
          <a:xfrm>
            <a:off x="4609414" y="3569761"/>
            <a:ext cx="1434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How to sync?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12ED6D-0A95-DB6E-DFED-BDD3C176761E}"/>
              </a:ext>
            </a:extLst>
          </p:cNvPr>
          <p:cNvCxnSpPr>
            <a:cxnSpLocks/>
            <a:stCxn id="12" idx="2"/>
            <a:endCxn id="47" idx="0"/>
          </p:cNvCxnSpPr>
          <p:nvPr/>
        </p:nvCxnSpPr>
        <p:spPr>
          <a:xfrm flipH="1">
            <a:off x="3817712" y="3939093"/>
            <a:ext cx="1508758" cy="10674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2F978A-241A-B0E9-7453-7B4B0553E8A3}"/>
              </a:ext>
            </a:extLst>
          </p:cNvPr>
          <p:cNvCxnSpPr>
            <a:cxnSpLocks/>
            <a:stCxn id="12" idx="2"/>
            <a:endCxn id="34" idx="1"/>
          </p:cNvCxnSpPr>
          <p:nvPr/>
        </p:nvCxnSpPr>
        <p:spPr>
          <a:xfrm>
            <a:off x="5326470" y="3939093"/>
            <a:ext cx="2585151" cy="5773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212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outbox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5CF79C-D203-4ED7-9273-B240F1C88769}"/>
              </a:ext>
            </a:extLst>
          </p:cNvPr>
          <p:cNvCxnSpPr>
            <a:cxnSpLocks/>
            <a:stCxn id="5" idx="3"/>
            <a:endCxn id="66" idx="1"/>
          </p:cNvCxnSpPr>
          <p:nvPr/>
        </p:nvCxnSpPr>
        <p:spPr>
          <a:xfrm>
            <a:off x="3123027" y="2877671"/>
            <a:ext cx="2237100" cy="12298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36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outbox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5CF79C-D203-4ED7-9273-B240F1C88769}"/>
              </a:ext>
            </a:extLst>
          </p:cNvPr>
          <p:cNvCxnSpPr>
            <a:cxnSpLocks/>
            <a:stCxn id="5" idx="3"/>
            <a:endCxn id="66" idx="1"/>
          </p:cNvCxnSpPr>
          <p:nvPr/>
        </p:nvCxnSpPr>
        <p:spPr>
          <a:xfrm>
            <a:off x="3123027" y="2877671"/>
            <a:ext cx="2237100" cy="12298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91CA37-EB57-B899-775F-5EE23DFBD8B0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665825" y="3792071"/>
            <a:ext cx="2059090" cy="11110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19CB11-E24F-6B1A-047E-2D74458159DB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939988" y="3343656"/>
            <a:ext cx="784927" cy="15594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5951F5-ED8E-E0A2-3829-EC9B43AC4B3A}"/>
              </a:ext>
            </a:extLst>
          </p:cNvPr>
          <p:cNvSpPr txBox="1"/>
          <p:nvPr/>
        </p:nvSpPr>
        <p:spPr>
          <a:xfrm>
            <a:off x="4724915" y="4718409"/>
            <a:ext cx="1434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dirty="0"/>
              <a:t>How to sync?</a:t>
            </a:r>
          </a:p>
        </p:txBody>
      </p:sp>
    </p:spTree>
    <p:extLst>
      <p:ext uri="{BB962C8B-B14F-4D97-AF65-F5344CB8AC3E}">
        <p14:creationId xmlns:p14="http://schemas.microsoft.com/office/powerpoint/2010/main" val="110565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outbox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90097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outbox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8" name="Snip Single Corner of Rectangle 47">
            <a:extLst>
              <a:ext uri="{FF2B5EF4-FFF2-40B4-BE49-F238E27FC236}">
                <a16:creationId xmlns:a16="http://schemas.microsoft.com/office/drawing/2014/main" id="{9A11AA57-2F1C-FBFB-2182-2D5D0CCCBD60}"/>
              </a:ext>
            </a:extLst>
          </p:cNvPr>
          <p:cNvSpPr/>
          <p:nvPr/>
        </p:nvSpPr>
        <p:spPr>
          <a:xfrm>
            <a:off x="3123026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44480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outbox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8" name="Snip Single Corner of Rectangle 47">
            <a:extLst>
              <a:ext uri="{FF2B5EF4-FFF2-40B4-BE49-F238E27FC236}">
                <a16:creationId xmlns:a16="http://schemas.microsoft.com/office/drawing/2014/main" id="{9A11AA57-2F1C-FBFB-2182-2D5D0CCCBD60}"/>
              </a:ext>
            </a:extLst>
          </p:cNvPr>
          <p:cNvSpPr/>
          <p:nvPr/>
        </p:nvSpPr>
        <p:spPr>
          <a:xfrm>
            <a:off x="3123026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9E03094E-153B-2CE8-97EB-36477AD529CD}"/>
              </a:ext>
            </a:extLst>
          </p:cNvPr>
          <p:cNvSpPr/>
          <p:nvPr/>
        </p:nvSpPr>
        <p:spPr>
          <a:xfrm>
            <a:off x="5360126" y="5328263"/>
            <a:ext cx="2076097" cy="612648"/>
          </a:xfrm>
          <a:prstGeom prst="wedgeRoundRectCallout">
            <a:avLst>
              <a:gd name="adj1" fmla="val -109948"/>
              <a:gd name="adj2" fmla="val -152601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Queue-in-a-database</a:t>
            </a:r>
          </a:p>
        </p:txBody>
      </p:sp>
    </p:spTree>
    <p:extLst>
      <p:ext uri="{BB962C8B-B14F-4D97-AF65-F5344CB8AC3E}">
        <p14:creationId xmlns:p14="http://schemas.microsoft.com/office/powerpoint/2010/main" val="1404842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outbox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8" name="Snip Single Corner of Rectangle 47">
            <a:extLst>
              <a:ext uri="{FF2B5EF4-FFF2-40B4-BE49-F238E27FC236}">
                <a16:creationId xmlns:a16="http://schemas.microsoft.com/office/drawing/2014/main" id="{9A11AA57-2F1C-FBFB-2182-2D5D0CCCBD60}"/>
              </a:ext>
            </a:extLst>
          </p:cNvPr>
          <p:cNvSpPr/>
          <p:nvPr/>
        </p:nvSpPr>
        <p:spPr>
          <a:xfrm>
            <a:off x="3123026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690798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outbox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8" name="Snip Single Corner of Rectangle 47">
            <a:extLst>
              <a:ext uri="{FF2B5EF4-FFF2-40B4-BE49-F238E27FC236}">
                <a16:creationId xmlns:a16="http://schemas.microsoft.com/office/drawing/2014/main" id="{9A11AA57-2F1C-FBFB-2182-2D5D0CCCBD60}"/>
              </a:ext>
            </a:extLst>
          </p:cNvPr>
          <p:cNvSpPr/>
          <p:nvPr/>
        </p:nvSpPr>
        <p:spPr>
          <a:xfrm>
            <a:off x="3123026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574EB709-941E-28AA-0D9E-A769593332BD}"/>
              </a:ext>
            </a:extLst>
          </p:cNvPr>
          <p:cNvSpPr/>
          <p:nvPr/>
        </p:nvSpPr>
        <p:spPr>
          <a:xfrm>
            <a:off x="3977644" y="3218077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2D5D540E-C37E-AB9A-1FAC-F284F7AACA09}"/>
              </a:ext>
            </a:extLst>
          </p:cNvPr>
          <p:cNvSpPr/>
          <p:nvPr/>
        </p:nvSpPr>
        <p:spPr>
          <a:xfrm>
            <a:off x="2940051" y="5585395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identifier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E37A9C-2B70-81CF-32D3-BF747E75CF09}"/>
              </a:ext>
            </a:extLst>
          </p:cNvPr>
          <p:cNvGrpSpPr/>
          <p:nvPr/>
        </p:nvGrpSpPr>
        <p:grpSpPr>
          <a:xfrm>
            <a:off x="4989468" y="2214690"/>
            <a:ext cx="351873" cy="377139"/>
            <a:chOff x="7007717" y="5241983"/>
            <a:chExt cx="548224" cy="587589"/>
          </a:xfrm>
        </p:grpSpPr>
        <p:sp>
          <p:nvSpPr>
            <p:cNvPr id="9" name="Circular Arrow 8">
              <a:extLst>
                <a:ext uri="{FF2B5EF4-FFF2-40B4-BE49-F238E27FC236}">
                  <a16:creationId xmlns:a16="http://schemas.microsoft.com/office/drawing/2014/main" id="{E7498EBD-2226-FCDA-E3AB-F0DADD796178}"/>
                </a:ext>
              </a:extLst>
            </p:cNvPr>
            <p:cNvSpPr/>
            <p:nvPr/>
          </p:nvSpPr>
          <p:spPr>
            <a:xfrm>
              <a:off x="7007717" y="5241983"/>
              <a:ext cx="543451" cy="543451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Circular Arrow 11">
              <a:extLst>
                <a:ext uri="{FF2B5EF4-FFF2-40B4-BE49-F238E27FC236}">
                  <a16:creationId xmlns:a16="http://schemas.microsoft.com/office/drawing/2014/main" id="{FC08A0FB-CC4F-AACB-5A26-283F95647DEA}"/>
                </a:ext>
              </a:extLst>
            </p:cNvPr>
            <p:cNvSpPr/>
            <p:nvPr/>
          </p:nvSpPr>
          <p:spPr>
            <a:xfrm rot="10800000">
              <a:off x="7012490" y="5286121"/>
              <a:ext cx="543451" cy="543451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571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inbox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 flipV="1">
            <a:off x="7363439" y="4516463"/>
            <a:ext cx="554402" cy="4905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40" name="Internal Storage 39">
            <a:extLst>
              <a:ext uri="{FF2B5EF4-FFF2-40B4-BE49-F238E27FC236}">
                <a16:creationId xmlns:a16="http://schemas.microsoft.com/office/drawing/2014/main" id="{C72F6BEC-F3CF-7DF7-A028-49B281AFF221}"/>
              </a:ext>
            </a:extLst>
          </p:cNvPr>
          <p:cNvSpPr/>
          <p:nvPr/>
        </p:nvSpPr>
        <p:spPr>
          <a:xfrm>
            <a:off x="791784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86406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inbox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 flipV="1">
            <a:off x="7363439" y="4516463"/>
            <a:ext cx="554402" cy="4905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40" name="Internal Storage 39">
            <a:extLst>
              <a:ext uri="{FF2B5EF4-FFF2-40B4-BE49-F238E27FC236}">
                <a16:creationId xmlns:a16="http://schemas.microsoft.com/office/drawing/2014/main" id="{C72F6BEC-F3CF-7DF7-A028-49B281AFF221}"/>
              </a:ext>
            </a:extLst>
          </p:cNvPr>
          <p:cNvSpPr/>
          <p:nvPr/>
        </p:nvSpPr>
        <p:spPr>
          <a:xfrm>
            <a:off x="791784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Data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9BC351-2E08-6048-694D-059F29501C0E}"/>
              </a:ext>
            </a:extLst>
          </p:cNvPr>
          <p:cNvGrpSpPr/>
          <p:nvPr/>
        </p:nvGrpSpPr>
        <p:grpSpPr>
          <a:xfrm>
            <a:off x="4989468" y="2214690"/>
            <a:ext cx="351873" cy="377139"/>
            <a:chOff x="7007717" y="5241983"/>
            <a:chExt cx="548224" cy="587589"/>
          </a:xfrm>
        </p:grpSpPr>
        <p:sp>
          <p:nvSpPr>
            <p:cNvPr id="9" name="Circular Arrow 8">
              <a:extLst>
                <a:ext uri="{FF2B5EF4-FFF2-40B4-BE49-F238E27FC236}">
                  <a16:creationId xmlns:a16="http://schemas.microsoft.com/office/drawing/2014/main" id="{29F42C3D-5596-BF97-E2AF-E00FC51B5D42}"/>
                </a:ext>
              </a:extLst>
            </p:cNvPr>
            <p:cNvSpPr/>
            <p:nvPr/>
          </p:nvSpPr>
          <p:spPr>
            <a:xfrm>
              <a:off x="7007717" y="5241983"/>
              <a:ext cx="543451" cy="543451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Circular Arrow 11">
              <a:extLst>
                <a:ext uri="{FF2B5EF4-FFF2-40B4-BE49-F238E27FC236}">
                  <a16:creationId xmlns:a16="http://schemas.microsoft.com/office/drawing/2014/main" id="{C1EAF837-D3C3-0D75-CDEF-A97A2BCAEBD4}"/>
                </a:ext>
              </a:extLst>
            </p:cNvPr>
            <p:cNvSpPr/>
            <p:nvPr/>
          </p:nvSpPr>
          <p:spPr>
            <a:xfrm rot="10800000">
              <a:off x="7012490" y="5286121"/>
              <a:ext cx="543451" cy="543451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E2CF75-8FF6-7AE5-599E-FA435BB273D4}"/>
              </a:ext>
            </a:extLst>
          </p:cNvPr>
          <p:cNvGrpSpPr/>
          <p:nvPr/>
        </p:nvGrpSpPr>
        <p:grpSpPr>
          <a:xfrm>
            <a:off x="7173931" y="4379722"/>
            <a:ext cx="351873" cy="377139"/>
            <a:chOff x="7007717" y="5241983"/>
            <a:chExt cx="548224" cy="587589"/>
          </a:xfrm>
        </p:grpSpPr>
        <p:sp>
          <p:nvSpPr>
            <p:cNvPr id="17" name="Circular Arrow 16">
              <a:extLst>
                <a:ext uri="{FF2B5EF4-FFF2-40B4-BE49-F238E27FC236}">
                  <a16:creationId xmlns:a16="http://schemas.microsoft.com/office/drawing/2014/main" id="{14D2524D-E68E-BB08-57A2-05A692CD566B}"/>
                </a:ext>
              </a:extLst>
            </p:cNvPr>
            <p:cNvSpPr/>
            <p:nvPr/>
          </p:nvSpPr>
          <p:spPr>
            <a:xfrm>
              <a:off x="7007717" y="5241983"/>
              <a:ext cx="543451" cy="543451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20" name="Circular Arrow 19">
              <a:extLst>
                <a:ext uri="{FF2B5EF4-FFF2-40B4-BE49-F238E27FC236}">
                  <a16:creationId xmlns:a16="http://schemas.microsoft.com/office/drawing/2014/main" id="{4800AE87-5893-FC64-278E-445A452D0C1C}"/>
                </a:ext>
              </a:extLst>
            </p:cNvPr>
            <p:cNvSpPr/>
            <p:nvPr/>
          </p:nvSpPr>
          <p:spPr>
            <a:xfrm rot="10800000">
              <a:off x="7012490" y="5286121"/>
              <a:ext cx="543451" cy="543451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471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inbox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 flipV="1">
            <a:off x="7363439" y="4516463"/>
            <a:ext cx="554402" cy="4905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40" name="Internal Storage 39">
            <a:extLst>
              <a:ext uri="{FF2B5EF4-FFF2-40B4-BE49-F238E27FC236}">
                <a16:creationId xmlns:a16="http://schemas.microsoft.com/office/drawing/2014/main" id="{C72F6BEC-F3CF-7DF7-A028-49B281AFF221}"/>
              </a:ext>
            </a:extLst>
          </p:cNvPr>
          <p:cNvSpPr/>
          <p:nvPr/>
        </p:nvSpPr>
        <p:spPr>
          <a:xfrm>
            <a:off x="791784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2" name="Internal Storage 41">
            <a:extLst>
              <a:ext uri="{FF2B5EF4-FFF2-40B4-BE49-F238E27FC236}">
                <a16:creationId xmlns:a16="http://schemas.microsoft.com/office/drawing/2014/main" id="{DEB12991-E938-EE31-6A21-02E802838A1D}"/>
              </a:ext>
            </a:extLst>
          </p:cNvPr>
          <p:cNvSpPr/>
          <p:nvPr/>
        </p:nvSpPr>
        <p:spPr>
          <a:xfrm>
            <a:off x="7917841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Inbox</a:t>
            </a:r>
          </a:p>
        </p:txBody>
      </p:sp>
      <p:sp>
        <p:nvSpPr>
          <p:cNvPr id="43" name="Snip Single Corner of Rectangle 42">
            <a:extLst>
              <a:ext uri="{FF2B5EF4-FFF2-40B4-BE49-F238E27FC236}">
                <a16:creationId xmlns:a16="http://schemas.microsoft.com/office/drawing/2014/main" id="{56208500-4859-C09A-B2A6-D43342370EE0}"/>
              </a:ext>
            </a:extLst>
          </p:cNvPr>
          <p:cNvSpPr/>
          <p:nvPr/>
        </p:nvSpPr>
        <p:spPr>
          <a:xfrm>
            <a:off x="7680355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454D63-75F9-7AF8-A485-D18734BE423B}"/>
              </a:ext>
            </a:extLst>
          </p:cNvPr>
          <p:cNvCxnSpPr>
            <a:cxnSpLocks/>
            <a:stCxn id="33" idx="6"/>
            <a:endCxn id="42" idx="1"/>
          </p:cNvCxnSpPr>
          <p:nvPr/>
        </p:nvCxnSpPr>
        <p:spPr>
          <a:xfrm>
            <a:off x="7363439" y="5007038"/>
            <a:ext cx="554402" cy="34238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74AA0A98-E77D-F0FC-A163-47631DE34C67}"/>
              </a:ext>
            </a:extLst>
          </p:cNvPr>
          <p:cNvSpPr/>
          <p:nvPr/>
        </p:nvSpPr>
        <p:spPr>
          <a:xfrm>
            <a:off x="4399317" y="5823660"/>
            <a:ext cx="2830058" cy="612648"/>
          </a:xfrm>
          <a:prstGeom prst="wedgeRoundRectCallout">
            <a:avLst>
              <a:gd name="adj1" fmla="val 81806"/>
              <a:gd name="adj2" fmla="val -141626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Check-if-already-processed</a:t>
            </a:r>
          </a:p>
        </p:txBody>
      </p:sp>
    </p:spTree>
    <p:extLst>
      <p:ext uri="{BB962C8B-B14F-4D97-AF65-F5344CB8AC3E}">
        <p14:creationId xmlns:p14="http://schemas.microsoft.com/office/powerpoint/2010/main" val="22544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Transactional inbox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 flipV="1">
            <a:off x="7363439" y="4516463"/>
            <a:ext cx="554402" cy="4905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960290D3-300D-D214-55FE-C1B39B14E893}"/>
              </a:ext>
            </a:extLst>
          </p:cNvPr>
          <p:cNvSpPr/>
          <p:nvPr/>
        </p:nvSpPr>
        <p:spPr>
          <a:xfrm>
            <a:off x="5598992" y="5178226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40" name="Internal Storage 39">
            <a:extLst>
              <a:ext uri="{FF2B5EF4-FFF2-40B4-BE49-F238E27FC236}">
                <a16:creationId xmlns:a16="http://schemas.microsoft.com/office/drawing/2014/main" id="{C72F6BEC-F3CF-7DF7-A028-49B281AFF221}"/>
              </a:ext>
            </a:extLst>
          </p:cNvPr>
          <p:cNvSpPr/>
          <p:nvPr/>
        </p:nvSpPr>
        <p:spPr>
          <a:xfrm>
            <a:off x="791784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2" name="Internal Storage 41">
            <a:extLst>
              <a:ext uri="{FF2B5EF4-FFF2-40B4-BE49-F238E27FC236}">
                <a16:creationId xmlns:a16="http://schemas.microsoft.com/office/drawing/2014/main" id="{DEB12991-E938-EE31-6A21-02E802838A1D}"/>
              </a:ext>
            </a:extLst>
          </p:cNvPr>
          <p:cNvSpPr/>
          <p:nvPr/>
        </p:nvSpPr>
        <p:spPr>
          <a:xfrm>
            <a:off x="7917841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Inbox</a:t>
            </a:r>
          </a:p>
        </p:txBody>
      </p:sp>
      <p:sp>
        <p:nvSpPr>
          <p:cNvPr id="43" name="Snip Single Corner of Rectangle 42">
            <a:extLst>
              <a:ext uri="{FF2B5EF4-FFF2-40B4-BE49-F238E27FC236}">
                <a16:creationId xmlns:a16="http://schemas.microsoft.com/office/drawing/2014/main" id="{56208500-4859-C09A-B2A6-D43342370EE0}"/>
              </a:ext>
            </a:extLst>
          </p:cNvPr>
          <p:cNvSpPr/>
          <p:nvPr/>
        </p:nvSpPr>
        <p:spPr>
          <a:xfrm>
            <a:off x="7680355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454D63-75F9-7AF8-A485-D18734BE423B}"/>
              </a:ext>
            </a:extLst>
          </p:cNvPr>
          <p:cNvCxnSpPr>
            <a:cxnSpLocks/>
            <a:stCxn id="33" idx="6"/>
            <a:endCxn id="42" idx="1"/>
          </p:cNvCxnSpPr>
          <p:nvPr/>
        </p:nvCxnSpPr>
        <p:spPr>
          <a:xfrm>
            <a:off x="7363439" y="5007038"/>
            <a:ext cx="554402" cy="34238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37846E-F3C5-732B-FB35-703F879B0CE8}"/>
              </a:ext>
            </a:extLst>
          </p:cNvPr>
          <p:cNvSpPr/>
          <p:nvPr/>
        </p:nvSpPr>
        <p:spPr>
          <a:xfrm>
            <a:off x="3977644" y="3218077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</p:spTree>
    <p:extLst>
      <p:ext uri="{BB962C8B-B14F-4D97-AF65-F5344CB8AC3E}">
        <p14:creationId xmlns:p14="http://schemas.microsoft.com/office/powerpoint/2010/main" val="3872213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CDC: Change Data Capture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 flipV="1">
            <a:off x="7363439" y="4516463"/>
            <a:ext cx="554402" cy="4905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960290D3-300D-D214-55FE-C1B39B14E893}"/>
              </a:ext>
            </a:extLst>
          </p:cNvPr>
          <p:cNvSpPr/>
          <p:nvPr/>
        </p:nvSpPr>
        <p:spPr>
          <a:xfrm>
            <a:off x="5598992" y="5178226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40" name="Internal Storage 39">
            <a:extLst>
              <a:ext uri="{FF2B5EF4-FFF2-40B4-BE49-F238E27FC236}">
                <a16:creationId xmlns:a16="http://schemas.microsoft.com/office/drawing/2014/main" id="{C72F6BEC-F3CF-7DF7-A028-49B281AFF221}"/>
              </a:ext>
            </a:extLst>
          </p:cNvPr>
          <p:cNvSpPr/>
          <p:nvPr/>
        </p:nvSpPr>
        <p:spPr>
          <a:xfrm>
            <a:off x="791784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2" name="Internal Storage 41">
            <a:extLst>
              <a:ext uri="{FF2B5EF4-FFF2-40B4-BE49-F238E27FC236}">
                <a16:creationId xmlns:a16="http://schemas.microsoft.com/office/drawing/2014/main" id="{DEB12991-E938-EE31-6A21-02E802838A1D}"/>
              </a:ext>
            </a:extLst>
          </p:cNvPr>
          <p:cNvSpPr/>
          <p:nvPr/>
        </p:nvSpPr>
        <p:spPr>
          <a:xfrm>
            <a:off x="7917841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Inbox</a:t>
            </a:r>
          </a:p>
        </p:txBody>
      </p:sp>
      <p:sp>
        <p:nvSpPr>
          <p:cNvPr id="43" name="Snip Single Corner of Rectangle 42">
            <a:extLst>
              <a:ext uri="{FF2B5EF4-FFF2-40B4-BE49-F238E27FC236}">
                <a16:creationId xmlns:a16="http://schemas.microsoft.com/office/drawing/2014/main" id="{56208500-4859-C09A-B2A6-D43342370EE0}"/>
              </a:ext>
            </a:extLst>
          </p:cNvPr>
          <p:cNvSpPr/>
          <p:nvPr/>
        </p:nvSpPr>
        <p:spPr>
          <a:xfrm>
            <a:off x="7680355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454D63-75F9-7AF8-A485-D18734BE423B}"/>
              </a:ext>
            </a:extLst>
          </p:cNvPr>
          <p:cNvCxnSpPr>
            <a:cxnSpLocks/>
            <a:stCxn id="33" idx="6"/>
            <a:endCxn id="42" idx="1"/>
          </p:cNvCxnSpPr>
          <p:nvPr/>
        </p:nvCxnSpPr>
        <p:spPr>
          <a:xfrm>
            <a:off x="7363439" y="5007038"/>
            <a:ext cx="554402" cy="34238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37846E-F3C5-732B-FB35-703F879B0CE8}"/>
              </a:ext>
            </a:extLst>
          </p:cNvPr>
          <p:cNvSpPr/>
          <p:nvPr/>
        </p:nvSpPr>
        <p:spPr>
          <a:xfrm>
            <a:off x="3977644" y="3218077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</p:spTree>
    <p:extLst>
      <p:ext uri="{BB962C8B-B14F-4D97-AF65-F5344CB8AC3E}">
        <p14:creationId xmlns:p14="http://schemas.microsoft.com/office/powerpoint/2010/main" val="149576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CDC: Change Data Capture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0" name="Internal Storage 39">
            <a:extLst>
              <a:ext uri="{FF2B5EF4-FFF2-40B4-BE49-F238E27FC236}">
                <a16:creationId xmlns:a16="http://schemas.microsoft.com/office/drawing/2014/main" id="{C72F6BEC-F3CF-7DF7-A028-49B281AFF221}"/>
              </a:ext>
            </a:extLst>
          </p:cNvPr>
          <p:cNvSpPr/>
          <p:nvPr/>
        </p:nvSpPr>
        <p:spPr>
          <a:xfrm>
            <a:off x="791784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6A9AF5-ACB5-4335-D7B2-A2A8A954C96B}"/>
              </a:ext>
            </a:extLst>
          </p:cNvPr>
          <p:cNvSpPr/>
          <p:nvPr/>
        </p:nvSpPr>
        <p:spPr>
          <a:xfrm>
            <a:off x="5410200" y="2959967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CDC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D06717-9C14-AACB-0919-5978A3CA518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123026" y="3417167"/>
            <a:ext cx="2287174" cy="10992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A0E8C-4A23-A14B-05EC-E5738558608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324600" y="3417167"/>
            <a:ext cx="2743785" cy="10992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1973A4-63B0-A12E-EB56-CBBE42B582BF}"/>
              </a:ext>
            </a:extLst>
          </p:cNvPr>
          <p:cNvSpPr txBox="1"/>
          <p:nvPr/>
        </p:nvSpPr>
        <p:spPr>
          <a:xfrm>
            <a:off x="3433263" y="3689701"/>
            <a:ext cx="1748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Capture changes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5CB273-F9B1-243B-7519-A9F619A72C37}"/>
              </a:ext>
            </a:extLst>
          </p:cNvPr>
          <p:cNvSpPr txBox="1"/>
          <p:nvPr/>
        </p:nvSpPr>
        <p:spPr>
          <a:xfrm>
            <a:off x="6595879" y="3667782"/>
            <a:ext cx="166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Deliver changes</a:t>
            </a:r>
          </a:p>
        </p:txBody>
      </p:sp>
    </p:spTree>
    <p:extLst>
      <p:ext uri="{BB962C8B-B14F-4D97-AF65-F5344CB8AC3E}">
        <p14:creationId xmlns:p14="http://schemas.microsoft.com/office/powerpoint/2010/main" val="2740728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CDC: Change Data Capture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40" idx="1"/>
          </p:cNvCxnSpPr>
          <p:nvPr/>
        </p:nvCxnSpPr>
        <p:spPr>
          <a:xfrm flipV="1">
            <a:off x="7363439" y="4516463"/>
            <a:ext cx="554402" cy="4905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40" name="Internal Storage 39">
            <a:extLst>
              <a:ext uri="{FF2B5EF4-FFF2-40B4-BE49-F238E27FC236}">
                <a16:creationId xmlns:a16="http://schemas.microsoft.com/office/drawing/2014/main" id="{C72F6BEC-F3CF-7DF7-A028-49B281AFF221}"/>
              </a:ext>
            </a:extLst>
          </p:cNvPr>
          <p:cNvSpPr/>
          <p:nvPr/>
        </p:nvSpPr>
        <p:spPr>
          <a:xfrm>
            <a:off x="7917841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2" name="Internal Storage 41">
            <a:extLst>
              <a:ext uri="{FF2B5EF4-FFF2-40B4-BE49-F238E27FC236}">
                <a16:creationId xmlns:a16="http://schemas.microsoft.com/office/drawing/2014/main" id="{DEB12991-E938-EE31-6A21-02E802838A1D}"/>
              </a:ext>
            </a:extLst>
          </p:cNvPr>
          <p:cNvSpPr/>
          <p:nvPr/>
        </p:nvSpPr>
        <p:spPr>
          <a:xfrm>
            <a:off x="7917841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Inbox</a:t>
            </a:r>
          </a:p>
        </p:txBody>
      </p:sp>
      <p:sp>
        <p:nvSpPr>
          <p:cNvPr id="43" name="Snip Single Corner of Rectangle 42">
            <a:extLst>
              <a:ext uri="{FF2B5EF4-FFF2-40B4-BE49-F238E27FC236}">
                <a16:creationId xmlns:a16="http://schemas.microsoft.com/office/drawing/2014/main" id="{56208500-4859-C09A-B2A6-D43342370EE0}"/>
              </a:ext>
            </a:extLst>
          </p:cNvPr>
          <p:cNvSpPr/>
          <p:nvPr/>
        </p:nvSpPr>
        <p:spPr>
          <a:xfrm>
            <a:off x="7680355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454D63-75F9-7AF8-A485-D18734BE423B}"/>
              </a:ext>
            </a:extLst>
          </p:cNvPr>
          <p:cNvCxnSpPr>
            <a:cxnSpLocks/>
            <a:stCxn id="33" idx="6"/>
            <a:endCxn id="42" idx="1"/>
          </p:cNvCxnSpPr>
          <p:nvPr/>
        </p:nvCxnSpPr>
        <p:spPr>
          <a:xfrm>
            <a:off x="7363439" y="5007038"/>
            <a:ext cx="554402" cy="34238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69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CDC: Change Data Capture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9" idx="1"/>
          </p:cNvCxnSpPr>
          <p:nvPr/>
        </p:nvCxnSpPr>
        <p:spPr>
          <a:xfrm flipV="1">
            <a:off x="7363439" y="4847085"/>
            <a:ext cx="548182" cy="1599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9" name="Internal Storage 8">
            <a:extLst>
              <a:ext uri="{FF2B5EF4-FFF2-40B4-BE49-F238E27FC236}">
                <a16:creationId xmlns:a16="http://schemas.microsoft.com/office/drawing/2014/main" id="{B81CA480-7E87-FCA4-E328-3D0F97545046}"/>
              </a:ext>
            </a:extLst>
          </p:cNvPr>
          <p:cNvSpPr/>
          <p:nvPr/>
        </p:nvSpPr>
        <p:spPr>
          <a:xfrm>
            <a:off x="7911621" y="4173563"/>
            <a:ext cx="914400" cy="13470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+</a:t>
            </a:r>
            <a:br>
              <a:rPr lang="en-RU" sz="1600" dirty="0"/>
            </a:br>
            <a:r>
              <a:rPr lang="en-RU" sz="1600" dirty="0"/>
              <a:t>Inbox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F638D0D-EEC1-D050-2502-E2CFDDFA76BC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</p:spTree>
    <p:extLst>
      <p:ext uri="{BB962C8B-B14F-4D97-AF65-F5344CB8AC3E}">
        <p14:creationId xmlns:p14="http://schemas.microsoft.com/office/powerpoint/2010/main" val="2112247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changes, no intrusion</a:t>
            </a:r>
            <a:endParaRPr lang="en-RU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13470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+</a:t>
            </a:r>
            <a:br>
              <a:rPr lang="en-RU" sz="1600" dirty="0"/>
            </a:br>
            <a:r>
              <a:rPr lang="en-RU" sz="1600" dirty="0"/>
              <a:t>Inbox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34" idx="1"/>
          </p:cNvCxnSpPr>
          <p:nvPr/>
        </p:nvCxnSpPr>
        <p:spPr>
          <a:xfrm flipV="1">
            <a:off x="7363439" y="4847085"/>
            <a:ext cx="548182" cy="1599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DE2E1902-FFF7-D75B-8189-BBD6AE5E868D}"/>
              </a:ext>
            </a:extLst>
          </p:cNvPr>
          <p:cNvSpPr/>
          <p:nvPr/>
        </p:nvSpPr>
        <p:spPr>
          <a:xfrm>
            <a:off x="2207453" y="5994035"/>
            <a:ext cx="914400" cy="375265"/>
          </a:xfrm>
          <a:prstGeom prst="can">
            <a:avLst>
              <a:gd name="adj" fmla="val 398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WAL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41804-B035-9E6A-9D10-C1EE42967CC1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H="1">
            <a:off x="2664653" y="5328263"/>
            <a:ext cx="1174" cy="665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60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changes, no intrusion</a:t>
            </a:r>
            <a:endParaRPr lang="en-RU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13470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+</a:t>
            </a:r>
            <a:br>
              <a:rPr lang="en-RU" sz="1600" dirty="0"/>
            </a:br>
            <a:r>
              <a:rPr lang="en-RU" sz="1600" dirty="0"/>
              <a:t>Inbox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34" idx="1"/>
          </p:cNvCxnSpPr>
          <p:nvPr/>
        </p:nvCxnSpPr>
        <p:spPr>
          <a:xfrm flipV="1">
            <a:off x="7363439" y="4847085"/>
            <a:ext cx="548182" cy="1599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31778D45-9A89-E5D0-8EBD-B5CB9B3C79A1}"/>
              </a:ext>
            </a:extLst>
          </p:cNvPr>
          <p:cNvSpPr/>
          <p:nvPr/>
        </p:nvSpPr>
        <p:spPr>
          <a:xfrm>
            <a:off x="4196968" y="5724467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Replica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DE2E1902-FFF7-D75B-8189-BBD6AE5E868D}"/>
              </a:ext>
            </a:extLst>
          </p:cNvPr>
          <p:cNvSpPr/>
          <p:nvPr/>
        </p:nvSpPr>
        <p:spPr>
          <a:xfrm>
            <a:off x="2207453" y="5994035"/>
            <a:ext cx="914400" cy="375265"/>
          </a:xfrm>
          <a:prstGeom prst="can">
            <a:avLst>
              <a:gd name="adj" fmla="val 398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WAL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41804-B035-9E6A-9D10-C1EE42967CC1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H="1">
            <a:off x="2664653" y="5328263"/>
            <a:ext cx="1174" cy="665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0A59AA-4098-9089-B912-E5F1D09D0475}"/>
              </a:ext>
            </a:extLst>
          </p:cNvPr>
          <p:cNvCxnSpPr>
            <a:cxnSpLocks/>
            <a:stCxn id="16" idx="4"/>
            <a:endCxn id="12" idx="2"/>
          </p:cNvCxnSpPr>
          <p:nvPr/>
        </p:nvCxnSpPr>
        <p:spPr>
          <a:xfrm flipV="1">
            <a:off x="3121853" y="6181667"/>
            <a:ext cx="1075115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044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changes, no intrusion</a:t>
            </a:r>
            <a:endParaRPr lang="en-RU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13470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+</a:t>
            </a:r>
            <a:br>
              <a:rPr lang="en-RU" sz="1600" dirty="0"/>
            </a:br>
            <a:r>
              <a:rPr lang="en-RU" sz="1600" dirty="0"/>
              <a:t>Inbox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34" idx="1"/>
          </p:cNvCxnSpPr>
          <p:nvPr/>
        </p:nvCxnSpPr>
        <p:spPr>
          <a:xfrm flipV="1">
            <a:off x="7363439" y="4847085"/>
            <a:ext cx="548182" cy="1599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DE2E1902-FFF7-D75B-8189-BBD6AE5E868D}"/>
              </a:ext>
            </a:extLst>
          </p:cNvPr>
          <p:cNvSpPr/>
          <p:nvPr/>
        </p:nvSpPr>
        <p:spPr>
          <a:xfrm>
            <a:off x="2207453" y="5994035"/>
            <a:ext cx="914400" cy="375265"/>
          </a:xfrm>
          <a:prstGeom prst="can">
            <a:avLst>
              <a:gd name="adj" fmla="val 398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WAL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41804-B035-9E6A-9D10-C1EE42967CC1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H="1">
            <a:off x="2664653" y="5328263"/>
            <a:ext cx="1174" cy="665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0A59AA-4098-9089-B912-E5F1D09D0475}"/>
              </a:ext>
            </a:extLst>
          </p:cNvPr>
          <p:cNvCxnSpPr>
            <a:cxnSpLocks/>
            <a:stCxn id="16" idx="4"/>
            <a:endCxn id="3" idx="2"/>
          </p:cNvCxnSpPr>
          <p:nvPr/>
        </p:nvCxnSpPr>
        <p:spPr>
          <a:xfrm flipV="1">
            <a:off x="3121853" y="6181667"/>
            <a:ext cx="1000748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6A031787-B5F6-D6BA-6969-8A70C352E3AC}"/>
              </a:ext>
            </a:extLst>
          </p:cNvPr>
          <p:cNvSpPr/>
          <p:nvPr/>
        </p:nvSpPr>
        <p:spPr>
          <a:xfrm>
            <a:off x="4122601" y="5724467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48EB7E05-C645-D788-7906-B4BBC7FAB0BF}"/>
              </a:ext>
            </a:extLst>
          </p:cNvPr>
          <p:cNvSpPr/>
          <p:nvPr/>
        </p:nvSpPr>
        <p:spPr>
          <a:xfrm>
            <a:off x="3214010" y="3785140"/>
            <a:ext cx="2023240" cy="612648"/>
          </a:xfrm>
          <a:prstGeom prst="wedgeRoundRectCallout">
            <a:avLst>
              <a:gd name="adj1" fmla="val 21325"/>
              <a:gd name="adj2" fmla="val 281991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Behave like replica</a:t>
            </a:r>
          </a:p>
        </p:txBody>
      </p:sp>
    </p:spTree>
    <p:extLst>
      <p:ext uri="{BB962C8B-B14F-4D97-AF65-F5344CB8AC3E}">
        <p14:creationId xmlns:p14="http://schemas.microsoft.com/office/powerpoint/2010/main" val="829276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changes, no intrusion</a:t>
            </a:r>
            <a:endParaRPr lang="en-RU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13470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+</a:t>
            </a:r>
            <a:br>
              <a:rPr lang="en-RU" sz="1600" dirty="0"/>
            </a:br>
            <a:r>
              <a:rPr lang="en-RU" sz="1600" dirty="0"/>
              <a:t>Inbox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34" idx="1"/>
          </p:cNvCxnSpPr>
          <p:nvPr/>
        </p:nvCxnSpPr>
        <p:spPr>
          <a:xfrm flipV="1">
            <a:off x="7363439" y="4847085"/>
            <a:ext cx="548182" cy="1599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DE2E1902-FFF7-D75B-8189-BBD6AE5E868D}"/>
              </a:ext>
            </a:extLst>
          </p:cNvPr>
          <p:cNvSpPr/>
          <p:nvPr/>
        </p:nvSpPr>
        <p:spPr>
          <a:xfrm>
            <a:off x="2207453" y="5994035"/>
            <a:ext cx="914400" cy="375265"/>
          </a:xfrm>
          <a:prstGeom prst="can">
            <a:avLst>
              <a:gd name="adj" fmla="val 398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WAL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41804-B035-9E6A-9D10-C1EE42967CC1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H="1">
            <a:off x="2664653" y="5328263"/>
            <a:ext cx="1174" cy="665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0A59AA-4098-9089-B912-E5F1D09D0475}"/>
              </a:ext>
            </a:extLst>
          </p:cNvPr>
          <p:cNvCxnSpPr>
            <a:cxnSpLocks/>
            <a:stCxn id="16" idx="4"/>
            <a:endCxn id="3" idx="2"/>
          </p:cNvCxnSpPr>
          <p:nvPr/>
        </p:nvCxnSpPr>
        <p:spPr>
          <a:xfrm flipV="1">
            <a:off x="3121853" y="6181667"/>
            <a:ext cx="1000748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6A031787-B5F6-D6BA-6969-8A70C352E3AC}"/>
              </a:ext>
            </a:extLst>
          </p:cNvPr>
          <p:cNvSpPr/>
          <p:nvPr/>
        </p:nvSpPr>
        <p:spPr>
          <a:xfrm>
            <a:off x="4122601" y="5724467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DB37BEE-DDDB-FD1E-A4FD-775E532D6785}"/>
              </a:ext>
            </a:extLst>
          </p:cNvPr>
          <p:cNvCxnSpPr>
            <a:stCxn id="3" idx="0"/>
            <a:endCxn id="66" idx="1"/>
          </p:cNvCxnSpPr>
          <p:nvPr/>
        </p:nvCxnSpPr>
        <p:spPr>
          <a:xfrm rot="5400000" flipH="1" flipV="1">
            <a:off x="4198683" y="4563024"/>
            <a:ext cx="1616928" cy="705959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169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CDC from WAL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13470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+</a:t>
            </a:r>
            <a:br>
              <a:rPr lang="en-RU" sz="1600" dirty="0"/>
            </a:br>
            <a:r>
              <a:rPr lang="en-RU" sz="1600" dirty="0"/>
              <a:t>Inbox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34" idx="1"/>
          </p:cNvCxnSpPr>
          <p:nvPr/>
        </p:nvCxnSpPr>
        <p:spPr>
          <a:xfrm flipV="1">
            <a:off x="7363439" y="4847085"/>
            <a:ext cx="548182" cy="1599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DE2E1902-FFF7-D75B-8189-BBD6AE5E868D}"/>
              </a:ext>
            </a:extLst>
          </p:cNvPr>
          <p:cNvSpPr/>
          <p:nvPr/>
        </p:nvSpPr>
        <p:spPr>
          <a:xfrm>
            <a:off x="2207453" y="5994035"/>
            <a:ext cx="914400" cy="375265"/>
          </a:xfrm>
          <a:prstGeom prst="can">
            <a:avLst>
              <a:gd name="adj" fmla="val 398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WAL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41804-B035-9E6A-9D10-C1EE42967CC1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H="1">
            <a:off x="2664653" y="5328263"/>
            <a:ext cx="1174" cy="665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0A59AA-4098-9089-B912-E5F1D09D0475}"/>
              </a:ext>
            </a:extLst>
          </p:cNvPr>
          <p:cNvCxnSpPr>
            <a:cxnSpLocks/>
            <a:stCxn id="16" idx="4"/>
            <a:endCxn id="3" idx="2"/>
          </p:cNvCxnSpPr>
          <p:nvPr/>
        </p:nvCxnSpPr>
        <p:spPr>
          <a:xfrm flipV="1">
            <a:off x="3121853" y="6181667"/>
            <a:ext cx="1000748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6A031787-B5F6-D6BA-6969-8A70C352E3AC}"/>
              </a:ext>
            </a:extLst>
          </p:cNvPr>
          <p:cNvSpPr/>
          <p:nvPr/>
        </p:nvSpPr>
        <p:spPr>
          <a:xfrm>
            <a:off x="4122601" y="5724467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DB37BEE-DDDB-FD1E-A4FD-775E532D6785}"/>
              </a:ext>
            </a:extLst>
          </p:cNvPr>
          <p:cNvCxnSpPr>
            <a:stCxn id="3" idx="0"/>
            <a:endCxn id="66" idx="1"/>
          </p:cNvCxnSpPr>
          <p:nvPr/>
        </p:nvCxnSpPr>
        <p:spPr>
          <a:xfrm rot="5400000" flipH="1" flipV="1">
            <a:off x="4198683" y="4563024"/>
            <a:ext cx="1616928" cy="705959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EF24D5-FFF0-3282-1591-C7B015B9B8F0}"/>
              </a:ext>
            </a:extLst>
          </p:cNvPr>
          <p:cNvSpPr/>
          <p:nvPr/>
        </p:nvSpPr>
        <p:spPr>
          <a:xfrm>
            <a:off x="3977645" y="6385526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FC5EEE-50D1-CDE2-D902-952B68DEC9DE}"/>
              </a:ext>
            </a:extLst>
          </p:cNvPr>
          <p:cNvSpPr/>
          <p:nvPr/>
        </p:nvSpPr>
        <p:spPr>
          <a:xfrm>
            <a:off x="1781523" y="6385525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identifier</a:t>
            </a:r>
          </a:p>
        </p:txBody>
      </p:sp>
    </p:spTree>
    <p:extLst>
      <p:ext uri="{BB962C8B-B14F-4D97-AF65-F5344CB8AC3E}">
        <p14:creationId xmlns:p14="http://schemas.microsoft.com/office/powerpoint/2010/main" val="1038001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154C6A-F90E-6094-9B54-3A62FF77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CDC Approaches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4B528-10FF-0B0E-D228-4A58AEA30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Timestamps/version/status on rows (major intrusion)</a:t>
            </a:r>
          </a:p>
          <a:p>
            <a:pPr lvl="1"/>
            <a:r>
              <a:rPr lang="en-GB" dirty="0"/>
              <a:t>Requires schema modifications</a:t>
            </a:r>
          </a:p>
          <a:p>
            <a:pPr lvl="1"/>
            <a:r>
              <a:rPr lang="en-GB" dirty="0"/>
              <a:t>Alteration of application</a:t>
            </a:r>
          </a:p>
          <a:p>
            <a:pPr lvl="1"/>
            <a:r>
              <a:rPr lang="en-GB" dirty="0"/>
              <a:t>Additional database load</a:t>
            </a:r>
          </a:p>
          <a:p>
            <a:r>
              <a:rPr lang="en-GB" dirty="0"/>
              <a:t>Triggers on tables (minor intrusion)</a:t>
            </a:r>
          </a:p>
          <a:p>
            <a:pPr lvl="1"/>
            <a:r>
              <a:rPr lang="en-GB" dirty="0"/>
              <a:t>Opaque for the application</a:t>
            </a:r>
          </a:p>
          <a:p>
            <a:pPr lvl="1"/>
            <a:r>
              <a:rPr lang="en-GB" dirty="0"/>
              <a:t>Additional database load</a:t>
            </a:r>
          </a:p>
          <a:p>
            <a:r>
              <a:rPr lang="en-GB" dirty="0"/>
              <a:t>Capture replication/</a:t>
            </a:r>
            <a:r>
              <a:rPr lang="en-GB" dirty="0" err="1"/>
              <a:t>wal</a:t>
            </a:r>
            <a:r>
              <a:rPr lang="en-GB" dirty="0"/>
              <a:t> (no intrusion)</a:t>
            </a:r>
          </a:p>
          <a:p>
            <a:pPr lvl="1"/>
            <a:r>
              <a:rPr lang="en-GB" dirty="0"/>
              <a:t>No additional database load</a:t>
            </a:r>
          </a:p>
          <a:p>
            <a:pPr lvl="1"/>
            <a:r>
              <a:rPr lang="en-GB" dirty="0"/>
              <a:t>No effect on schema or application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59946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69EFD-4DDD-CDF5-16CF-8577EDCD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3834CA-BC5C-3026-4179-970B96C30F97}"/>
              </a:ext>
            </a:extLst>
          </p:cNvPr>
          <p:cNvSpPr/>
          <p:nvPr/>
        </p:nvSpPr>
        <p:spPr>
          <a:xfrm>
            <a:off x="2208627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EC47C8-88E9-93FF-EA89-6A22316B91F2}"/>
              </a:ext>
            </a:extLst>
          </p:cNvPr>
          <p:cNvSpPr/>
          <p:nvPr/>
        </p:nvSpPr>
        <p:spPr>
          <a:xfrm>
            <a:off x="9068975" y="2420471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App/2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BB69062-5F94-E234-2FF6-37239E6B723A}"/>
              </a:ext>
            </a:extLst>
          </p:cNvPr>
          <p:cNvSpPr/>
          <p:nvPr/>
        </p:nvSpPr>
        <p:spPr>
          <a:xfrm>
            <a:off x="2208627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1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364B623-3B64-3FDC-5269-DF83500E2816}"/>
              </a:ext>
            </a:extLst>
          </p:cNvPr>
          <p:cNvSpPr/>
          <p:nvPr/>
        </p:nvSpPr>
        <p:spPr>
          <a:xfrm>
            <a:off x="9068973" y="4413863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A2469-7998-E09A-6B28-D504DEB9FB96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65827" y="3334871"/>
            <a:ext cx="0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717AE-DEFC-F4BC-A55A-F20D590D054A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flipH="1">
            <a:off x="9526173" y="3334871"/>
            <a:ext cx="2" cy="10789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FCFD1-BCF3-D07D-9D41-57F097B025B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37957" y="2877671"/>
            <a:ext cx="97067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1466E857-1140-9C60-3CC7-2CB1D202D637}"/>
              </a:ext>
            </a:extLst>
          </p:cNvPr>
          <p:cNvSpPr/>
          <p:nvPr/>
        </p:nvSpPr>
        <p:spPr>
          <a:xfrm>
            <a:off x="506437" y="2585766"/>
            <a:ext cx="787790" cy="59084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290E61-F546-0DA3-9828-1BA7AFDF6EE6}"/>
              </a:ext>
            </a:extLst>
          </p:cNvPr>
          <p:cNvSpPr/>
          <p:nvPr/>
        </p:nvSpPr>
        <p:spPr>
          <a:xfrm>
            <a:off x="4122601" y="2420471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DB→Q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5928ED-77D1-A259-57EE-268218CABE24}"/>
              </a:ext>
            </a:extLst>
          </p:cNvPr>
          <p:cNvCxnSpPr>
            <a:cxnSpLocks/>
            <a:stCxn id="46" idx="0"/>
            <a:endCxn id="13" idx="3"/>
          </p:cNvCxnSpPr>
          <p:nvPr/>
        </p:nvCxnSpPr>
        <p:spPr>
          <a:xfrm flipV="1">
            <a:off x="3817712" y="3200960"/>
            <a:ext cx="460581" cy="9726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1BF7E3-AF03-EDE3-E3A4-29F98E7FEF07}"/>
              </a:ext>
            </a:extLst>
          </p:cNvPr>
          <p:cNvCxnSpPr>
            <a:cxnSpLocks/>
            <a:stCxn id="13" idx="5"/>
            <a:endCxn id="66" idx="1"/>
          </p:cNvCxnSpPr>
          <p:nvPr/>
        </p:nvCxnSpPr>
        <p:spPr>
          <a:xfrm>
            <a:off x="5030043" y="3200960"/>
            <a:ext cx="330084" cy="90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3296F92-9AC8-1517-7CE5-68FF7B118513}"/>
              </a:ext>
            </a:extLst>
          </p:cNvPr>
          <p:cNvSpPr/>
          <p:nvPr/>
        </p:nvSpPr>
        <p:spPr>
          <a:xfrm>
            <a:off x="6300305" y="4549838"/>
            <a:ext cx="106313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Q→DB</a:t>
            </a:r>
          </a:p>
        </p:txBody>
      </p:sp>
      <p:sp>
        <p:nvSpPr>
          <p:cNvPr id="34" name="Internal Storage 33">
            <a:extLst>
              <a:ext uri="{FF2B5EF4-FFF2-40B4-BE49-F238E27FC236}">
                <a16:creationId xmlns:a16="http://schemas.microsoft.com/office/drawing/2014/main" id="{36C4744F-BAE0-519A-E4FE-578B56AC0998}"/>
              </a:ext>
            </a:extLst>
          </p:cNvPr>
          <p:cNvSpPr/>
          <p:nvPr/>
        </p:nvSpPr>
        <p:spPr>
          <a:xfrm>
            <a:off x="7911621" y="4173563"/>
            <a:ext cx="914400" cy="1347044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  <a:br>
              <a:rPr lang="en-RU" sz="1600" dirty="0"/>
            </a:br>
            <a:r>
              <a:rPr lang="en-RU" sz="1600" dirty="0"/>
              <a:t>+</a:t>
            </a:r>
            <a:br>
              <a:rPr lang="en-RU" sz="1600" dirty="0"/>
            </a:br>
            <a:r>
              <a:rPr lang="en-RU" sz="1600" dirty="0"/>
              <a:t>Inbox</a:t>
            </a:r>
          </a:p>
        </p:txBody>
      </p:sp>
      <p:sp>
        <p:nvSpPr>
          <p:cNvPr id="36" name="Snip Single Corner of Rectangle 35">
            <a:extLst>
              <a:ext uri="{FF2B5EF4-FFF2-40B4-BE49-F238E27FC236}">
                <a16:creationId xmlns:a16="http://schemas.microsoft.com/office/drawing/2014/main" id="{3FCB6272-3126-9601-30C7-CDA987D394E4}"/>
              </a:ext>
            </a:extLst>
          </p:cNvPr>
          <p:cNvSpPr/>
          <p:nvPr/>
        </p:nvSpPr>
        <p:spPr>
          <a:xfrm>
            <a:off x="7674135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C2E1AE3-88D3-C0F5-EF05-0391A75B74A2}"/>
              </a:ext>
            </a:extLst>
          </p:cNvPr>
          <p:cNvCxnSpPr>
            <a:cxnSpLocks/>
            <a:stCxn id="33" idx="6"/>
            <a:endCxn id="34" idx="1"/>
          </p:cNvCxnSpPr>
          <p:nvPr/>
        </p:nvCxnSpPr>
        <p:spPr>
          <a:xfrm flipV="1">
            <a:off x="7363439" y="4847085"/>
            <a:ext cx="548182" cy="1599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C84242-6624-46B1-69C4-B1382B3BC361}"/>
              </a:ext>
            </a:extLst>
          </p:cNvPr>
          <p:cNvCxnSpPr>
            <a:cxnSpLocks/>
            <a:stCxn id="66" idx="3"/>
            <a:endCxn id="33" idx="0"/>
          </p:cNvCxnSpPr>
          <p:nvPr/>
        </p:nvCxnSpPr>
        <p:spPr>
          <a:xfrm>
            <a:off x="6274527" y="4107539"/>
            <a:ext cx="557345" cy="4422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40C50CF-2B91-1FAA-16CC-9A33BD397257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694685" cy="935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85E549-DEDB-092E-BE96-AA3603281EF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665827" y="4413863"/>
            <a:ext cx="700152" cy="10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nternal Storage 45">
            <a:extLst>
              <a:ext uri="{FF2B5EF4-FFF2-40B4-BE49-F238E27FC236}">
                <a16:creationId xmlns:a16="http://schemas.microsoft.com/office/drawing/2014/main" id="{4C14F171-20BE-9894-2183-CB8CC2B34575}"/>
              </a:ext>
            </a:extLst>
          </p:cNvPr>
          <p:cNvSpPr/>
          <p:nvPr/>
        </p:nvSpPr>
        <p:spPr>
          <a:xfrm>
            <a:off x="3360512" y="4173563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Outbox</a:t>
            </a:r>
          </a:p>
        </p:txBody>
      </p:sp>
      <p:sp>
        <p:nvSpPr>
          <p:cNvPr id="47" name="Internal Storage 46">
            <a:extLst>
              <a:ext uri="{FF2B5EF4-FFF2-40B4-BE49-F238E27FC236}">
                <a16:creationId xmlns:a16="http://schemas.microsoft.com/office/drawing/2014/main" id="{4D4CBAE4-B8D0-35B3-6EC6-B340A13692E0}"/>
              </a:ext>
            </a:extLst>
          </p:cNvPr>
          <p:cNvSpPr/>
          <p:nvPr/>
        </p:nvSpPr>
        <p:spPr>
          <a:xfrm>
            <a:off x="3360512" y="5006518"/>
            <a:ext cx="914400" cy="685799"/>
          </a:xfrm>
          <a:prstGeom prst="flowChartInternalStorag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RU" sz="1600" dirty="0"/>
              <a:t>Data</a:t>
            </a:r>
          </a:p>
        </p:txBody>
      </p:sp>
      <p:sp>
        <p:nvSpPr>
          <p:cNvPr id="48" name="Snip Single Corner of Rectangle 47">
            <a:extLst>
              <a:ext uri="{FF2B5EF4-FFF2-40B4-BE49-F238E27FC236}">
                <a16:creationId xmlns:a16="http://schemas.microsoft.com/office/drawing/2014/main" id="{9A11AA57-2F1C-FBFB-2182-2D5D0CCCBD60}"/>
              </a:ext>
            </a:extLst>
          </p:cNvPr>
          <p:cNvSpPr/>
          <p:nvPr/>
        </p:nvSpPr>
        <p:spPr>
          <a:xfrm>
            <a:off x="3123026" y="3824927"/>
            <a:ext cx="1394838" cy="2092272"/>
          </a:xfrm>
          <a:prstGeom prst="snip1Rect">
            <a:avLst>
              <a:gd name="adj" fmla="val 0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Transaction</a:t>
            </a:r>
          </a:p>
        </p:txBody>
      </p:sp>
      <p:sp>
        <p:nvSpPr>
          <p:cNvPr id="66" name="Predefined Process 65">
            <a:extLst>
              <a:ext uri="{FF2B5EF4-FFF2-40B4-BE49-F238E27FC236}">
                <a16:creationId xmlns:a16="http://schemas.microsoft.com/office/drawing/2014/main" id="{CBFE7510-BCC7-E47D-ED74-146E6FF6EB6D}"/>
              </a:ext>
            </a:extLst>
          </p:cNvPr>
          <p:cNvSpPr/>
          <p:nvPr/>
        </p:nvSpPr>
        <p:spPr>
          <a:xfrm>
            <a:off x="5360127" y="3801215"/>
            <a:ext cx="914400" cy="61264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Q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E8045DE-7FE5-40E5-43A4-9229DB150603}"/>
              </a:ext>
            </a:extLst>
          </p:cNvPr>
          <p:cNvSpPr/>
          <p:nvPr/>
        </p:nvSpPr>
        <p:spPr>
          <a:xfrm>
            <a:off x="7485691" y="563356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574EB709-941E-28AA-0D9E-A769593332BD}"/>
              </a:ext>
            </a:extLst>
          </p:cNvPr>
          <p:cNvSpPr/>
          <p:nvPr/>
        </p:nvSpPr>
        <p:spPr>
          <a:xfrm>
            <a:off x="3977644" y="3218077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2D5D540E-C37E-AB9A-1FAC-F284F7AACA09}"/>
              </a:ext>
            </a:extLst>
          </p:cNvPr>
          <p:cNvSpPr/>
          <p:nvPr/>
        </p:nvSpPr>
        <p:spPr>
          <a:xfrm>
            <a:off x="2940051" y="5585395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identifier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960290D3-300D-D214-55FE-C1B39B14E893}"/>
              </a:ext>
            </a:extLst>
          </p:cNvPr>
          <p:cNvSpPr/>
          <p:nvPr/>
        </p:nvSpPr>
        <p:spPr>
          <a:xfrm>
            <a:off x="5598992" y="5178226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31778D45-9A89-E5D0-8EBD-B5CB9B3C79A1}"/>
              </a:ext>
            </a:extLst>
          </p:cNvPr>
          <p:cNvSpPr/>
          <p:nvPr/>
        </p:nvSpPr>
        <p:spPr>
          <a:xfrm>
            <a:off x="4196968" y="5724467"/>
            <a:ext cx="914400" cy="9144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Replica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DE2E1902-FFF7-D75B-8189-BBD6AE5E868D}"/>
              </a:ext>
            </a:extLst>
          </p:cNvPr>
          <p:cNvSpPr/>
          <p:nvPr/>
        </p:nvSpPr>
        <p:spPr>
          <a:xfrm>
            <a:off x="2207453" y="5994035"/>
            <a:ext cx="914400" cy="375265"/>
          </a:xfrm>
          <a:prstGeom prst="can">
            <a:avLst>
              <a:gd name="adj" fmla="val 398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RU" sz="1600" dirty="0"/>
              <a:t>WAL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441804-B035-9E6A-9D10-C1EE42967CC1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H="1">
            <a:off x="2664653" y="5328263"/>
            <a:ext cx="1174" cy="665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0A59AA-4098-9089-B912-E5F1D09D0475}"/>
              </a:ext>
            </a:extLst>
          </p:cNvPr>
          <p:cNvCxnSpPr>
            <a:cxnSpLocks/>
            <a:stCxn id="16" idx="4"/>
            <a:endCxn id="12" idx="2"/>
          </p:cNvCxnSpPr>
          <p:nvPr/>
        </p:nvCxnSpPr>
        <p:spPr>
          <a:xfrm flipV="1">
            <a:off x="3121853" y="6181667"/>
            <a:ext cx="1075115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484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004E-5CAC-B08A-549E-135B355A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Further reading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B40E9-F51A-81AE-38E7-0D193015E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4521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1FBF75-B7E8-3982-B926-35A92F09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Further reading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EA4E6E-69C7-20EB-A4D3-236085E30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https://softwaremill.com/microservices-101/</a:t>
            </a:r>
            <a:r>
              <a:rPr lang="en-GB" dirty="0"/>
              <a:t> </a:t>
            </a:r>
          </a:p>
          <a:p>
            <a:r>
              <a:rPr lang="en-GB" dirty="0">
                <a:hlinkClick r:id="rId3"/>
              </a:rPr>
              <a:t>https://microservices.io/patterns/data/transactional-outbox.html</a:t>
            </a:r>
            <a:endParaRPr lang="en-GB" dirty="0"/>
          </a:p>
          <a:p>
            <a:r>
              <a:rPr lang="en-GB" dirty="0">
                <a:hlinkClick r:id="rId4"/>
              </a:rPr>
              <a:t>https://microservices.io/patterns/data/transaction-log-tailing.html</a:t>
            </a:r>
            <a:r>
              <a:rPr lang="en-GB" dirty="0"/>
              <a:t> </a:t>
            </a:r>
          </a:p>
          <a:p>
            <a:r>
              <a:rPr lang="en-GB" dirty="0">
                <a:hlinkClick r:id="rId5"/>
              </a:rPr>
              <a:t>https://en.wikipedia.org/wiki/Inbox_and_outbox_pattern</a:t>
            </a:r>
            <a:endParaRPr lang="en-GB" dirty="0"/>
          </a:p>
          <a:p>
            <a:r>
              <a:rPr lang="en-GB" dirty="0">
                <a:hlinkClick r:id="rId6"/>
              </a:rPr>
              <a:t>https://debezium.io/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7103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F2C8-9BF9-E75E-8D8C-663F49D8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185F-1EF0-E60F-FF4B-FF9DE3CCB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 consistent transaction replication flow</a:t>
            </a:r>
          </a:p>
          <a:p>
            <a:r>
              <a:rPr lang="en-US" dirty="0"/>
              <a:t>Deliver transactions from one database to another</a:t>
            </a:r>
          </a:p>
          <a:p>
            <a:r>
              <a:rPr lang="en-US" dirty="0"/>
              <a:t>Maintain consistency in the face of every component outage</a:t>
            </a:r>
          </a:p>
          <a:p>
            <a:r>
              <a:rPr lang="en-US" dirty="0"/>
              <a:t>Use queue or implement direct outbox-to-inbox</a:t>
            </a:r>
          </a:p>
        </p:txBody>
      </p:sp>
    </p:spTree>
    <p:extLst>
      <p:ext uri="{BB962C8B-B14F-4D97-AF65-F5344CB8AC3E}">
        <p14:creationId xmlns:p14="http://schemas.microsoft.com/office/powerpoint/2010/main" val="3193981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E071C2-7E1C-95E8-8ECE-955D62EC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EF066-E09C-5E76-A88B-09EF9D298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86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E99174C-0954-811B-958C-2F356A488BA2}"/>
              </a:ext>
            </a:extLst>
          </p:cNvPr>
          <p:cNvSpPr/>
          <p:nvPr/>
        </p:nvSpPr>
        <p:spPr>
          <a:xfrm>
            <a:off x="2542699" y="128574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Tx</a:t>
            </a:r>
            <a:br>
              <a:rPr lang="en-US" sz="1600" dirty="0"/>
            </a:br>
            <a:r>
              <a:rPr lang="en-US" sz="1600" dirty="0"/>
              <a:t>processor</a:t>
            </a:r>
          </a:p>
          <a:p>
            <a:pPr algn="ctr"/>
            <a:r>
              <a:rPr lang="en-US" sz="1600" dirty="0"/>
              <a:t>(app)</a:t>
            </a:r>
            <a:endParaRPr lang="en-RU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CFA8DC-E77F-B5A3-C94C-CABC24F35106}"/>
              </a:ext>
            </a:extLst>
          </p:cNvPr>
          <p:cNvSpPr/>
          <p:nvPr/>
        </p:nvSpPr>
        <p:spPr>
          <a:xfrm>
            <a:off x="9511312" y="1229559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Balance</a:t>
            </a:r>
            <a:br>
              <a:rPr lang="en-US" sz="1600" dirty="0"/>
            </a:br>
            <a:r>
              <a:rPr lang="en-US" sz="1600" dirty="0"/>
              <a:t>viewer</a:t>
            </a:r>
            <a:endParaRPr lang="en-RU" sz="16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098AB248-A5C1-EF9C-7320-9A9103D28153}"/>
              </a:ext>
            </a:extLst>
          </p:cNvPr>
          <p:cNvSpPr/>
          <p:nvPr/>
        </p:nvSpPr>
        <p:spPr>
          <a:xfrm>
            <a:off x="2571071" y="3075494"/>
            <a:ext cx="1399609" cy="1220724"/>
          </a:xfrm>
          <a:prstGeom prst="can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99609"/>
                      <a:gd name="connsiteY0" fmla="*/ 152591 h 1220724"/>
                      <a:gd name="connsiteX1" fmla="*/ 699805 w 1399609"/>
                      <a:gd name="connsiteY1" fmla="*/ 305182 h 1220724"/>
                      <a:gd name="connsiteX2" fmla="*/ 1399610 w 1399609"/>
                      <a:gd name="connsiteY2" fmla="*/ 152591 h 1220724"/>
                      <a:gd name="connsiteX3" fmla="*/ 1399609 w 1399609"/>
                      <a:gd name="connsiteY3" fmla="*/ 1068134 h 1220724"/>
                      <a:gd name="connsiteX4" fmla="*/ 699804 w 1399609"/>
                      <a:gd name="connsiteY4" fmla="*/ 1220725 h 1220724"/>
                      <a:gd name="connsiteX5" fmla="*/ -1 w 1399609"/>
                      <a:gd name="connsiteY5" fmla="*/ 1068134 h 1220724"/>
                      <a:gd name="connsiteX6" fmla="*/ 0 w 1399609"/>
                      <a:gd name="connsiteY6" fmla="*/ 152591 h 1220724"/>
                      <a:gd name="connsiteX0" fmla="*/ 0 w 1399609"/>
                      <a:gd name="connsiteY0" fmla="*/ 152591 h 1220724"/>
                      <a:gd name="connsiteX1" fmla="*/ 699805 w 1399609"/>
                      <a:gd name="connsiteY1" fmla="*/ 0 h 1220724"/>
                      <a:gd name="connsiteX2" fmla="*/ 1399610 w 1399609"/>
                      <a:gd name="connsiteY2" fmla="*/ 152591 h 1220724"/>
                      <a:gd name="connsiteX3" fmla="*/ 699805 w 1399609"/>
                      <a:gd name="connsiteY3" fmla="*/ 305182 h 1220724"/>
                      <a:gd name="connsiteX4" fmla="*/ 0 w 1399609"/>
                      <a:gd name="connsiteY4" fmla="*/ 152591 h 1220724"/>
                      <a:gd name="connsiteX0" fmla="*/ 1399609 w 1399609"/>
                      <a:gd name="connsiteY0" fmla="*/ 152591 h 1220724"/>
                      <a:gd name="connsiteX1" fmla="*/ 699804 w 1399609"/>
                      <a:gd name="connsiteY1" fmla="*/ 305182 h 1220724"/>
                      <a:gd name="connsiteX2" fmla="*/ -1 w 1399609"/>
                      <a:gd name="connsiteY2" fmla="*/ 152591 h 1220724"/>
                      <a:gd name="connsiteX3" fmla="*/ 699804 w 1399609"/>
                      <a:gd name="connsiteY3" fmla="*/ 0 h 1220724"/>
                      <a:gd name="connsiteX4" fmla="*/ 1399609 w 1399609"/>
                      <a:gd name="connsiteY4" fmla="*/ 152591 h 1220724"/>
                      <a:gd name="connsiteX5" fmla="*/ 1399609 w 1399609"/>
                      <a:gd name="connsiteY5" fmla="*/ 628673 h 1220724"/>
                      <a:gd name="connsiteX6" fmla="*/ 1399609 w 1399609"/>
                      <a:gd name="connsiteY6" fmla="*/ 1068134 h 1220724"/>
                      <a:gd name="connsiteX7" fmla="*/ 699804 w 1399609"/>
                      <a:gd name="connsiteY7" fmla="*/ 1220725 h 1220724"/>
                      <a:gd name="connsiteX8" fmla="*/ -1 w 1399609"/>
                      <a:gd name="connsiteY8" fmla="*/ 1068134 h 1220724"/>
                      <a:gd name="connsiteX9" fmla="*/ 0 w 1399609"/>
                      <a:gd name="connsiteY9" fmla="*/ 152591 h 1220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99609" h="1220724" stroke="0" extrusionOk="0">
                        <a:moveTo>
                          <a:pt x="0" y="152591"/>
                        </a:moveTo>
                        <a:cubicBezTo>
                          <a:pt x="-37815" y="213540"/>
                          <a:pt x="275775" y="319271"/>
                          <a:pt x="699805" y="305182"/>
                        </a:cubicBezTo>
                        <a:cubicBezTo>
                          <a:pt x="1097731" y="307589"/>
                          <a:pt x="1386665" y="237277"/>
                          <a:pt x="1399610" y="152591"/>
                        </a:cubicBezTo>
                        <a:cubicBezTo>
                          <a:pt x="1350083" y="506138"/>
                          <a:pt x="1398111" y="771231"/>
                          <a:pt x="1399609" y="1068134"/>
                        </a:cubicBezTo>
                        <a:cubicBezTo>
                          <a:pt x="1340379" y="1120002"/>
                          <a:pt x="1168466" y="1259987"/>
                          <a:pt x="699804" y="1220725"/>
                        </a:cubicBezTo>
                        <a:cubicBezTo>
                          <a:pt x="315934" y="1221036"/>
                          <a:pt x="7620" y="1136725"/>
                          <a:pt x="-1" y="1068134"/>
                        </a:cubicBezTo>
                        <a:cubicBezTo>
                          <a:pt x="-7770" y="761763"/>
                          <a:pt x="-24480" y="480820"/>
                          <a:pt x="0" y="152591"/>
                        </a:cubicBezTo>
                        <a:close/>
                      </a:path>
                      <a:path w="1399609" h="1220724" fill="lighten" stroke="0" extrusionOk="0">
                        <a:moveTo>
                          <a:pt x="0" y="152591"/>
                        </a:moveTo>
                        <a:cubicBezTo>
                          <a:pt x="-9243" y="-19829"/>
                          <a:pt x="267294" y="63953"/>
                          <a:pt x="699805" y="0"/>
                        </a:cubicBezTo>
                        <a:cubicBezTo>
                          <a:pt x="1106048" y="11057"/>
                          <a:pt x="1402632" y="69044"/>
                          <a:pt x="1399610" y="152591"/>
                        </a:cubicBezTo>
                        <a:cubicBezTo>
                          <a:pt x="1372665" y="232507"/>
                          <a:pt x="1132432" y="342912"/>
                          <a:pt x="699805" y="305182"/>
                        </a:cubicBezTo>
                        <a:cubicBezTo>
                          <a:pt x="314636" y="307151"/>
                          <a:pt x="1564" y="253058"/>
                          <a:pt x="0" y="152591"/>
                        </a:cubicBezTo>
                        <a:close/>
                      </a:path>
                      <a:path w="1399609" h="1220724" fill="none" extrusionOk="0">
                        <a:moveTo>
                          <a:pt x="1399609" y="152591"/>
                        </a:moveTo>
                        <a:cubicBezTo>
                          <a:pt x="1412134" y="165242"/>
                          <a:pt x="1011031" y="300922"/>
                          <a:pt x="699804" y="305182"/>
                        </a:cubicBezTo>
                        <a:cubicBezTo>
                          <a:pt x="319342" y="310373"/>
                          <a:pt x="-4917" y="251709"/>
                          <a:pt x="-1" y="152591"/>
                        </a:cubicBezTo>
                        <a:cubicBezTo>
                          <a:pt x="-11215" y="90829"/>
                          <a:pt x="265946" y="-62847"/>
                          <a:pt x="699804" y="0"/>
                        </a:cubicBezTo>
                        <a:cubicBezTo>
                          <a:pt x="1105306" y="5956"/>
                          <a:pt x="1399222" y="60278"/>
                          <a:pt x="1399609" y="152591"/>
                        </a:cubicBezTo>
                        <a:cubicBezTo>
                          <a:pt x="1403548" y="277672"/>
                          <a:pt x="1355366" y="449147"/>
                          <a:pt x="1399609" y="628673"/>
                        </a:cubicBezTo>
                        <a:cubicBezTo>
                          <a:pt x="1443852" y="808199"/>
                          <a:pt x="1390602" y="913348"/>
                          <a:pt x="1399609" y="1068134"/>
                        </a:cubicBezTo>
                        <a:cubicBezTo>
                          <a:pt x="1452091" y="1112987"/>
                          <a:pt x="1132201" y="1141027"/>
                          <a:pt x="699804" y="1220725"/>
                        </a:cubicBezTo>
                        <a:cubicBezTo>
                          <a:pt x="310846" y="1219780"/>
                          <a:pt x="17114" y="1135579"/>
                          <a:pt x="-1" y="1068134"/>
                        </a:cubicBezTo>
                        <a:cubicBezTo>
                          <a:pt x="-17128" y="772556"/>
                          <a:pt x="12287" y="491065"/>
                          <a:pt x="0" y="152591"/>
                        </a:cubicBezTo>
                      </a:path>
                      <a:path w="1399609" h="1220724" fill="none" stroke="0" extrusionOk="0">
                        <a:moveTo>
                          <a:pt x="1399609" y="152591"/>
                        </a:moveTo>
                        <a:cubicBezTo>
                          <a:pt x="1410480" y="253610"/>
                          <a:pt x="1131286" y="360291"/>
                          <a:pt x="699804" y="305182"/>
                        </a:cubicBezTo>
                        <a:cubicBezTo>
                          <a:pt x="320763" y="298659"/>
                          <a:pt x="1631" y="229189"/>
                          <a:pt x="-1" y="152591"/>
                        </a:cubicBezTo>
                        <a:cubicBezTo>
                          <a:pt x="-12266" y="70331"/>
                          <a:pt x="245756" y="-46613"/>
                          <a:pt x="699804" y="0"/>
                        </a:cubicBezTo>
                        <a:cubicBezTo>
                          <a:pt x="1063566" y="-1613"/>
                          <a:pt x="1396361" y="61697"/>
                          <a:pt x="1399609" y="152591"/>
                        </a:cubicBezTo>
                        <a:cubicBezTo>
                          <a:pt x="1407733" y="298312"/>
                          <a:pt x="1364739" y="467045"/>
                          <a:pt x="1399609" y="601207"/>
                        </a:cubicBezTo>
                        <a:cubicBezTo>
                          <a:pt x="1434479" y="735369"/>
                          <a:pt x="1389309" y="940748"/>
                          <a:pt x="1399609" y="1068134"/>
                        </a:cubicBezTo>
                        <a:cubicBezTo>
                          <a:pt x="1397871" y="1193715"/>
                          <a:pt x="1104269" y="1210064"/>
                          <a:pt x="699804" y="1220725"/>
                        </a:cubicBezTo>
                        <a:cubicBezTo>
                          <a:pt x="306545" y="1231467"/>
                          <a:pt x="-23609" y="1153667"/>
                          <a:pt x="-1" y="1068134"/>
                        </a:cubicBezTo>
                        <a:cubicBezTo>
                          <a:pt x="31173" y="824678"/>
                          <a:pt x="-30697" y="473960"/>
                          <a:pt x="0" y="15259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transactions</a:t>
            </a:r>
            <a:endParaRPr lang="en-RU" sz="1600" dirty="0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AC25A18A-EF8F-F435-8B30-75A33D5AB117}"/>
              </a:ext>
            </a:extLst>
          </p:cNvPr>
          <p:cNvSpPr/>
          <p:nvPr/>
        </p:nvSpPr>
        <p:spPr>
          <a:xfrm>
            <a:off x="9559478" y="3075494"/>
            <a:ext cx="1399608" cy="122072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balance</a:t>
            </a:r>
            <a:endParaRPr lang="en-RU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3A6150-41E3-C022-F1DB-C33842E77F78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266586" y="2200146"/>
            <a:ext cx="4290" cy="87534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356790-1DC6-DB30-A5BD-530306859FF7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10235199" y="2143959"/>
            <a:ext cx="24083" cy="931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A45DE0-88A0-A1D4-A292-7DDCB0A44DE6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1611603" y="1742946"/>
            <a:ext cx="93109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7B7D11-5B80-C0D3-98DE-B2125A3E81CA}"/>
              </a:ext>
            </a:extLst>
          </p:cNvPr>
          <p:cNvCxnSpPr>
            <a:cxnSpLocks/>
            <a:stCxn id="6" idx="3"/>
            <a:endCxn id="49" idx="0"/>
          </p:cNvCxnSpPr>
          <p:nvPr/>
        </p:nvCxnSpPr>
        <p:spPr>
          <a:xfrm>
            <a:off x="3270876" y="4296218"/>
            <a:ext cx="386434" cy="5157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DB7DCB-34BE-94D2-D41E-BE007F2225BD}"/>
              </a:ext>
            </a:extLst>
          </p:cNvPr>
          <p:cNvCxnSpPr>
            <a:cxnSpLocks/>
            <a:stCxn id="6" idx="3"/>
            <a:endCxn id="48" idx="0"/>
          </p:cNvCxnSpPr>
          <p:nvPr/>
        </p:nvCxnSpPr>
        <p:spPr>
          <a:xfrm flipH="1">
            <a:off x="2027598" y="4296218"/>
            <a:ext cx="1243278" cy="5121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ultidocument 35">
            <a:extLst>
              <a:ext uri="{FF2B5EF4-FFF2-40B4-BE49-F238E27FC236}">
                <a16:creationId xmlns:a16="http://schemas.microsoft.com/office/drawing/2014/main" id="{AE3CE748-A6F7-F034-FA2B-177185670473}"/>
              </a:ext>
            </a:extLst>
          </p:cNvPr>
          <p:cNvSpPr/>
          <p:nvPr/>
        </p:nvSpPr>
        <p:spPr>
          <a:xfrm>
            <a:off x="550899" y="136347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E69B41-77A4-4D66-4A7D-89793555360F}"/>
              </a:ext>
            </a:extLst>
          </p:cNvPr>
          <p:cNvSpPr txBox="1"/>
          <p:nvPr/>
        </p:nvSpPr>
        <p:spPr>
          <a:xfrm>
            <a:off x="496858" y="334162"/>
            <a:ext cx="15307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user-id</a:t>
            </a:r>
          </a:p>
          <a:p>
            <a:r>
              <a:rPr lang="en-US" dirty="0"/>
              <a:t>amount</a:t>
            </a:r>
          </a:p>
          <a:p>
            <a:r>
              <a:rPr lang="en-US" dirty="0"/>
              <a:t>external </a:t>
            </a:r>
            <a:r>
              <a:rPr lang="en-US" dirty="0" err="1"/>
              <a:t>txn</a:t>
            </a:r>
            <a:r>
              <a:rPr lang="en-US" dirty="0"/>
              <a:t> 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5C0C66-608A-D0C9-F3F1-A7BFE6FAE21A}"/>
              </a:ext>
            </a:extLst>
          </p:cNvPr>
          <p:cNvSpPr txBox="1"/>
          <p:nvPr/>
        </p:nvSpPr>
        <p:spPr>
          <a:xfrm>
            <a:off x="1330131" y="4808363"/>
            <a:ext cx="1394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Transactions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dirty="0" err="1"/>
              <a:t>external_id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B4AA47-6BFE-6EED-9E47-2B06894043F2}"/>
              </a:ext>
            </a:extLst>
          </p:cNvPr>
          <p:cNvSpPr txBox="1"/>
          <p:nvPr/>
        </p:nvSpPr>
        <p:spPr>
          <a:xfrm>
            <a:off x="3047623" y="4811943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F77500-3F96-E8C2-5E02-76C05B12D11D}"/>
              </a:ext>
            </a:extLst>
          </p:cNvPr>
          <p:cNvSpPr txBox="1"/>
          <p:nvPr/>
        </p:nvSpPr>
        <p:spPr>
          <a:xfrm>
            <a:off x="9806224" y="4346698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b="1" i="1" u="sng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</p:spTree>
    <p:extLst>
      <p:ext uri="{BB962C8B-B14F-4D97-AF65-F5344CB8AC3E}">
        <p14:creationId xmlns:p14="http://schemas.microsoft.com/office/powerpoint/2010/main" val="1407515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CABF-80A3-C9A4-4203-74479D73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4A5367-96F8-7AE8-F1F6-735F23B62AD3}"/>
              </a:ext>
            </a:extLst>
          </p:cNvPr>
          <p:cNvSpPr/>
          <p:nvPr/>
        </p:nvSpPr>
        <p:spPr>
          <a:xfrm>
            <a:off x="2542699" y="128574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Tx</a:t>
            </a:r>
            <a:br>
              <a:rPr lang="en-US" sz="1600" dirty="0"/>
            </a:br>
            <a:r>
              <a:rPr lang="en-US" sz="1600" dirty="0"/>
              <a:t>processor</a:t>
            </a:r>
          </a:p>
          <a:p>
            <a:pPr algn="ctr"/>
            <a:r>
              <a:rPr lang="en-US" sz="1600" dirty="0"/>
              <a:t>(app)</a:t>
            </a:r>
            <a:endParaRPr lang="en-RU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D21C4B-B5BA-1E05-7B6A-FBBE0DAE39F5}"/>
              </a:ext>
            </a:extLst>
          </p:cNvPr>
          <p:cNvSpPr/>
          <p:nvPr/>
        </p:nvSpPr>
        <p:spPr>
          <a:xfrm>
            <a:off x="9511312" y="1229559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Balance</a:t>
            </a:r>
            <a:br>
              <a:rPr lang="en-US" sz="1600" dirty="0"/>
            </a:br>
            <a:r>
              <a:rPr lang="en-US" sz="1600" dirty="0"/>
              <a:t>viewer</a:t>
            </a:r>
            <a:endParaRPr lang="en-RU" sz="16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3C8D122B-C927-302A-3DC1-87496D673BD3}"/>
              </a:ext>
            </a:extLst>
          </p:cNvPr>
          <p:cNvSpPr/>
          <p:nvPr/>
        </p:nvSpPr>
        <p:spPr>
          <a:xfrm>
            <a:off x="2571071" y="3075494"/>
            <a:ext cx="1399609" cy="1220724"/>
          </a:xfrm>
          <a:prstGeom prst="can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99609"/>
                      <a:gd name="connsiteY0" fmla="*/ 152591 h 1220724"/>
                      <a:gd name="connsiteX1" fmla="*/ 699805 w 1399609"/>
                      <a:gd name="connsiteY1" fmla="*/ 305182 h 1220724"/>
                      <a:gd name="connsiteX2" fmla="*/ 1399610 w 1399609"/>
                      <a:gd name="connsiteY2" fmla="*/ 152591 h 1220724"/>
                      <a:gd name="connsiteX3" fmla="*/ 1399609 w 1399609"/>
                      <a:gd name="connsiteY3" fmla="*/ 1068134 h 1220724"/>
                      <a:gd name="connsiteX4" fmla="*/ 699804 w 1399609"/>
                      <a:gd name="connsiteY4" fmla="*/ 1220725 h 1220724"/>
                      <a:gd name="connsiteX5" fmla="*/ -1 w 1399609"/>
                      <a:gd name="connsiteY5" fmla="*/ 1068134 h 1220724"/>
                      <a:gd name="connsiteX6" fmla="*/ 0 w 1399609"/>
                      <a:gd name="connsiteY6" fmla="*/ 152591 h 1220724"/>
                      <a:gd name="connsiteX0" fmla="*/ 0 w 1399609"/>
                      <a:gd name="connsiteY0" fmla="*/ 152591 h 1220724"/>
                      <a:gd name="connsiteX1" fmla="*/ 699805 w 1399609"/>
                      <a:gd name="connsiteY1" fmla="*/ 0 h 1220724"/>
                      <a:gd name="connsiteX2" fmla="*/ 1399610 w 1399609"/>
                      <a:gd name="connsiteY2" fmla="*/ 152591 h 1220724"/>
                      <a:gd name="connsiteX3" fmla="*/ 699805 w 1399609"/>
                      <a:gd name="connsiteY3" fmla="*/ 305182 h 1220724"/>
                      <a:gd name="connsiteX4" fmla="*/ 0 w 1399609"/>
                      <a:gd name="connsiteY4" fmla="*/ 152591 h 1220724"/>
                      <a:gd name="connsiteX0" fmla="*/ 1399609 w 1399609"/>
                      <a:gd name="connsiteY0" fmla="*/ 152591 h 1220724"/>
                      <a:gd name="connsiteX1" fmla="*/ 699804 w 1399609"/>
                      <a:gd name="connsiteY1" fmla="*/ 305182 h 1220724"/>
                      <a:gd name="connsiteX2" fmla="*/ -1 w 1399609"/>
                      <a:gd name="connsiteY2" fmla="*/ 152591 h 1220724"/>
                      <a:gd name="connsiteX3" fmla="*/ 699804 w 1399609"/>
                      <a:gd name="connsiteY3" fmla="*/ 0 h 1220724"/>
                      <a:gd name="connsiteX4" fmla="*/ 1399609 w 1399609"/>
                      <a:gd name="connsiteY4" fmla="*/ 152591 h 1220724"/>
                      <a:gd name="connsiteX5" fmla="*/ 1399609 w 1399609"/>
                      <a:gd name="connsiteY5" fmla="*/ 628673 h 1220724"/>
                      <a:gd name="connsiteX6" fmla="*/ 1399609 w 1399609"/>
                      <a:gd name="connsiteY6" fmla="*/ 1068134 h 1220724"/>
                      <a:gd name="connsiteX7" fmla="*/ 699804 w 1399609"/>
                      <a:gd name="connsiteY7" fmla="*/ 1220725 h 1220724"/>
                      <a:gd name="connsiteX8" fmla="*/ -1 w 1399609"/>
                      <a:gd name="connsiteY8" fmla="*/ 1068134 h 1220724"/>
                      <a:gd name="connsiteX9" fmla="*/ 0 w 1399609"/>
                      <a:gd name="connsiteY9" fmla="*/ 152591 h 1220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99609" h="1220724" stroke="0" extrusionOk="0">
                        <a:moveTo>
                          <a:pt x="0" y="152591"/>
                        </a:moveTo>
                        <a:cubicBezTo>
                          <a:pt x="-37815" y="213540"/>
                          <a:pt x="275775" y="319271"/>
                          <a:pt x="699805" y="305182"/>
                        </a:cubicBezTo>
                        <a:cubicBezTo>
                          <a:pt x="1097731" y="307589"/>
                          <a:pt x="1386665" y="237277"/>
                          <a:pt x="1399610" y="152591"/>
                        </a:cubicBezTo>
                        <a:cubicBezTo>
                          <a:pt x="1350083" y="506138"/>
                          <a:pt x="1398111" y="771231"/>
                          <a:pt x="1399609" y="1068134"/>
                        </a:cubicBezTo>
                        <a:cubicBezTo>
                          <a:pt x="1340379" y="1120002"/>
                          <a:pt x="1168466" y="1259987"/>
                          <a:pt x="699804" y="1220725"/>
                        </a:cubicBezTo>
                        <a:cubicBezTo>
                          <a:pt x="315934" y="1221036"/>
                          <a:pt x="7620" y="1136725"/>
                          <a:pt x="-1" y="1068134"/>
                        </a:cubicBezTo>
                        <a:cubicBezTo>
                          <a:pt x="-7770" y="761763"/>
                          <a:pt x="-24480" y="480820"/>
                          <a:pt x="0" y="152591"/>
                        </a:cubicBezTo>
                        <a:close/>
                      </a:path>
                      <a:path w="1399609" h="1220724" fill="lighten" stroke="0" extrusionOk="0">
                        <a:moveTo>
                          <a:pt x="0" y="152591"/>
                        </a:moveTo>
                        <a:cubicBezTo>
                          <a:pt x="-9243" y="-19829"/>
                          <a:pt x="267294" y="63953"/>
                          <a:pt x="699805" y="0"/>
                        </a:cubicBezTo>
                        <a:cubicBezTo>
                          <a:pt x="1106048" y="11057"/>
                          <a:pt x="1402632" y="69044"/>
                          <a:pt x="1399610" y="152591"/>
                        </a:cubicBezTo>
                        <a:cubicBezTo>
                          <a:pt x="1372665" y="232507"/>
                          <a:pt x="1132432" y="342912"/>
                          <a:pt x="699805" y="305182"/>
                        </a:cubicBezTo>
                        <a:cubicBezTo>
                          <a:pt x="314636" y="307151"/>
                          <a:pt x="1564" y="253058"/>
                          <a:pt x="0" y="152591"/>
                        </a:cubicBezTo>
                        <a:close/>
                      </a:path>
                      <a:path w="1399609" h="1220724" fill="none" extrusionOk="0">
                        <a:moveTo>
                          <a:pt x="1399609" y="152591"/>
                        </a:moveTo>
                        <a:cubicBezTo>
                          <a:pt x="1412134" y="165242"/>
                          <a:pt x="1011031" y="300922"/>
                          <a:pt x="699804" y="305182"/>
                        </a:cubicBezTo>
                        <a:cubicBezTo>
                          <a:pt x="319342" y="310373"/>
                          <a:pt x="-4917" y="251709"/>
                          <a:pt x="-1" y="152591"/>
                        </a:cubicBezTo>
                        <a:cubicBezTo>
                          <a:pt x="-11215" y="90829"/>
                          <a:pt x="265946" y="-62847"/>
                          <a:pt x="699804" y="0"/>
                        </a:cubicBezTo>
                        <a:cubicBezTo>
                          <a:pt x="1105306" y="5956"/>
                          <a:pt x="1399222" y="60278"/>
                          <a:pt x="1399609" y="152591"/>
                        </a:cubicBezTo>
                        <a:cubicBezTo>
                          <a:pt x="1403548" y="277672"/>
                          <a:pt x="1355366" y="449147"/>
                          <a:pt x="1399609" y="628673"/>
                        </a:cubicBezTo>
                        <a:cubicBezTo>
                          <a:pt x="1443852" y="808199"/>
                          <a:pt x="1390602" y="913348"/>
                          <a:pt x="1399609" y="1068134"/>
                        </a:cubicBezTo>
                        <a:cubicBezTo>
                          <a:pt x="1452091" y="1112987"/>
                          <a:pt x="1132201" y="1141027"/>
                          <a:pt x="699804" y="1220725"/>
                        </a:cubicBezTo>
                        <a:cubicBezTo>
                          <a:pt x="310846" y="1219780"/>
                          <a:pt x="17114" y="1135579"/>
                          <a:pt x="-1" y="1068134"/>
                        </a:cubicBezTo>
                        <a:cubicBezTo>
                          <a:pt x="-17128" y="772556"/>
                          <a:pt x="12287" y="491065"/>
                          <a:pt x="0" y="152591"/>
                        </a:cubicBezTo>
                      </a:path>
                      <a:path w="1399609" h="1220724" fill="none" stroke="0" extrusionOk="0">
                        <a:moveTo>
                          <a:pt x="1399609" y="152591"/>
                        </a:moveTo>
                        <a:cubicBezTo>
                          <a:pt x="1410480" y="253610"/>
                          <a:pt x="1131286" y="360291"/>
                          <a:pt x="699804" y="305182"/>
                        </a:cubicBezTo>
                        <a:cubicBezTo>
                          <a:pt x="320763" y="298659"/>
                          <a:pt x="1631" y="229189"/>
                          <a:pt x="-1" y="152591"/>
                        </a:cubicBezTo>
                        <a:cubicBezTo>
                          <a:pt x="-12266" y="70331"/>
                          <a:pt x="245756" y="-46613"/>
                          <a:pt x="699804" y="0"/>
                        </a:cubicBezTo>
                        <a:cubicBezTo>
                          <a:pt x="1063566" y="-1613"/>
                          <a:pt x="1396361" y="61697"/>
                          <a:pt x="1399609" y="152591"/>
                        </a:cubicBezTo>
                        <a:cubicBezTo>
                          <a:pt x="1407733" y="298312"/>
                          <a:pt x="1364739" y="467045"/>
                          <a:pt x="1399609" y="601207"/>
                        </a:cubicBezTo>
                        <a:cubicBezTo>
                          <a:pt x="1434479" y="735369"/>
                          <a:pt x="1389309" y="940748"/>
                          <a:pt x="1399609" y="1068134"/>
                        </a:cubicBezTo>
                        <a:cubicBezTo>
                          <a:pt x="1397871" y="1193715"/>
                          <a:pt x="1104269" y="1210064"/>
                          <a:pt x="699804" y="1220725"/>
                        </a:cubicBezTo>
                        <a:cubicBezTo>
                          <a:pt x="306545" y="1231467"/>
                          <a:pt x="-23609" y="1153667"/>
                          <a:pt x="-1" y="1068134"/>
                        </a:cubicBezTo>
                        <a:cubicBezTo>
                          <a:pt x="31173" y="824678"/>
                          <a:pt x="-30697" y="473960"/>
                          <a:pt x="0" y="15259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transactions</a:t>
            </a:r>
            <a:endParaRPr lang="en-RU" sz="1600" dirty="0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34171A48-3832-79BB-8408-B9DD1716567B}"/>
              </a:ext>
            </a:extLst>
          </p:cNvPr>
          <p:cNvSpPr/>
          <p:nvPr/>
        </p:nvSpPr>
        <p:spPr>
          <a:xfrm>
            <a:off x="9559478" y="3075494"/>
            <a:ext cx="1399608" cy="122072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balance</a:t>
            </a:r>
            <a:endParaRPr lang="en-RU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44B848-79D8-31BE-1D44-9293221E3CFC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266586" y="2200146"/>
            <a:ext cx="4290" cy="87534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961501-D8C9-3D8B-6A16-C625A4AB47D1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10235199" y="2143959"/>
            <a:ext cx="24083" cy="931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4C1B71-F241-6FCC-ECA9-C9A2BD5EFEE2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1611603" y="1742946"/>
            <a:ext cx="93109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DA974B7-4070-E5A6-4DBD-25CA94809ADE}"/>
              </a:ext>
            </a:extLst>
          </p:cNvPr>
          <p:cNvSpPr/>
          <p:nvPr/>
        </p:nvSpPr>
        <p:spPr>
          <a:xfrm>
            <a:off x="4823262" y="1974805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578ACC-6B99-E148-1C2A-F9F86EE4134E}"/>
              </a:ext>
            </a:extLst>
          </p:cNvPr>
          <p:cNvCxnSpPr>
            <a:cxnSpLocks/>
            <a:stCxn id="50" idx="0"/>
            <a:endCxn id="12" idx="4"/>
          </p:cNvCxnSpPr>
          <p:nvPr/>
        </p:nvCxnSpPr>
        <p:spPr>
          <a:xfrm flipV="1">
            <a:off x="5403280" y="3244647"/>
            <a:ext cx="158178" cy="15637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65B1CC-0D9D-7AA2-A143-0D6C9CE0C76C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6083441" y="3058683"/>
            <a:ext cx="490326" cy="59942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EA095C-9997-98EF-09D4-3B90FBC39DBA}"/>
              </a:ext>
            </a:extLst>
          </p:cNvPr>
          <p:cNvCxnSpPr>
            <a:cxnSpLocks/>
            <a:stCxn id="83" idx="6"/>
            <a:endCxn id="74" idx="1"/>
          </p:cNvCxnSpPr>
          <p:nvPr/>
        </p:nvCxnSpPr>
        <p:spPr>
          <a:xfrm flipV="1">
            <a:off x="8928191" y="4808363"/>
            <a:ext cx="878033" cy="4616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243DFF-E67F-315A-FA62-E795D5CD9318}"/>
              </a:ext>
            </a:extLst>
          </p:cNvPr>
          <p:cNvCxnSpPr>
            <a:cxnSpLocks/>
            <a:stCxn id="6" idx="3"/>
            <a:endCxn id="49" idx="0"/>
          </p:cNvCxnSpPr>
          <p:nvPr/>
        </p:nvCxnSpPr>
        <p:spPr>
          <a:xfrm>
            <a:off x="3270876" y="4296218"/>
            <a:ext cx="386434" cy="5157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2D7308-6C3A-1D30-A2BE-6EA424B576FB}"/>
              </a:ext>
            </a:extLst>
          </p:cNvPr>
          <p:cNvCxnSpPr>
            <a:cxnSpLocks/>
            <a:stCxn id="6" idx="3"/>
            <a:endCxn id="48" idx="0"/>
          </p:cNvCxnSpPr>
          <p:nvPr/>
        </p:nvCxnSpPr>
        <p:spPr>
          <a:xfrm flipH="1">
            <a:off x="2027598" y="4296218"/>
            <a:ext cx="1243278" cy="5121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redefined Process 24">
            <a:extLst>
              <a:ext uri="{FF2B5EF4-FFF2-40B4-BE49-F238E27FC236}">
                <a16:creationId xmlns:a16="http://schemas.microsoft.com/office/drawing/2014/main" id="{43B1860E-22C9-4F79-BF22-EC8A395A12BA}"/>
              </a:ext>
            </a:extLst>
          </p:cNvPr>
          <p:cNvSpPr/>
          <p:nvPr/>
        </p:nvSpPr>
        <p:spPr>
          <a:xfrm>
            <a:off x="6201414" y="3658106"/>
            <a:ext cx="1348624" cy="669177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Kafka</a:t>
            </a:r>
            <a:endParaRPr lang="en-RU" sz="1600" dirty="0"/>
          </a:p>
        </p:txBody>
      </p:sp>
      <p:sp>
        <p:nvSpPr>
          <p:cNvPr id="36" name="Multidocument 35">
            <a:extLst>
              <a:ext uri="{FF2B5EF4-FFF2-40B4-BE49-F238E27FC236}">
                <a16:creationId xmlns:a16="http://schemas.microsoft.com/office/drawing/2014/main" id="{FD8F1383-3A2B-18BF-B9F4-662B5D2ADF83}"/>
              </a:ext>
            </a:extLst>
          </p:cNvPr>
          <p:cNvSpPr/>
          <p:nvPr/>
        </p:nvSpPr>
        <p:spPr>
          <a:xfrm>
            <a:off x="550899" y="136347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6B4408-7CF7-6AAB-E624-549E91D8AA64}"/>
              </a:ext>
            </a:extLst>
          </p:cNvPr>
          <p:cNvSpPr txBox="1"/>
          <p:nvPr/>
        </p:nvSpPr>
        <p:spPr>
          <a:xfrm>
            <a:off x="496858" y="334162"/>
            <a:ext cx="15307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user-id</a:t>
            </a:r>
          </a:p>
          <a:p>
            <a:r>
              <a:rPr lang="en-US" dirty="0"/>
              <a:t>amount</a:t>
            </a:r>
          </a:p>
          <a:p>
            <a:r>
              <a:rPr lang="en-US" dirty="0"/>
              <a:t>external </a:t>
            </a:r>
            <a:r>
              <a:rPr lang="en-US" dirty="0" err="1"/>
              <a:t>txn</a:t>
            </a:r>
            <a:r>
              <a:rPr lang="en-US" dirty="0"/>
              <a:t> 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9C1C34-0E6F-6DB7-912A-ED4635EE335D}"/>
              </a:ext>
            </a:extLst>
          </p:cNvPr>
          <p:cNvSpPr txBox="1"/>
          <p:nvPr/>
        </p:nvSpPr>
        <p:spPr>
          <a:xfrm>
            <a:off x="1330131" y="4808363"/>
            <a:ext cx="1394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Transactions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dirty="0" err="1"/>
              <a:t>external_id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08FAAE-1672-7815-4F54-9627D5A8B720}"/>
              </a:ext>
            </a:extLst>
          </p:cNvPr>
          <p:cNvSpPr txBox="1"/>
          <p:nvPr/>
        </p:nvSpPr>
        <p:spPr>
          <a:xfrm>
            <a:off x="3047623" y="4811943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7BDDDA-08CD-C325-FBDC-CEEB575D1274}"/>
              </a:ext>
            </a:extLst>
          </p:cNvPr>
          <p:cNvSpPr txBox="1"/>
          <p:nvPr/>
        </p:nvSpPr>
        <p:spPr>
          <a:xfrm>
            <a:off x="4570455" y="4808363"/>
            <a:ext cx="16656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Outbox</a:t>
            </a:r>
            <a:br>
              <a:rPr lang="en-US" dirty="0"/>
            </a:br>
            <a:r>
              <a:rPr lang="en-US" dirty="0"/>
              <a:t>id (event)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 err="1"/>
              <a:t>transaction_id</a:t>
            </a:r>
            <a:br>
              <a:rPr lang="en-US" dirty="0"/>
            </a:br>
            <a:r>
              <a:rPr lang="en-US" dirty="0"/>
              <a:t>payload (blob)</a:t>
            </a:r>
            <a:br>
              <a:rPr lang="en-US" dirty="0"/>
            </a:br>
            <a:r>
              <a:rPr lang="en-US" dirty="0"/>
              <a:t>processed [Y/N]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9EAC8C-63C7-CAB5-69D2-924B487C744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70876" y="4296218"/>
            <a:ext cx="1374116" cy="5193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CC8528F-49B0-2889-3916-03AE09CD1B51}"/>
              </a:ext>
            </a:extLst>
          </p:cNvPr>
          <p:cNvSpPr txBox="1"/>
          <p:nvPr/>
        </p:nvSpPr>
        <p:spPr>
          <a:xfrm>
            <a:off x="9806224" y="4346698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b="1" i="1" u="sng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350FCF-B9D8-5167-E643-7A137710017D}"/>
              </a:ext>
            </a:extLst>
          </p:cNvPr>
          <p:cNvSpPr txBox="1"/>
          <p:nvPr/>
        </p:nvSpPr>
        <p:spPr>
          <a:xfrm>
            <a:off x="9806224" y="5542139"/>
            <a:ext cx="1531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Inbox</a:t>
            </a:r>
            <a:br>
              <a:rPr lang="en-US" dirty="0"/>
            </a:br>
            <a:r>
              <a:rPr lang="en-US" dirty="0" err="1"/>
              <a:t>transaction_id</a:t>
            </a:r>
            <a:endParaRPr lang="en-US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EF0FA95-2DDC-8DA8-EBC3-7A06BA987605}"/>
              </a:ext>
            </a:extLst>
          </p:cNvPr>
          <p:cNvSpPr/>
          <p:nvPr/>
        </p:nvSpPr>
        <p:spPr>
          <a:xfrm>
            <a:off x="7451800" y="4635107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BF0643E-6067-5F66-4671-EC8C11AD7829}"/>
              </a:ext>
            </a:extLst>
          </p:cNvPr>
          <p:cNvCxnSpPr>
            <a:cxnSpLocks/>
            <a:stCxn id="83" idx="6"/>
            <a:endCxn id="75" idx="1"/>
          </p:cNvCxnSpPr>
          <p:nvPr/>
        </p:nvCxnSpPr>
        <p:spPr>
          <a:xfrm>
            <a:off x="8928191" y="5270028"/>
            <a:ext cx="878033" cy="5952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76AE40D-2244-DF2B-B8BE-78CA55BD4DDA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266935" y="4346698"/>
            <a:ext cx="401077" cy="4743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992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F6AD2-32B1-1702-E800-F91DF992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6A0156-1C1B-06E9-2040-4157020D742D}"/>
              </a:ext>
            </a:extLst>
          </p:cNvPr>
          <p:cNvSpPr/>
          <p:nvPr/>
        </p:nvSpPr>
        <p:spPr>
          <a:xfrm>
            <a:off x="2542699" y="128574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Tx</a:t>
            </a:r>
            <a:br>
              <a:rPr lang="en-US" sz="1600" dirty="0"/>
            </a:br>
            <a:r>
              <a:rPr lang="en-US" sz="1600" dirty="0"/>
              <a:t>processor</a:t>
            </a:r>
          </a:p>
          <a:p>
            <a:pPr algn="ctr"/>
            <a:r>
              <a:rPr lang="en-US" sz="1600" dirty="0"/>
              <a:t>(app)</a:t>
            </a:r>
            <a:endParaRPr lang="en-RU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E27235-32AC-F1E2-5141-4055F8F66A69}"/>
              </a:ext>
            </a:extLst>
          </p:cNvPr>
          <p:cNvSpPr/>
          <p:nvPr/>
        </p:nvSpPr>
        <p:spPr>
          <a:xfrm>
            <a:off x="9511312" y="1229559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Balance</a:t>
            </a:r>
            <a:br>
              <a:rPr lang="en-US" sz="1600" dirty="0"/>
            </a:br>
            <a:r>
              <a:rPr lang="en-US" sz="1600" dirty="0"/>
              <a:t>viewer</a:t>
            </a:r>
            <a:endParaRPr lang="en-RU" sz="16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BB8256A6-D64D-31DB-ED3E-5BAC54BDA8E1}"/>
              </a:ext>
            </a:extLst>
          </p:cNvPr>
          <p:cNvSpPr/>
          <p:nvPr/>
        </p:nvSpPr>
        <p:spPr>
          <a:xfrm>
            <a:off x="2571071" y="3075494"/>
            <a:ext cx="1399609" cy="1220724"/>
          </a:xfrm>
          <a:prstGeom prst="can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99609"/>
                      <a:gd name="connsiteY0" fmla="*/ 152591 h 1220724"/>
                      <a:gd name="connsiteX1" fmla="*/ 699805 w 1399609"/>
                      <a:gd name="connsiteY1" fmla="*/ 305182 h 1220724"/>
                      <a:gd name="connsiteX2" fmla="*/ 1399610 w 1399609"/>
                      <a:gd name="connsiteY2" fmla="*/ 152591 h 1220724"/>
                      <a:gd name="connsiteX3" fmla="*/ 1399609 w 1399609"/>
                      <a:gd name="connsiteY3" fmla="*/ 1068134 h 1220724"/>
                      <a:gd name="connsiteX4" fmla="*/ 699804 w 1399609"/>
                      <a:gd name="connsiteY4" fmla="*/ 1220725 h 1220724"/>
                      <a:gd name="connsiteX5" fmla="*/ -1 w 1399609"/>
                      <a:gd name="connsiteY5" fmla="*/ 1068134 h 1220724"/>
                      <a:gd name="connsiteX6" fmla="*/ 0 w 1399609"/>
                      <a:gd name="connsiteY6" fmla="*/ 152591 h 1220724"/>
                      <a:gd name="connsiteX0" fmla="*/ 0 w 1399609"/>
                      <a:gd name="connsiteY0" fmla="*/ 152591 h 1220724"/>
                      <a:gd name="connsiteX1" fmla="*/ 699805 w 1399609"/>
                      <a:gd name="connsiteY1" fmla="*/ 0 h 1220724"/>
                      <a:gd name="connsiteX2" fmla="*/ 1399610 w 1399609"/>
                      <a:gd name="connsiteY2" fmla="*/ 152591 h 1220724"/>
                      <a:gd name="connsiteX3" fmla="*/ 699805 w 1399609"/>
                      <a:gd name="connsiteY3" fmla="*/ 305182 h 1220724"/>
                      <a:gd name="connsiteX4" fmla="*/ 0 w 1399609"/>
                      <a:gd name="connsiteY4" fmla="*/ 152591 h 1220724"/>
                      <a:gd name="connsiteX0" fmla="*/ 1399609 w 1399609"/>
                      <a:gd name="connsiteY0" fmla="*/ 152591 h 1220724"/>
                      <a:gd name="connsiteX1" fmla="*/ 699804 w 1399609"/>
                      <a:gd name="connsiteY1" fmla="*/ 305182 h 1220724"/>
                      <a:gd name="connsiteX2" fmla="*/ -1 w 1399609"/>
                      <a:gd name="connsiteY2" fmla="*/ 152591 h 1220724"/>
                      <a:gd name="connsiteX3" fmla="*/ 699804 w 1399609"/>
                      <a:gd name="connsiteY3" fmla="*/ 0 h 1220724"/>
                      <a:gd name="connsiteX4" fmla="*/ 1399609 w 1399609"/>
                      <a:gd name="connsiteY4" fmla="*/ 152591 h 1220724"/>
                      <a:gd name="connsiteX5" fmla="*/ 1399609 w 1399609"/>
                      <a:gd name="connsiteY5" fmla="*/ 628673 h 1220724"/>
                      <a:gd name="connsiteX6" fmla="*/ 1399609 w 1399609"/>
                      <a:gd name="connsiteY6" fmla="*/ 1068134 h 1220724"/>
                      <a:gd name="connsiteX7" fmla="*/ 699804 w 1399609"/>
                      <a:gd name="connsiteY7" fmla="*/ 1220725 h 1220724"/>
                      <a:gd name="connsiteX8" fmla="*/ -1 w 1399609"/>
                      <a:gd name="connsiteY8" fmla="*/ 1068134 h 1220724"/>
                      <a:gd name="connsiteX9" fmla="*/ 0 w 1399609"/>
                      <a:gd name="connsiteY9" fmla="*/ 152591 h 1220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99609" h="1220724" stroke="0" extrusionOk="0">
                        <a:moveTo>
                          <a:pt x="0" y="152591"/>
                        </a:moveTo>
                        <a:cubicBezTo>
                          <a:pt x="-37815" y="213540"/>
                          <a:pt x="275775" y="319271"/>
                          <a:pt x="699805" y="305182"/>
                        </a:cubicBezTo>
                        <a:cubicBezTo>
                          <a:pt x="1097731" y="307589"/>
                          <a:pt x="1386665" y="237277"/>
                          <a:pt x="1399610" y="152591"/>
                        </a:cubicBezTo>
                        <a:cubicBezTo>
                          <a:pt x="1350083" y="506138"/>
                          <a:pt x="1398111" y="771231"/>
                          <a:pt x="1399609" y="1068134"/>
                        </a:cubicBezTo>
                        <a:cubicBezTo>
                          <a:pt x="1340379" y="1120002"/>
                          <a:pt x="1168466" y="1259987"/>
                          <a:pt x="699804" y="1220725"/>
                        </a:cubicBezTo>
                        <a:cubicBezTo>
                          <a:pt x="315934" y="1221036"/>
                          <a:pt x="7620" y="1136725"/>
                          <a:pt x="-1" y="1068134"/>
                        </a:cubicBezTo>
                        <a:cubicBezTo>
                          <a:pt x="-7770" y="761763"/>
                          <a:pt x="-24480" y="480820"/>
                          <a:pt x="0" y="152591"/>
                        </a:cubicBezTo>
                        <a:close/>
                      </a:path>
                      <a:path w="1399609" h="1220724" fill="lighten" stroke="0" extrusionOk="0">
                        <a:moveTo>
                          <a:pt x="0" y="152591"/>
                        </a:moveTo>
                        <a:cubicBezTo>
                          <a:pt x="-9243" y="-19829"/>
                          <a:pt x="267294" y="63953"/>
                          <a:pt x="699805" y="0"/>
                        </a:cubicBezTo>
                        <a:cubicBezTo>
                          <a:pt x="1106048" y="11057"/>
                          <a:pt x="1402632" y="69044"/>
                          <a:pt x="1399610" y="152591"/>
                        </a:cubicBezTo>
                        <a:cubicBezTo>
                          <a:pt x="1372665" y="232507"/>
                          <a:pt x="1132432" y="342912"/>
                          <a:pt x="699805" y="305182"/>
                        </a:cubicBezTo>
                        <a:cubicBezTo>
                          <a:pt x="314636" y="307151"/>
                          <a:pt x="1564" y="253058"/>
                          <a:pt x="0" y="152591"/>
                        </a:cubicBezTo>
                        <a:close/>
                      </a:path>
                      <a:path w="1399609" h="1220724" fill="none" extrusionOk="0">
                        <a:moveTo>
                          <a:pt x="1399609" y="152591"/>
                        </a:moveTo>
                        <a:cubicBezTo>
                          <a:pt x="1412134" y="165242"/>
                          <a:pt x="1011031" y="300922"/>
                          <a:pt x="699804" y="305182"/>
                        </a:cubicBezTo>
                        <a:cubicBezTo>
                          <a:pt x="319342" y="310373"/>
                          <a:pt x="-4917" y="251709"/>
                          <a:pt x="-1" y="152591"/>
                        </a:cubicBezTo>
                        <a:cubicBezTo>
                          <a:pt x="-11215" y="90829"/>
                          <a:pt x="265946" y="-62847"/>
                          <a:pt x="699804" y="0"/>
                        </a:cubicBezTo>
                        <a:cubicBezTo>
                          <a:pt x="1105306" y="5956"/>
                          <a:pt x="1399222" y="60278"/>
                          <a:pt x="1399609" y="152591"/>
                        </a:cubicBezTo>
                        <a:cubicBezTo>
                          <a:pt x="1403548" y="277672"/>
                          <a:pt x="1355366" y="449147"/>
                          <a:pt x="1399609" y="628673"/>
                        </a:cubicBezTo>
                        <a:cubicBezTo>
                          <a:pt x="1443852" y="808199"/>
                          <a:pt x="1390602" y="913348"/>
                          <a:pt x="1399609" y="1068134"/>
                        </a:cubicBezTo>
                        <a:cubicBezTo>
                          <a:pt x="1452091" y="1112987"/>
                          <a:pt x="1132201" y="1141027"/>
                          <a:pt x="699804" y="1220725"/>
                        </a:cubicBezTo>
                        <a:cubicBezTo>
                          <a:pt x="310846" y="1219780"/>
                          <a:pt x="17114" y="1135579"/>
                          <a:pt x="-1" y="1068134"/>
                        </a:cubicBezTo>
                        <a:cubicBezTo>
                          <a:pt x="-17128" y="772556"/>
                          <a:pt x="12287" y="491065"/>
                          <a:pt x="0" y="152591"/>
                        </a:cubicBezTo>
                      </a:path>
                      <a:path w="1399609" h="1220724" fill="none" stroke="0" extrusionOk="0">
                        <a:moveTo>
                          <a:pt x="1399609" y="152591"/>
                        </a:moveTo>
                        <a:cubicBezTo>
                          <a:pt x="1410480" y="253610"/>
                          <a:pt x="1131286" y="360291"/>
                          <a:pt x="699804" y="305182"/>
                        </a:cubicBezTo>
                        <a:cubicBezTo>
                          <a:pt x="320763" y="298659"/>
                          <a:pt x="1631" y="229189"/>
                          <a:pt x="-1" y="152591"/>
                        </a:cubicBezTo>
                        <a:cubicBezTo>
                          <a:pt x="-12266" y="70331"/>
                          <a:pt x="245756" y="-46613"/>
                          <a:pt x="699804" y="0"/>
                        </a:cubicBezTo>
                        <a:cubicBezTo>
                          <a:pt x="1063566" y="-1613"/>
                          <a:pt x="1396361" y="61697"/>
                          <a:pt x="1399609" y="152591"/>
                        </a:cubicBezTo>
                        <a:cubicBezTo>
                          <a:pt x="1407733" y="298312"/>
                          <a:pt x="1364739" y="467045"/>
                          <a:pt x="1399609" y="601207"/>
                        </a:cubicBezTo>
                        <a:cubicBezTo>
                          <a:pt x="1434479" y="735369"/>
                          <a:pt x="1389309" y="940748"/>
                          <a:pt x="1399609" y="1068134"/>
                        </a:cubicBezTo>
                        <a:cubicBezTo>
                          <a:pt x="1397871" y="1193715"/>
                          <a:pt x="1104269" y="1210064"/>
                          <a:pt x="699804" y="1220725"/>
                        </a:cubicBezTo>
                        <a:cubicBezTo>
                          <a:pt x="306545" y="1231467"/>
                          <a:pt x="-23609" y="1153667"/>
                          <a:pt x="-1" y="1068134"/>
                        </a:cubicBezTo>
                        <a:cubicBezTo>
                          <a:pt x="31173" y="824678"/>
                          <a:pt x="-30697" y="473960"/>
                          <a:pt x="0" y="15259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transactions</a:t>
            </a:r>
            <a:endParaRPr lang="en-RU" sz="1600" dirty="0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34B56614-9923-E5BB-3CB6-4FF985E82FD3}"/>
              </a:ext>
            </a:extLst>
          </p:cNvPr>
          <p:cNvSpPr/>
          <p:nvPr/>
        </p:nvSpPr>
        <p:spPr>
          <a:xfrm>
            <a:off x="9559478" y="3075494"/>
            <a:ext cx="1399608" cy="122072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balance</a:t>
            </a:r>
            <a:endParaRPr lang="en-RU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715930-F864-01BA-81D1-6E1999DA656F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266586" y="2200146"/>
            <a:ext cx="4290" cy="87534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25C5C1-A525-BB0B-F5F8-EFDEB1AF7483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10235199" y="2143959"/>
            <a:ext cx="24083" cy="931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65B5BA-49AD-D3ED-AC99-EC81820D1696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1611603" y="1742946"/>
            <a:ext cx="93109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B575226-11D0-49C4-2594-FCE77DFDEDCA}"/>
              </a:ext>
            </a:extLst>
          </p:cNvPr>
          <p:cNvSpPr/>
          <p:nvPr/>
        </p:nvSpPr>
        <p:spPr>
          <a:xfrm>
            <a:off x="4823262" y="1974805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66F40B-EB80-7837-D249-CF91FD0E61A2}"/>
              </a:ext>
            </a:extLst>
          </p:cNvPr>
          <p:cNvCxnSpPr>
            <a:cxnSpLocks/>
            <a:stCxn id="50" idx="0"/>
            <a:endCxn id="12" idx="4"/>
          </p:cNvCxnSpPr>
          <p:nvPr/>
        </p:nvCxnSpPr>
        <p:spPr>
          <a:xfrm flipV="1">
            <a:off x="5403280" y="3244647"/>
            <a:ext cx="158178" cy="15637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A64DB0-A0F4-F10F-BB5B-1F89A55ABEA1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6083441" y="3058683"/>
            <a:ext cx="490326" cy="59942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BD733F-019D-D781-150F-C7099E37A6FD}"/>
              </a:ext>
            </a:extLst>
          </p:cNvPr>
          <p:cNvCxnSpPr>
            <a:cxnSpLocks/>
            <a:stCxn id="83" idx="6"/>
            <a:endCxn id="74" idx="1"/>
          </p:cNvCxnSpPr>
          <p:nvPr/>
        </p:nvCxnSpPr>
        <p:spPr>
          <a:xfrm flipV="1">
            <a:off x="8928191" y="4808363"/>
            <a:ext cx="878033" cy="4616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7C63D3-6430-DF94-6677-1E4AC43A5B22}"/>
              </a:ext>
            </a:extLst>
          </p:cNvPr>
          <p:cNvCxnSpPr>
            <a:cxnSpLocks/>
            <a:stCxn id="6" idx="3"/>
            <a:endCxn id="49" idx="0"/>
          </p:cNvCxnSpPr>
          <p:nvPr/>
        </p:nvCxnSpPr>
        <p:spPr>
          <a:xfrm>
            <a:off x="3270876" y="4296218"/>
            <a:ext cx="386434" cy="5157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7D3759-D00F-37F5-1903-28236711A652}"/>
              </a:ext>
            </a:extLst>
          </p:cNvPr>
          <p:cNvCxnSpPr>
            <a:cxnSpLocks/>
            <a:stCxn id="6" idx="3"/>
            <a:endCxn id="48" idx="0"/>
          </p:cNvCxnSpPr>
          <p:nvPr/>
        </p:nvCxnSpPr>
        <p:spPr>
          <a:xfrm flipH="1">
            <a:off x="2027598" y="4296218"/>
            <a:ext cx="1243278" cy="5121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redefined Process 24">
            <a:extLst>
              <a:ext uri="{FF2B5EF4-FFF2-40B4-BE49-F238E27FC236}">
                <a16:creationId xmlns:a16="http://schemas.microsoft.com/office/drawing/2014/main" id="{404E7465-3C76-1DF7-2A4E-7A5964AD29BB}"/>
              </a:ext>
            </a:extLst>
          </p:cNvPr>
          <p:cNvSpPr/>
          <p:nvPr/>
        </p:nvSpPr>
        <p:spPr>
          <a:xfrm>
            <a:off x="6201414" y="3658106"/>
            <a:ext cx="1348624" cy="669177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Kafka</a:t>
            </a:r>
            <a:endParaRPr lang="en-RU" sz="1600" dirty="0"/>
          </a:p>
        </p:txBody>
      </p:sp>
      <p:sp>
        <p:nvSpPr>
          <p:cNvPr id="36" name="Multidocument 35">
            <a:extLst>
              <a:ext uri="{FF2B5EF4-FFF2-40B4-BE49-F238E27FC236}">
                <a16:creationId xmlns:a16="http://schemas.microsoft.com/office/drawing/2014/main" id="{5B667053-179A-2859-87AA-32BDC1673603}"/>
              </a:ext>
            </a:extLst>
          </p:cNvPr>
          <p:cNvSpPr/>
          <p:nvPr/>
        </p:nvSpPr>
        <p:spPr>
          <a:xfrm>
            <a:off x="550899" y="136347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18267F-E9D0-1662-DF73-F8ABCC5E1ED5}"/>
              </a:ext>
            </a:extLst>
          </p:cNvPr>
          <p:cNvSpPr txBox="1"/>
          <p:nvPr/>
        </p:nvSpPr>
        <p:spPr>
          <a:xfrm>
            <a:off x="496858" y="334162"/>
            <a:ext cx="15307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user-id</a:t>
            </a:r>
          </a:p>
          <a:p>
            <a:r>
              <a:rPr lang="en-US" dirty="0"/>
              <a:t>amount</a:t>
            </a:r>
          </a:p>
          <a:p>
            <a:r>
              <a:rPr lang="en-US" dirty="0"/>
              <a:t>external </a:t>
            </a:r>
            <a:r>
              <a:rPr lang="en-US" dirty="0" err="1"/>
              <a:t>txn</a:t>
            </a:r>
            <a:r>
              <a:rPr lang="en-US" dirty="0"/>
              <a:t> 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4B0479-9863-F24F-16F0-F9FD3D308616}"/>
              </a:ext>
            </a:extLst>
          </p:cNvPr>
          <p:cNvSpPr txBox="1"/>
          <p:nvPr/>
        </p:nvSpPr>
        <p:spPr>
          <a:xfrm>
            <a:off x="1330131" y="4808363"/>
            <a:ext cx="1394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Transactions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dirty="0" err="1"/>
              <a:t>external_id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AD8A96-038F-FF21-1319-A4C85D9FA5EC}"/>
              </a:ext>
            </a:extLst>
          </p:cNvPr>
          <p:cNvSpPr txBox="1"/>
          <p:nvPr/>
        </p:nvSpPr>
        <p:spPr>
          <a:xfrm>
            <a:off x="3047623" y="4811943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097FE5-F8A0-BF5B-30AB-703E1ED311ED}"/>
              </a:ext>
            </a:extLst>
          </p:cNvPr>
          <p:cNvSpPr txBox="1"/>
          <p:nvPr/>
        </p:nvSpPr>
        <p:spPr>
          <a:xfrm>
            <a:off x="4570455" y="4808363"/>
            <a:ext cx="16656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Outbox</a:t>
            </a:r>
            <a:br>
              <a:rPr lang="en-US" dirty="0"/>
            </a:br>
            <a:r>
              <a:rPr lang="en-US" dirty="0"/>
              <a:t>id (event)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 err="1"/>
              <a:t>transaction_id</a:t>
            </a:r>
            <a:br>
              <a:rPr lang="en-US" dirty="0"/>
            </a:br>
            <a:r>
              <a:rPr lang="en-US" dirty="0"/>
              <a:t>payload (blob)</a:t>
            </a:r>
            <a:br>
              <a:rPr lang="en-US" dirty="0"/>
            </a:br>
            <a:r>
              <a:rPr lang="en-US" dirty="0"/>
              <a:t>processed [Y/N]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3C6FB8C-AA9A-89C8-7E89-41ECF875E26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70876" y="4296218"/>
            <a:ext cx="1374116" cy="5193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621AC0D-81A0-F08A-5204-D9DBD42CA80E}"/>
              </a:ext>
            </a:extLst>
          </p:cNvPr>
          <p:cNvSpPr txBox="1"/>
          <p:nvPr/>
        </p:nvSpPr>
        <p:spPr>
          <a:xfrm>
            <a:off x="9806224" y="4346698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b="1" i="1" u="sng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876945B-D688-A37D-39A1-BB0582EAED0E}"/>
              </a:ext>
            </a:extLst>
          </p:cNvPr>
          <p:cNvSpPr txBox="1"/>
          <p:nvPr/>
        </p:nvSpPr>
        <p:spPr>
          <a:xfrm>
            <a:off x="9806224" y="5542139"/>
            <a:ext cx="1531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Inbox</a:t>
            </a:r>
            <a:br>
              <a:rPr lang="en-US" dirty="0"/>
            </a:br>
            <a:r>
              <a:rPr lang="en-US" dirty="0" err="1"/>
              <a:t>transaction_id</a:t>
            </a:r>
            <a:endParaRPr lang="en-US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37D0ED6-68D0-24A3-16DE-66C590938A22}"/>
              </a:ext>
            </a:extLst>
          </p:cNvPr>
          <p:cNvSpPr/>
          <p:nvPr/>
        </p:nvSpPr>
        <p:spPr>
          <a:xfrm>
            <a:off x="7451800" y="4635107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AC0360E-DE2C-1AC9-8E2D-0305F9E1C7D6}"/>
              </a:ext>
            </a:extLst>
          </p:cNvPr>
          <p:cNvCxnSpPr>
            <a:cxnSpLocks/>
            <a:stCxn id="83" idx="6"/>
            <a:endCxn id="75" idx="1"/>
          </p:cNvCxnSpPr>
          <p:nvPr/>
        </p:nvCxnSpPr>
        <p:spPr>
          <a:xfrm>
            <a:off x="8928191" y="5270028"/>
            <a:ext cx="878033" cy="5952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83C177A-B5D3-DDEC-9366-C4A15D0648EA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266935" y="4346698"/>
            <a:ext cx="401077" cy="4743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923271-ECF8-5247-AB3E-038EC819F793}"/>
              </a:ext>
            </a:extLst>
          </p:cNvPr>
          <p:cNvSpPr txBox="1"/>
          <p:nvPr/>
        </p:nvSpPr>
        <p:spPr>
          <a:xfrm>
            <a:off x="4963979" y="498122"/>
            <a:ext cx="424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Exactly once = At least once + Idempotence</a:t>
            </a:r>
          </a:p>
        </p:txBody>
      </p:sp>
    </p:spTree>
    <p:extLst>
      <p:ext uri="{BB962C8B-B14F-4D97-AF65-F5344CB8AC3E}">
        <p14:creationId xmlns:p14="http://schemas.microsoft.com/office/powerpoint/2010/main" val="3197141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3710-40C0-894C-9E68-122A3600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264C09A-AAB8-40EE-3918-1CDA31EA0BEB}"/>
              </a:ext>
            </a:extLst>
          </p:cNvPr>
          <p:cNvSpPr/>
          <p:nvPr/>
        </p:nvSpPr>
        <p:spPr>
          <a:xfrm>
            <a:off x="2542699" y="128574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Tx</a:t>
            </a:r>
            <a:br>
              <a:rPr lang="en-US" sz="1600" dirty="0"/>
            </a:br>
            <a:r>
              <a:rPr lang="en-US" sz="1600" dirty="0"/>
              <a:t>processor</a:t>
            </a:r>
          </a:p>
          <a:p>
            <a:pPr algn="ctr"/>
            <a:r>
              <a:rPr lang="en-US" sz="1600" dirty="0"/>
              <a:t>(app)</a:t>
            </a:r>
            <a:endParaRPr lang="en-RU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6FBE86-F835-2C90-37B4-7820AD8316DF}"/>
              </a:ext>
            </a:extLst>
          </p:cNvPr>
          <p:cNvSpPr/>
          <p:nvPr/>
        </p:nvSpPr>
        <p:spPr>
          <a:xfrm>
            <a:off x="9511312" y="1229559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Balance</a:t>
            </a:r>
            <a:br>
              <a:rPr lang="en-US" sz="1600" dirty="0"/>
            </a:br>
            <a:r>
              <a:rPr lang="en-US" sz="1600" dirty="0"/>
              <a:t>viewer</a:t>
            </a:r>
            <a:endParaRPr lang="en-RU" sz="16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4934C716-D060-91EB-EAEB-70320E7F9DB2}"/>
              </a:ext>
            </a:extLst>
          </p:cNvPr>
          <p:cNvSpPr/>
          <p:nvPr/>
        </p:nvSpPr>
        <p:spPr>
          <a:xfrm>
            <a:off x="2571071" y="3075494"/>
            <a:ext cx="1399609" cy="1220724"/>
          </a:xfrm>
          <a:prstGeom prst="can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99609"/>
                      <a:gd name="connsiteY0" fmla="*/ 152591 h 1220724"/>
                      <a:gd name="connsiteX1" fmla="*/ 699805 w 1399609"/>
                      <a:gd name="connsiteY1" fmla="*/ 305182 h 1220724"/>
                      <a:gd name="connsiteX2" fmla="*/ 1399610 w 1399609"/>
                      <a:gd name="connsiteY2" fmla="*/ 152591 h 1220724"/>
                      <a:gd name="connsiteX3" fmla="*/ 1399609 w 1399609"/>
                      <a:gd name="connsiteY3" fmla="*/ 1068134 h 1220724"/>
                      <a:gd name="connsiteX4" fmla="*/ 699804 w 1399609"/>
                      <a:gd name="connsiteY4" fmla="*/ 1220725 h 1220724"/>
                      <a:gd name="connsiteX5" fmla="*/ -1 w 1399609"/>
                      <a:gd name="connsiteY5" fmla="*/ 1068134 h 1220724"/>
                      <a:gd name="connsiteX6" fmla="*/ 0 w 1399609"/>
                      <a:gd name="connsiteY6" fmla="*/ 152591 h 1220724"/>
                      <a:gd name="connsiteX0" fmla="*/ 0 w 1399609"/>
                      <a:gd name="connsiteY0" fmla="*/ 152591 h 1220724"/>
                      <a:gd name="connsiteX1" fmla="*/ 699805 w 1399609"/>
                      <a:gd name="connsiteY1" fmla="*/ 0 h 1220724"/>
                      <a:gd name="connsiteX2" fmla="*/ 1399610 w 1399609"/>
                      <a:gd name="connsiteY2" fmla="*/ 152591 h 1220724"/>
                      <a:gd name="connsiteX3" fmla="*/ 699805 w 1399609"/>
                      <a:gd name="connsiteY3" fmla="*/ 305182 h 1220724"/>
                      <a:gd name="connsiteX4" fmla="*/ 0 w 1399609"/>
                      <a:gd name="connsiteY4" fmla="*/ 152591 h 1220724"/>
                      <a:gd name="connsiteX0" fmla="*/ 1399609 w 1399609"/>
                      <a:gd name="connsiteY0" fmla="*/ 152591 h 1220724"/>
                      <a:gd name="connsiteX1" fmla="*/ 699804 w 1399609"/>
                      <a:gd name="connsiteY1" fmla="*/ 305182 h 1220724"/>
                      <a:gd name="connsiteX2" fmla="*/ -1 w 1399609"/>
                      <a:gd name="connsiteY2" fmla="*/ 152591 h 1220724"/>
                      <a:gd name="connsiteX3" fmla="*/ 699804 w 1399609"/>
                      <a:gd name="connsiteY3" fmla="*/ 0 h 1220724"/>
                      <a:gd name="connsiteX4" fmla="*/ 1399609 w 1399609"/>
                      <a:gd name="connsiteY4" fmla="*/ 152591 h 1220724"/>
                      <a:gd name="connsiteX5" fmla="*/ 1399609 w 1399609"/>
                      <a:gd name="connsiteY5" fmla="*/ 628673 h 1220724"/>
                      <a:gd name="connsiteX6" fmla="*/ 1399609 w 1399609"/>
                      <a:gd name="connsiteY6" fmla="*/ 1068134 h 1220724"/>
                      <a:gd name="connsiteX7" fmla="*/ 699804 w 1399609"/>
                      <a:gd name="connsiteY7" fmla="*/ 1220725 h 1220724"/>
                      <a:gd name="connsiteX8" fmla="*/ -1 w 1399609"/>
                      <a:gd name="connsiteY8" fmla="*/ 1068134 h 1220724"/>
                      <a:gd name="connsiteX9" fmla="*/ 0 w 1399609"/>
                      <a:gd name="connsiteY9" fmla="*/ 152591 h 1220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99609" h="1220724" stroke="0" extrusionOk="0">
                        <a:moveTo>
                          <a:pt x="0" y="152591"/>
                        </a:moveTo>
                        <a:cubicBezTo>
                          <a:pt x="-37815" y="213540"/>
                          <a:pt x="275775" y="319271"/>
                          <a:pt x="699805" y="305182"/>
                        </a:cubicBezTo>
                        <a:cubicBezTo>
                          <a:pt x="1097731" y="307589"/>
                          <a:pt x="1386665" y="237277"/>
                          <a:pt x="1399610" y="152591"/>
                        </a:cubicBezTo>
                        <a:cubicBezTo>
                          <a:pt x="1350083" y="506138"/>
                          <a:pt x="1398111" y="771231"/>
                          <a:pt x="1399609" y="1068134"/>
                        </a:cubicBezTo>
                        <a:cubicBezTo>
                          <a:pt x="1340379" y="1120002"/>
                          <a:pt x="1168466" y="1259987"/>
                          <a:pt x="699804" y="1220725"/>
                        </a:cubicBezTo>
                        <a:cubicBezTo>
                          <a:pt x="315934" y="1221036"/>
                          <a:pt x="7620" y="1136725"/>
                          <a:pt x="-1" y="1068134"/>
                        </a:cubicBezTo>
                        <a:cubicBezTo>
                          <a:pt x="-7770" y="761763"/>
                          <a:pt x="-24480" y="480820"/>
                          <a:pt x="0" y="152591"/>
                        </a:cubicBezTo>
                        <a:close/>
                      </a:path>
                      <a:path w="1399609" h="1220724" fill="lighten" stroke="0" extrusionOk="0">
                        <a:moveTo>
                          <a:pt x="0" y="152591"/>
                        </a:moveTo>
                        <a:cubicBezTo>
                          <a:pt x="-9243" y="-19829"/>
                          <a:pt x="267294" y="63953"/>
                          <a:pt x="699805" y="0"/>
                        </a:cubicBezTo>
                        <a:cubicBezTo>
                          <a:pt x="1106048" y="11057"/>
                          <a:pt x="1402632" y="69044"/>
                          <a:pt x="1399610" y="152591"/>
                        </a:cubicBezTo>
                        <a:cubicBezTo>
                          <a:pt x="1372665" y="232507"/>
                          <a:pt x="1132432" y="342912"/>
                          <a:pt x="699805" y="305182"/>
                        </a:cubicBezTo>
                        <a:cubicBezTo>
                          <a:pt x="314636" y="307151"/>
                          <a:pt x="1564" y="253058"/>
                          <a:pt x="0" y="152591"/>
                        </a:cubicBezTo>
                        <a:close/>
                      </a:path>
                      <a:path w="1399609" h="1220724" fill="none" extrusionOk="0">
                        <a:moveTo>
                          <a:pt x="1399609" y="152591"/>
                        </a:moveTo>
                        <a:cubicBezTo>
                          <a:pt x="1412134" y="165242"/>
                          <a:pt x="1011031" y="300922"/>
                          <a:pt x="699804" y="305182"/>
                        </a:cubicBezTo>
                        <a:cubicBezTo>
                          <a:pt x="319342" y="310373"/>
                          <a:pt x="-4917" y="251709"/>
                          <a:pt x="-1" y="152591"/>
                        </a:cubicBezTo>
                        <a:cubicBezTo>
                          <a:pt x="-11215" y="90829"/>
                          <a:pt x="265946" y="-62847"/>
                          <a:pt x="699804" y="0"/>
                        </a:cubicBezTo>
                        <a:cubicBezTo>
                          <a:pt x="1105306" y="5956"/>
                          <a:pt x="1399222" y="60278"/>
                          <a:pt x="1399609" y="152591"/>
                        </a:cubicBezTo>
                        <a:cubicBezTo>
                          <a:pt x="1403548" y="277672"/>
                          <a:pt x="1355366" y="449147"/>
                          <a:pt x="1399609" y="628673"/>
                        </a:cubicBezTo>
                        <a:cubicBezTo>
                          <a:pt x="1443852" y="808199"/>
                          <a:pt x="1390602" y="913348"/>
                          <a:pt x="1399609" y="1068134"/>
                        </a:cubicBezTo>
                        <a:cubicBezTo>
                          <a:pt x="1452091" y="1112987"/>
                          <a:pt x="1132201" y="1141027"/>
                          <a:pt x="699804" y="1220725"/>
                        </a:cubicBezTo>
                        <a:cubicBezTo>
                          <a:pt x="310846" y="1219780"/>
                          <a:pt x="17114" y="1135579"/>
                          <a:pt x="-1" y="1068134"/>
                        </a:cubicBezTo>
                        <a:cubicBezTo>
                          <a:pt x="-17128" y="772556"/>
                          <a:pt x="12287" y="491065"/>
                          <a:pt x="0" y="152591"/>
                        </a:cubicBezTo>
                      </a:path>
                      <a:path w="1399609" h="1220724" fill="none" stroke="0" extrusionOk="0">
                        <a:moveTo>
                          <a:pt x="1399609" y="152591"/>
                        </a:moveTo>
                        <a:cubicBezTo>
                          <a:pt x="1410480" y="253610"/>
                          <a:pt x="1131286" y="360291"/>
                          <a:pt x="699804" y="305182"/>
                        </a:cubicBezTo>
                        <a:cubicBezTo>
                          <a:pt x="320763" y="298659"/>
                          <a:pt x="1631" y="229189"/>
                          <a:pt x="-1" y="152591"/>
                        </a:cubicBezTo>
                        <a:cubicBezTo>
                          <a:pt x="-12266" y="70331"/>
                          <a:pt x="245756" y="-46613"/>
                          <a:pt x="699804" y="0"/>
                        </a:cubicBezTo>
                        <a:cubicBezTo>
                          <a:pt x="1063566" y="-1613"/>
                          <a:pt x="1396361" y="61697"/>
                          <a:pt x="1399609" y="152591"/>
                        </a:cubicBezTo>
                        <a:cubicBezTo>
                          <a:pt x="1407733" y="298312"/>
                          <a:pt x="1364739" y="467045"/>
                          <a:pt x="1399609" y="601207"/>
                        </a:cubicBezTo>
                        <a:cubicBezTo>
                          <a:pt x="1434479" y="735369"/>
                          <a:pt x="1389309" y="940748"/>
                          <a:pt x="1399609" y="1068134"/>
                        </a:cubicBezTo>
                        <a:cubicBezTo>
                          <a:pt x="1397871" y="1193715"/>
                          <a:pt x="1104269" y="1210064"/>
                          <a:pt x="699804" y="1220725"/>
                        </a:cubicBezTo>
                        <a:cubicBezTo>
                          <a:pt x="306545" y="1231467"/>
                          <a:pt x="-23609" y="1153667"/>
                          <a:pt x="-1" y="1068134"/>
                        </a:cubicBezTo>
                        <a:cubicBezTo>
                          <a:pt x="31173" y="824678"/>
                          <a:pt x="-30697" y="473960"/>
                          <a:pt x="0" y="15259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transactions</a:t>
            </a:r>
            <a:endParaRPr lang="en-RU" sz="1600" dirty="0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9A97D54E-52BE-6C9D-E3F4-EE258278EB5F}"/>
              </a:ext>
            </a:extLst>
          </p:cNvPr>
          <p:cNvSpPr/>
          <p:nvPr/>
        </p:nvSpPr>
        <p:spPr>
          <a:xfrm>
            <a:off x="9559478" y="3075494"/>
            <a:ext cx="1399608" cy="122072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balance</a:t>
            </a:r>
            <a:endParaRPr lang="en-RU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51180E-396E-EE3D-700F-D0AA4ADC8C92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266586" y="2200146"/>
            <a:ext cx="4290" cy="87534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B646C5-12BA-06AF-9964-5AF2DA4EFD33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10235199" y="2143959"/>
            <a:ext cx="24083" cy="931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B72083-63D8-0FB7-0277-84A0E672755D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1611603" y="1742946"/>
            <a:ext cx="93109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1A0B541-BE8F-CA5F-DE1C-26B1A727D251}"/>
              </a:ext>
            </a:extLst>
          </p:cNvPr>
          <p:cNvSpPr/>
          <p:nvPr/>
        </p:nvSpPr>
        <p:spPr>
          <a:xfrm>
            <a:off x="4823262" y="1974805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746BD2-B2F6-819A-138B-2C59FB1F929C}"/>
              </a:ext>
            </a:extLst>
          </p:cNvPr>
          <p:cNvCxnSpPr>
            <a:cxnSpLocks/>
            <a:stCxn id="50" idx="0"/>
            <a:endCxn id="12" idx="4"/>
          </p:cNvCxnSpPr>
          <p:nvPr/>
        </p:nvCxnSpPr>
        <p:spPr>
          <a:xfrm flipV="1">
            <a:off x="5403280" y="3244647"/>
            <a:ext cx="158178" cy="15637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14C098-CD42-5403-906D-ED1830784E58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6083441" y="3058683"/>
            <a:ext cx="490326" cy="59942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164FAA-93A0-3F02-D94D-B2F06E6EE83F}"/>
              </a:ext>
            </a:extLst>
          </p:cNvPr>
          <p:cNvCxnSpPr>
            <a:cxnSpLocks/>
            <a:stCxn id="83" idx="6"/>
            <a:endCxn id="74" idx="1"/>
          </p:cNvCxnSpPr>
          <p:nvPr/>
        </p:nvCxnSpPr>
        <p:spPr>
          <a:xfrm flipV="1">
            <a:off x="8928191" y="4808363"/>
            <a:ext cx="878033" cy="4616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BCDF6D-9000-9133-0823-28A09C3F3519}"/>
              </a:ext>
            </a:extLst>
          </p:cNvPr>
          <p:cNvCxnSpPr>
            <a:cxnSpLocks/>
            <a:stCxn id="6" idx="3"/>
            <a:endCxn id="49" idx="0"/>
          </p:cNvCxnSpPr>
          <p:nvPr/>
        </p:nvCxnSpPr>
        <p:spPr>
          <a:xfrm>
            <a:off x="3270876" y="4296218"/>
            <a:ext cx="386434" cy="5157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2111F4-0AE4-6984-B0AF-E98B87C4DB49}"/>
              </a:ext>
            </a:extLst>
          </p:cNvPr>
          <p:cNvCxnSpPr>
            <a:cxnSpLocks/>
            <a:stCxn id="6" idx="3"/>
            <a:endCxn id="48" idx="0"/>
          </p:cNvCxnSpPr>
          <p:nvPr/>
        </p:nvCxnSpPr>
        <p:spPr>
          <a:xfrm flipH="1">
            <a:off x="2027598" y="4296218"/>
            <a:ext cx="1243278" cy="5121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redefined Process 24">
            <a:extLst>
              <a:ext uri="{FF2B5EF4-FFF2-40B4-BE49-F238E27FC236}">
                <a16:creationId xmlns:a16="http://schemas.microsoft.com/office/drawing/2014/main" id="{A3EC1C95-3EB6-0987-0793-6F4564EBF960}"/>
              </a:ext>
            </a:extLst>
          </p:cNvPr>
          <p:cNvSpPr/>
          <p:nvPr/>
        </p:nvSpPr>
        <p:spPr>
          <a:xfrm>
            <a:off x="6201414" y="3658106"/>
            <a:ext cx="1348624" cy="669177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Kafka</a:t>
            </a:r>
            <a:endParaRPr lang="en-RU" sz="1600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0F10A9D-5E63-68CF-2EA6-CC08C7B49BE6}"/>
              </a:ext>
            </a:extLst>
          </p:cNvPr>
          <p:cNvSpPr/>
          <p:nvPr/>
        </p:nvSpPr>
        <p:spPr>
          <a:xfrm>
            <a:off x="1841935" y="632679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49B8A6F-54B3-4372-204A-730E1A5E4875}"/>
              </a:ext>
            </a:extLst>
          </p:cNvPr>
          <p:cNvSpPr/>
          <p:nvPr/>
        </p:nvSpPr>
        <p:spPr>
          <a:xfrm>
            <a:off x="330968" y="2284023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5FC6ABB-0C35-7190-0FA5-18BA76B37535}"/>
              </a:ext>
            </a:extLst>
          </p:cNvPr>
          <p:cNvSpPr/>
          <p:nvPr/>
        </p:nvSpPr>
        <p:spPr>
          <a:xfrm>
            <a:off x="833316" y="4230726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36" name="Multidocument 35">
            <a:extLst>
              <a:ext uri="{FF2B5EF4-FFF2-40B4-BE49-F238E27FC236}">
                <a16:creationId xmlns:a16="http://schemas.microsoft.com/office/drawing/2014/main" id="{8A37AACB-4580-0536-7279-1F93DFE3455E}"/>
              </a:ext>
            </a:extLst>
          </p:cNvPr>
          <p:cNvSpPr/>
          <p:nvPr/>
        </p:nvSpPr>
        <p:spPr>
          <a:xfrm>
            <a:off x="550899" y="136347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ABE79C-485D-CBB8-FC16-7B54BBF27A45}"/>
              </a:ext>
            </a:extLst>
          </p:cNvPr>
          <p:cNvSpPr txBox="1"/>
          <p:nvPr/>
        </p:nvSpPr>
        <p:spPr>
          <a:xfrm>
            <a:off x="496858" y="334162"/>
            <a:ext cx="1564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user-id</a:t>
            </a:r>
          </a:p>
          <a:p>
            <a:r>
              <a:rPr lang="en-US" dirty="0"/>
              <a:t>amount</a:t>
            </a:r>
          </a:p>
          <a:p>
            <a:r>
              <a:rPr lang="en-US" b="1" dirty="0">
                <a:solidFill>
                  <a:srgbClr val="FF0000"/>
                </a:solidFill>
              </a:rPr>
              <a:t>external </a:t>
            </a:r>
            <a:r>
              <a:rPr lang="en-US" b="1" dirty="0" err="1">
                <a:solidFill>
                  <a:srgbClr val="FF0000"/>
                </a:solidFill>
              </a:rPr>
              <a:t>txn</a:t>
            </a:r>
            <a:r>
              <a:rPr lang="en-US" b="1" dirty="0">
                <a:solidFill>
                  <a:srgbClr val="FF0000"/>
                </a:solidFill>
              </a:rPr>
              <a:t> 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98CC83-15AB-E3D6-482F-972BFA2ECA50}"/>
              </a:ext>
            </a:extLst>
          </p:cNvPr>
          <p:cNvSpPr txBox="1"/>
          <p:nvPr/>
        </p:nvSpPr>
        <p:spPr>
          <a:xfrm>
            <a:off x="1330131" y="4808363"/>
            <a:ext cx="1394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Transactions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external_id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57B1D2-82CC-A2A9-531F-F05B6D4F7D76}"/>
              </a:ext>
            </a:extLst>
          </p:cNvPr>
          <p:cNvSpPr txBox="1"/>
          <p:nvPr/>
        </p:nvSpPr>
        <p:spPr>
          <a:xfrm>
            <a:off x="3047623" y="4811943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06C4C3-FE63-4E6E-5B6C-D7055EC738B8}"/>
              </a:ext>
            </a:extLst>
          </p:cNvPr>
          <p:cNvSpPr txBox="1"/>
          <p:nvPr/>
        </p:nvSpPr>
        <p:spPr>
          <a:xfrm>
            <a:off x="4570455" y="4808363"/>
            <a:ext cx="16656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Outbox</a:t>
            </a:r>
            <a:br>
              <a:rPr lang="en-US" dirty="0"/>
            </a:br>
            <a:r>
              <a:rPr lang="en-US" dirty="0"/>
              <a:t>id (event)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 err="1"/>
              <a:t>transaction_id</a:t>
            </a:r>
            <a:br>
              <a:rPr lang="en-US" dirty="0"/>
            </a:br>
            <a:r>
              <a:rPr lang="en-US" dirty="0"/>
              <a:t>payload (blob)</a:t>
            </a:r>
            <a:br>
              <a:rPr lang="en-US" dirty="0"/>
            </a:br>
            <a:r>
              <a:rPr lang="en-US" dirty="0"/>
              <a:t>processed [Y/N]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1F67242-47ED-176A-D825-55CD48DB99B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70876" y="4296218"/>
            <a:ext cx="1374116" cy="5193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08B54A3-BADA-57AE-366A-368C80F3F6EB}"/>
              </a:ext>
            </a:extLst>
          </p:cNvPr>
          <p:cNvSpPr txBox="1"/>
          <p:nvPr/>
        </p:nvSpPr>
        <p:spPr>
          <a:xfrm>
            <a:off x="9806224" y="4346698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b="1" i="1" u="sng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47E6AE-3E5F-4377-5072-D9909BF76146}"/>
              </a:ext>
            </a:extLst>
          </p:cNvPr>
          <p:cNvSpPr txBox="1"/>
          <p:nvPr/>
        </p:nvSpPr>
        <p:spPr>
          <a:xfrm>
            <a:off x="9806224" y="5542139"/>
            <a:ext cx="1558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Inbox</a:t>
            </a:r>
            <a:br>
              <a:rPr lang="en-US" dirty="0"/>
            </a:br>
            <a:r>
              <a:rPr lang="en-US" dirty="0" err="1"/>
              <a:t>transaction_id</a:t>
            </a:r>
            <a:endParaRPr lang="en-US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9D4DB8E-8E0A-362E-8067-64E96C906346}"/>
              </a:ext>
            </a:extLst>
          </p:cNvPr>
          <p:cNvSpPr/>
          <p:nvPr/>
        </p:nvSpPr>
        <p:spPr>
          <a:xfrm>
            <a:off x="7451800" y="4635107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4982D66-F53B-3F3B-090A-ECB05258F18B}"/>
              </a:ext>
            </a:extLst>
          </p:cNvPr>
          <p:cNvCxnSpPr>
            <a:cxnSpLocks/>
            <a:stCxn id="83" idx="6"/>
            <a:endCxn id="75" idx="1"/>
          </p:cNvCxnSpPr>
          <p:nvPr/>
        </p:nvCxnSpPr>
        <p:spPr>
          <a:xfrm>
            <a:off x="8928191" y="5270028"/>
            <a:ext cx="878033" cy="5952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DA8B75E-9387-22ED-A17E-1EC0D889649E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266935" y="4346698"/>
            <a:ext cx="401077" cy="4743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C823D8-1A60-1D0B-BF8F-678789D91E1E}"/>
              </a:ext>
            </a:extLst>
          </p:cNvPr>
          <p:cNvGrpSpPr/>
          <p:nvPr/>
        </p:nvGrpSpPr>
        <p:grpSpPr>
          <a:xfrm>
            <a:off x="1886906" y="1757515"/>
            <a:ext cx="351873" cy="377139"/>
            <a:chOff x="1038542" y="2899684"/>
            <a:chExt cx="351873" cy="377139"/>
          </a:xfrm>
        </p:grpSpPr>
        <p:sp>
          <p:nvSpPr>
            <p:cNvPr id="3" name="Circular Arrow 2">
              <a:extLst>
                <a:ext uri="{FF2B5EF4-FFF2-40B4-BE49-F238E27FC236}">
                  <a16:creationId xmlns:a16="http://schemas.microsoft.com/office/drawing/2014/main" id="{9FCC6300-FBF6-B621-AD5C-51612AF14C21}"/>
                </a:ext>
              </a:extLst>
            </p:cNvPr>
            <p:cNvSpPr/>
            <p:nvPr/>
          </p:nvSpPr>
          <p:spPr>
            <a:xfrm>
              <a:off x="1038542" y="289968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Circular Arrow 10">
              <a:extLst>
                <a:ext uri="{FF2B5EF4-FFF2-40B4-BE49-F238E27FC236}">
                  <a16:creationId xmlns:a16="http://schemas.microsoft.com/office/drawing/2014/main" id="{5A64AA97-A763-3D33-5D66-FA3B4010D410}"/>
                </a:ext>
              </a:extLst>
            </p:cNvPr>
            <p:cNvSpPr/>
            <p:nvPr/>
          </p:nvSpPr>
          <p:spPr>
            <a:xfrm rot="10800000">
              <a:off x="1041606" y="292801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CFD9E83-5DE4-74D1-ED41-05663B1B77AE}"/>
              </a:ext>
            </a:extLst>
          </p:cNvPr>
          <p:cNvSpPr txBox="1"/>
          <p:nvPr/>
        </p:nvSpPr>
        <p:spPr>
          <a:xfrm>
            <a:off x="4963979" y="498122"/>
            <a:ext cx="424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Exactly once = At least once + Idempotence</a:t>
            </a:r>
          </a:p>
        </p:txBody>
      </p:sp>
    </p:spTree>
    <p:extLst>
      <p:ext uri="{BB962C8B-B14F-4D97-AF65-F5344CB8AC3E}">
        <p14:creationId xmlns:p14="http://schemas.microsoft.com/office/powerpoint/2010/main" val="4213644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9008-4DC3-3456-9DF8-83B4B82D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5A27B1F-C5E2-3057-D285-D7A2379F5C66}"/>
              </a:ext>
            </a:extLst>
          </p:cNvPr>
          <p:cNvSpPr/>
          <p:nvPr/>
        </p:nvSpPr>
        <p:spPr>
          <a:xfrm>
            <a:off x="2542699" y="128574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Tx</a:t>
            </a:r>
            <a:br>
              <a:rPr lang="en-US" sz="1600" dirty="0"/>
            </a:br>
            <a:r>
              <a:rPr lang="en-US" sz="1600" dirty="0"/>
              <a:t>processor</a:t>
            </a:r>
          </a:p>
          <a:p>
            <a:pPr algn="ctr"/>
            <a:r>
              <a:rPr lang="en-US" sz="1600" dirty="0"/>
              <a:t>(app)</a:t>
            </a:r>
            <a:endParaRPr lang="en-RU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03D9073-DDAB-21D5-74CC-67FAB914A845}"/>
              </a:ext>
            </a:extLst>
          </p:cNvPr>
          <p:cNvSpPr/>
          <p:nvPr/>
        </p:nvSpPr>
        <p:spPr>
          <a:xfrm>
            <a:off x="9511312" y="1229559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Balance</a:t>
            </a:r>
            <a:br>
              <a:rPr lang="en-US" sz="1600" dirty="0"/>
            </a:br>
            <a:r>
              <a:rPr lang="en-US" sz="1600" dirty="0"/>
              <a:t>viewer</a:t>
            </a:r>
            <a:endParaRPr lang="en-RU" sz="16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2E834B4A-8A1C-EF22-0139-8D7A549D9396}"/>
              </a:ext>
            </a:extLst>
          </p:cNvPr>
          <p:cNvSpPr/>
          <p:nvPr/>
        </p:nvSpPr>
        <p:spPr>
          <a:xfrm>
            <a:off x="2571071" y="3075494"/>
            <a:ext cx="1399609" cy="1220724"/>
          </a:xfrm>
          <a:prstGeom prst="can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99609"/>
                      <a:gd name="connsiteY0" fmla="*/ 152591 h 1220724"/>
                      <a:gd name="connsiteX1" fmla="*/ 699805 w 1399609"/>
                      <a:gd name="connsiteY1" fmla="*/ 305182 h 1220724"/>
                      <a:gd name="connsiteX2" fmla="*/ 1399610 w 1399609"/>
                      <a:gd name="connsiteY2" fmla="*/ 152591 h 1220724"/>
                      <a:gd name="connsiteX3" fmla="*/ 1399609 w 1399609"/>
                      <a:gd name="connsiteY3" fmla="*/ 1068134 h 1220724"/>
                      <a:gd name="connsiteX4" fmla="*/ 699804 w 1399609"/>
                      <a:gd name="connsiteY4" fmla="*/ 1220725 h 1220724"/>
                      <a:gd name="connsiteX5" fmla="*/ -1 w 1399609"/>
                      <a:gd name="connsiteY5" fmla="*/ 1068134 h 1220724"/>
                      <a:gd name="connsiteX6" fmla="*/ 0 w 1399609"/>
                      <a:gd name="connsiteY6" fmla="*/ 152591 h 1220724"/>
                      <a:gd name="connsiteX0" fmla="*/ 0 w 1399609"/>
                      <a:gd name="connsiteY0" fmla="*/ 152591 h 1220724"/>
                      <a:gd name="connsiteX1" fmla="*/ 699805 w 1399609"/>
                      <a:gd name="connsiteY1" fmla="*/ 0 h 1220724"/>
                      <a:gd name="connsiteX2" fmla="*/ 1399610 w 1399609"/>
                      <a:gd name="connsiteY2" fmla="*/ 152591 h 1220724"/>
                      <a:gd name="connsiteX3" fmla="*/ 699805 w 1399609"/>
                      <a:gd name="connsiteY3" fmla="*/ 305182 h 1220724"/>
                      <a:gd name="connsiteX4" fmla="*/ 0 w 1399609"/>
                      <a:gd name="connsiteY4" fmla="*/ 152591 h 1220724"/>
                      <a:gd name="connsiteX0" fmla="*/ 1399609 w 1399609"/>
                      <a:gd name="connsiteY0" fmla="*/ 152591 h 1220724"/>
                      <a:gd name="connsiteX1" fmla="*/ 699804 w 1399609"/>
                      <a:gd name="connsiteY1" fmla="*/ 305182 h 1220724"/>
                      <a:gd name="connsiteX2" fmla="*/ -1 w 1399609"/>
                      <a:gd name="connsiteY2" fmla="*/ 152591 h 1220724"/>
                      <a:gd name="connsiteX3" fmla="*/ 699804 w 1399609"/>
                      <a:gd name="connsiteY3" fmla="*/ 0 h 1220724"/>
                      <a:gd name="connsiteX4" fmla="*/ 1399609 w 1399609"/>
                      <a:gd name="connsiteY4" fmla="*/ 152591 h 1220724"/>
                      <a:gd name="connsiteX5" fmla="*/ 1399609 w 1399609"/>
                      <a:gd name="connsiteY5" fmla="*/ 628673 h 1220724"/>
                      <a:gd name="connsiteX6" fmla="*/ 1399609 w 1399609"/>
                      <a:gd name="connsiteY6" fmla="*/ 1068134 h 1220724"/>
                      <a:gd name="connsiteX7" fmla="*/ 699804 w 1399609"/>
                      <a:gd name="connsiteY7" fmla="*/ 1220725 h 1220724"/>
                      <a:gd name="connsiteX8" fmla="*/ -1 w 1399609"/>
                      <a:gd name="connsiteY8" fmla="*/ 1068134 h 1220724"/>
                      <a:gd name="connsiteX9" fmla="*/ 0 w 1399609"/>
                      <a:gd name="connsiteY9" fmla="*/ 152591 h 1220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99609" h="1220724" stroke="0" extrusionOk="0">
                        <a:moveTo>
                          <a:pt x="0" y="152591"/>
                        </a:moveTo>
                        <a:cubicBezTo>
                          <a:pt x="-37815" y="213540"/>
                          <a:pt x="275775" y="319271"/>
                          <a:pt x="699805" y="305182"/>
                        </a:cubicBezTo>
                        <a:cubicBezTo>
                          <a:pt x="1097731" y="307589"/>
                          <a:pt x="1386665" y="237277"/>
                          <a:pt x="1399610" y="152591"/>
                        </a:cubicBezTo>
                        <a:cubicBezTo>
                          <a:pt x="1350083" y="506138"/>
                          <a:pt x="1398111" y="771231"/>
                          <a:pt x="1399609" y="1068134"/>
                        </a:cubicBezTo>
                        <a:cubicBezTo>
                          <a:pt x="1340379" y="1120002"/>
                          <a:pt x="1168466" y="1259987"/>
                          <a:pt x="699804" y="1220725"/>
                        </a:cubicBezTo>
                        <a:cubicBezTo>
                          <a:pt x="315934" y="1221036"/>
                          <a:pt x="7620" y="1136725"/>
                          <a:pt x="-1" y="1068134"/>
                        </a:cubicBezTo>
                        <a:cubicBezTo>
                          <a:pt x="-7770" y="761763"/>
                          <a:pt x="-24480" y="480820"/>
                          <a:pt x="0" y="152591"/>
                        </a:cubicBezTo>
                        <a:close/>
                      </a:path>
                      <a:path w="1399609" h="1220724" fill="lighten" stroke="0" extrusionOk="0">
                        <a:moveTo>
                          <a:pt x="0" y="152591"/>
                        </a:moveTo>
                        <a:cubicBezTo>
                          <a:pt x="-9243" y="-19829"/>
                          <a:pt x="267294" y="63953"/>
                          <a:pt x="699805" y="0"/>
                        </a:cubicBezTo>
                        <a:cubicBezTo>
                          <a:pt x="1106048" y="11057"/>
                          <a:pt x="1402632" y="69044"/>
                          <a:pt x="1399610" y="152591"/>
                        </a:cubicBezTo>
                        <a:cubicBezTo>
                          <a:pt x="1372665" y="232507"/>
                          <a:pt x="1132432" y="342912"/>
                          <a:pt x="699805" y="305182"/>
                        </a:cubicBezTo>
                        <a:cubicBezTo>
                          <a:pt x="314636" y="307151"/>
                          <a:pt x="1564" y="253058"/>
                          <a:pt x="0" y="152591"/>
                        </a:cubicBezTo>
                        <a:close/>
                      </a:path>
                      <a:path w="1399609" h="1220724" fill="none" extrusionOk="0">
                        <a:moveTo>
                          <a:pt x="1399609" y="152591"/>
                        </a:moveTo>
                        <a:cubicBezTo>
                          <a:pt x="1412134" y="165242"/>
                          <a:pt x="1011031" y="300922"/>
                          <a:pt x="699804" y="305182"/>
                        </a:cubicBezTo>
                        <a:cubicBezTo>
                          <a:pt x="319342" y="310373"/>
                          <a:pt x="-4917" y="251709"/>
                          <a:pt x="-1" y="152591"/>
                        </a:cubicBezTo>
                        <a:cubicBezTo>
                          <a:pt x="-11215" y="90829"/>
                          <a:pt x="265946" y="-62847"/>
                          <a:pt x="699804" y="0"/>
                        </a:cubicBezTo>
                        <a:cubicBezTo>
                          <a:pt x="1105306" y="5956"/>
                          <a:pt x="1399222" y="60278"/>
                          <a:pt x="1399609" y="152591"/>
                        </a:cubicBezTo>
                        <a:cubicBezTo>
                          <a:pt x="1403548" y="277672"/>
                          <a:pt x="1355366" y="449147"/>
                          <a:pt x="1399609" y="628673"/>
                        </a:cubicBezTo>
                        <a:cubicBezTo>
                          <a:pt x="1443852" y="808199"/>
                          <a:pt x="1390602" y="913348"/>
                          <a:pt x="1399609" y="1068134"/>
                        </a:cubicBezTo>
                        <a:cubicBezTo>
                          <a:pt x="1452091" y="1112987"/>
                          <a:pt x="1132201" y="1141027"/>
                          <a:pt x="699804" y="1220725"/>
                        </a:cubicBezTo>
                        <a:cubicBezTo>
                          <a:pt x="310846" y="1219780"/>
                          <a:pt x="17114" y="1135579"/>
                          <a:pt x="-1" y="1068134"/>
                        </a:cubicBezTo>
                        <a:cubicBezTo>
                          <a:pt x="-17128" y="772556"/>
                          <a:pt x="12287" y="491065"/>
                          <a:pt x="0" y="152591"/>
                        </a:cubicBezTo>
                      </a:path>
                      <a:path w="1399609" h="1220724" fill="none" stroke="0" extrusionOk="0">
                        <a:moveTo>
                          <a:pt x="1399609" y="152591"/>
                        </a:moveTo>
                        <a:cubicBezTo>
                          <a:pt x="1410480" y="253610"/>
                          <a:pt x="1131286" y="360291"/>
                          <a:pt x="699804" y="305182"/>
                        </a:cubicBezTo>
                        <a:cubicBezTo>
                          <a:pt x="320763" y="298659"/>
                          <a:pt x="1631" y="229189"/>
                          <a:pt x="-1" y="152591"/>
                        </a:cubicBezTo>
                        <a:cubicBezTo>
                          <a:pt x="-12266" y="70331"/>
                          <a:pt x="245756" y="-46613"/>
                          <a:pt x="699804" y="0"/>
                        </a:cubicBezTo>
                        <a:cubicBezTo>
                          <a:pt x="1063566" y="-1613"/>
                          <a:pt x="1396361" y="61697"/>
                          <a:pt x="1399609" y="152591"/>
                        </a:cubicBezTo>
                        <a:cubicBezTo>
                          <a:pt x="1407733" y="298312"/>
                          <a:pt x="1364739" y="467045"/>
                          <a:pt x="1399609" y="601207"/>
                        </a:cubicBezTo>
                        <a:cubicBezTo>
                          <a:pt x="1434479" y="735369"/>
                          <a:pt x="1389309" y="940748"/>
                          <a:pt x="1399609" y="1068134"/>
                        </a:cubicBezTo>
                        <a:cubicBezTo>
                          <a:pt x="1397871" y="1193715"/>
                          <a:pt x="1104269" y="1210064"/>
                          <a:pt x="699804" y="1220725"/>
                        </a:cubicBezTo>
                        <a:cubicBezTo>
                          <a:pt x="306545" y="1231467"/>
                          <a:pt x="-23609" y="1153667"/>
                          <a:pt x="-1" y="1068134"/>
                        </a:cubicBezTo>
                        <a:cubicBezTo>
                          <a:pt x="31173" y="824678"/>
                          <a:pt x="-30697" y="473960"/>
                          <a:pt x="0" y="15259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transactions</a:t>
            </a:r>
            <a:endParaRPr lang="en-RU" sz="1600" dirty="0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87EB2844-7A27-26AB-29F3-F5C235EE638E}"/>
              </a:ext>
            </a:extLst>
          </p:cNvPr>
          <p:cNvSpPr/>
          <p:nvPr/>
        </p:nvSpPr>
        <p:spPr>
          <a:xfrm>
            <a:off x="9559478" y="3075494"/>
            <a:ext cx="1399608" cy="122072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balance</a:t>
            </a:r>
            <a:endParaRPr lang="en-RU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AD3F88-37A4-F521-F13C-662ED36E5E9F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266586" y="2200146"/>
            <a:ext cx="4290" cy="87534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075803-F8AC-5B35-8CEA-F2A09CCA3DB9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10235199" y="2143959"/>
            <a:ext cx="24083" cy="931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1F039E-EF1B-54F2-036A-8B1838118EF9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1611603" y="1742946"/>
            <a:ext cx="93109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843DAA7-BB4A-0096-5193-9FD97CF85D6B}"/>
              </a:ext>
            </a:extLst>
          </p:cNvPr>
          <p:cNvSpPr/>
          <p:nvPr/>
        </p:nvSpPr>
        <p:spPr>
          <a:xfrm>
            <a:off x="4823262" y="1974805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217A57-9FD0-3608-F48E-7248F651A0B1}"/>
              </a:ext>
            </a:extLst>
          </p:cNvPr>
          <p:cNvCxnSpPr>
            <a:cxnSpLocks/>
            <a:stCxn id="50" idx="0"/>
            <a:endCxn id="12" idx="4"/>
          </p:cNvCxnSpPr>
          <p:nvPr/>
        </p:nvCxnSpPr>
        <p:spPr>
          <a:xfrm flipV="1">
            <a:off x="5403280" y="3244647"/>
            <a:ext cx="158178" cy="15637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ADE346-112B-FAAB-672F-6C7745F1573E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6083441" y="3058683"/>
            <a:ext cx="490326" cy="59942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1DBA3A-9DEF-AB81-9274-A39E6393B6FA}"/>
              </a:ext>
            </a:extLst>
          </p:cNvPr>
          <p:cNvCxnSpPr>
            <a:cxnSpLocks/>
            <a:stCxn id="83" idx="6"/>
            <a:endCxn id="74" idx="1"/>
          </p:cNvCxnSpPr>
          <p:nvPr/>
        </p:nvCxnSpPr>
        <p:spPr>
          <a:xfrm flipV="1">
            <a:off x="8928191" y="4808363"/>
            <a:ext cx="878033" cy="4616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8BEA43-A4E4-2800-73F4-AB38215ACBEA}"/>
              </a:ext>
            </a:extLst>
          </p:cNvPr>
          <p:cNvCxnSpPr>
            <a:cxnSpLocks/>
            <a:stCxn id="6" idx="3"/>
            <a:endCxn id="49" idx="0"/>
          </p:cNvCxnSpPr>
          <p:nvPr/>
        </p:nvCxnSpPr>
        <p:spPr>
          <a:xfrm>
            <a:off x="3270876" y="4296218"/>
            <a:ext cx="386434" cy="5157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7BA73C-733A-AA85-F416-E1E92F58F984}"/>
              </a:ext>
            </a:extLst>
          </p:cNvPr>
          <p:cNvCxnSpPr>
            <a:cxnSpLocks/>
            <a:stCxn id="6" idx="3"/>
            <a:endCxn id="48" idx="0"/>
          </p:cNvCxnSpPr>
          <p:nvPr/>
        </p:nvCxnSpPr>
        <p:spPr>
          <a:xfrm flipH="1">
            <a:off x="2027598" y="4296218"/>
            <a:ext cx="1243278" cy="5121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redefined Process 24">
            <a:extLst>
              <a:ext uri="{FF2B5EF4-FFF2-40B4-BE49-F238E27FC236}">
                <a16:creationId xmlns:a16="http://schemas.microsoft.com/office/drawing/2014/main" id="{B714A1C1-7502-3408-3651-8C8F24B9E0A1}"/>
              </a:ext>
            </a:extLst>
          </p:cNvPr>
          <p:cNvSpPr/>
          <p:nvPr/>
        </p:nvSpPr>
        <p:spPr>
          <a:xfrm>
            <a:off x="6201414" y="3658106"/>
            <a:ext cx="1348624" cy="669177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Kafka</a:t>
            </a:r>
            <a:endParaRPr lang="en-RU" sz="1600" dirty="0"/>
          </a:p>
        </p:txBody>
      </p:sp>
      <p:sp>
        <p:nvSpPr>
          <p:cNvPr id="36" name="Multidocument 35">
            <a:extLst>
              <a:ext uri="{FF2B5EF4-FFF2-40B4-BE49-F238E27FC236}">
                <a16:creationId xmlns:a16="http://schemas.microsoft.com/office/drawing/2014/main" id="{F95DA739-F5C7-43CD-CE79-4FACA92959FE}"/>
              </a:ext>
            </a:extLst>
          </p:cNvPr>
          <p:cNvSpPr/>
          <p:nvPr/>
        </p:nvSpPr>
        <p:spPr>
          <a:xfrm>
            <a:off x="550899" y="136347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A4E217-987C-3267-4EB8-6E4AC3F76085}"/>
              </a:ext>
            </a:extLst>
          </p:cNvPr>
          <p:cNvSpPr txBox="1"/>
          <p:nvPr/>
        </p:nvSpPr>
        <p:spPr>
          <a:xfrm>
            <a:off x="496858" y="334162"/>
            <a:ext cx="1564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user-id</a:t>
            </a:r>
          </a:p>
          <a:p>
            <a:r>
              <a:rPr lang="en-US" dirty="0"/>
              <a:t>amount</a:t>
            </a:r>
          </a:p>
          <a:p>
            <a:r>
              <a:rPr lang="en-US" dirty="0"/>
              <a:t>external </a:t>
            </a:r>
            <a:r>
              <a:rPr lang="en-US" dirty="0" err="1"/>
              <a:t>txn</a:t>
            </a:r>
            <a:r>
              <a:rPr lang="en-US" dirty="0"/>
              <a:t> 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B1ABBA-8A7D-72ED-F1FD-CF3F902F5361}"/>
              </a:ext>
            </a:extLst>
          </p:cNvPr>
          <p:cNvSpPr txBox="1"/>
          <p:nvPr/>
        </p:nvSpPr>
        <p:spPr>
          <a:xfrm>
            <a:off x="1330131" y="4808363"/>
            <a:ext cx="1394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Transactions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dirty="0" err="1"/>
              <a:t>external_id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23B1D7-2EB3-E9B0-6EF6-4CA3D62D4190}"/>
              </a:ext>
            </a:extLst>
          </p:cNvPr>
          <p:cNvSpPr txBox="1"/>
          <p:nvPr/>
        </p:nvSpPr>
        <p:spPr>
          <a:xfrm>
            <a:off x="3047623" y="4811943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7418F0-77E6-8A56-E9B4-B50BBCCB5E6E}"/>
              </a:ext>
            </a:extLst>
          </p:cNvPr>
          <p:cNvSpPr txBox="1"/>
          <p:nvPr/>
        </p:nvSpPr>
        <p:spPr>
          <a:xfrm>
            <a:off x="4570455" y="4808363"/>
            <a:ext cx="16656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Outbox</a:t>
            </a:r>
            <a:br>
              <a:rPr lang="en-US" dirty="0"/>
            </a:br>
            <a:r>
              <a:rPr lang="en-US" dirty="0"/>
              <a:t>id (event)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transaction_id</a:t>
            </a:r>
            <a:br>
              <a:rPr lang="en-US" b="1" dirty="0"/>
            </a:br>
            <a:r>
              <a:rPr lang="en-US" dirty="0"/>
              <a:t>payload (blob)</a:t>
            </a:r>
            <a:br>
              <a:rPr lang="en-US" dirty="0"/>
            </a:br>
            <a:r>
              <a:rPr lang="en-US" dirty="0"/>
              <a:t>processed [Y/N]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F799870-310D-49C3-4FAE-A0216279531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70876" y="4296218"/>
            <a:ext cx="1374116" cy="5193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05AAF5C-2177-B7DF-0AC3-66E06DCD3D22}"/>
              </a:ext>
            </a:extLst>
          </p:cNvPr>
          <p:cNvSpPr txBox="1"/>
          <p:nvPr/>
        </p:nvSpPr>
        <p:spPr>
          <a:xfrm>
            <a:off x="9806224" y="4346698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b="1" i="1" u="sng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EA14B9-6B32-ABFC-382A-6A4057C77C21}"/>
              </a:ext>
            </a:extLst>
          </p:cNvPr>
          <p:cNvSpPr txBox="1"/>
          <p:nvPr/>
        </p:nvSpPr>
        <p:spPr>
          <a:xfrm>
            <a:off x="9806224" y="5542139"/>
            <a:ext cx="1558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Inbox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transaction_id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958421F-4F23-0756-4056-857ABCE68B72}"/>
              </a:ext>
            </a:extLst>
          </p:cNvPr>
          <p:cNvSpPr/>
          <p:nvPr/>
        </p:nvSpPr>
        <p:spPr>
          <a:xfrm>
            <a:off x="7451800" y="4635107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FD256B0-16C0-A470-039A-6EB30FD5CB1E}"/>
              </a:ext>
            </a:extLst>
          </p:cNvPr>
          <p:cNvCxnSpPr>
            <a:cxnSpLocks/>
            <a:stCxn id="83" idx="6"/>
            <a:endCxn id="75" idx="1"/>
          </p:cNvCxnSpPr>
          <p:nvPr/>
        </p:nvCxnSpPr>
        <p:spPr>
          <a:xfrm>
            <a:off x="8928191" y="5270028"/>
            <a:ext cx="878033" cy="5952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CD6EB46-791A-90EE-B477-71639F681C67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266935" y="4346698"/>
            <a:ext cx="401077" cy="4743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9DCF87-FB97-00A7-0085-4C0E1FA5CABE}"/>
              </a:ext>
            </a:extLst>
          </p:cNvPr>
          <p:cNvGrpSpPr/>
          <p:nvPr/>
        </p:nvGrpSpPr>
        <p:grpSpPr>
          <a:xfrm>
            <a:off x="5051406" y="3837935"/>
            <a:ext cx="351873" cy="377139"/>
            <a:chOff x="1038542" y="2899684"/>
            <a:chExt cx="351873" cy="377139"/>
          </a:xfrm>
        </p:grpSpPr>
        <p:sp>
          <p:nvSpPr>
            <p:cNvPr id="19" name="Circular Arrow 18">
              <a:extLst>
                <a:ext uri="{FF2B5EF4-FFF2-40B4-BE49-F238E27FC236}">
                  <a16:creationId xmlns:a16="http://schemas.microsoft.com/office/drawing/2014/main" id="{CAC6AF1B-9B98-387B-845E-8BE37BE91EA1}"/>
                </a:ext>
              </a:extLst>
            </p:cNvPr>
            <p:cNvSpPr/>
            <p:nvPr/>
          </p:nvSpPr>
          <p:spPr>
            <a:xfrm>
              <a:off x="1038542" y="289968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22" name="Circular Arrow 21">
              <a:extLst>
                <a:ext uri="{FF2B5EF4-FFF2-40B4-BE49-F238E27FC236}">
                  <a16:creationId xmlns:a16="http://schemas.microsoft.com/office/drawing/2014/main" id="{C0891004-BF95-DE78-551E-357EB7878B8B}"/>
                </a:ext>
              </a:extLst>
            </p:cNvPr>
            <p:cNvSpPr/>
            <p:nvPr/>
          </p:nvSpPr>
          <p:spPr>
            <a:xfrm rot="10800000">
              <a:off x="1041606" y="292801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A5561E-6A32-2BDB-D39D-2E94E15D7B26}"/>
              </a:ext>
            </a:extLst>
          </p:cNvPr>
          <p:cNvGrpSpPr/>
          <p:nvPr/>
        </p:nvGrpSpPr>
        <p:grpSpPr>
          <a:xfrm>
            <a:off x="7037849" y="4492082"/>
            <a:ext cx="351873" cy="377139"/>
            <a:chOff x="1038542" y="2899684"/>
            <a:chExt cx="351873" cy="377139"/>
          </a:xfrm>
        </p:grpSpPr>
        <p:sp>
          <p:nvSpPr>
            <p:cNvPr id="24" name="Circular Arrow 23">
              <a:extLst>
                <a:ext uri="{FF2B5EF4-FFF2-40B4-BE49-F238E27FC236}">
                  <a16:creationId xmlns:a16="http://schemas.microsoft.com/office/drawing/2014/main" id="{AA5A6F3C-E0F1-CD26-D3CD-A71677D85669}"/>
                </a:ext>
              </a:extLst>
            </p:cNvPr>
            <p:cNvSpPr/>
            <p:nvPr/>
          </p:nvSpPr>
          <p:spPr>
            <a:xfrm>
              <a:off x="1038542" y="289968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30" name="Circular Arrow 29">
              <a:extLst>
                <a:ext uri="{FF2B5EF4-FFF2-40B4-BE49-F238E27FC236}">
                  <a16:creationId xmlns:a16="http://schemas.microsoft.com/office/drawing/2014/main" id="{58FB7945-8694-07A3-F0D1-D17906477946}"/>
                </a:ext>
              </a:extLst>
            </p:cNvPr>
            <p:cNvSpPr/>
            <p:nvPr/>
          </p:nvSpPr>
          <p:spPr>
            <a:xfrm rot="10800000">
              <a:off x="1041606" y="292801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CE28856-7231-D5F3-FBA6-CA2CCF508714}"/>
              </a:ext>
            </a:extLst>
          </p:cNvPr>
          <p:cNvSpPr/>
          <p:nvPr/>
        </p:nvSpPr>
        <p:spPr>
          <a:xfrm>
            <a:off x="6322076" y="2815361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81B8593-48BE-C076-B114-9B5EAEC05272}"/>
              </a:ext>
            </a:extLst>
          </p:cNvPr>
          <p:cNvSpPr/>
          <p:nvPr/>
        </p:nvSpPr>
        <p:spPr>
          <a:xfrm>
            <a:off x="9702185" y="622030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0D5DED7-5532-D6C0-C08A-7CD5C6EAA445}"/>
              </a:ext>
            </a:extLst>
          </p:cNvPr>
          <p:cNvSpPr/>
          <p:nvPr/>
        </p:nvSpPr>
        <p:spPr>
          <a:xfrm>
            <a:off x="9692023" y="5234893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67220-075A-89F8-3920-A396AE5FEE69}"/>
              </a:ext>
            </a:extLst>
          </p:cNvPr>
          <p:cNvSpPr txBox="1"/>
          <p:nvPr/>
        </p:nvSpPr>
        <p:spPr>
          <a:xfrm>
            <a:off x="4963979" y="498122"/>
            <a:ext cx="424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Exactly once = At least once + Idempotence</a:t>
            </a:r>
          </a:p>
        </p:txBody>
      </p:sp>
    </p:spTree>
    <p:extLst>
      <p:ext uri="{BB962C8B-B14F-4D97-AF65-F5344CB8AC3E}">
        <p14:creationId xmlns:p14="http://schemas.microsoft.com/office/powerpoint/2010/main" val="53241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2AB09-E37A-70C3-5D21-ADC8388E5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303EB8-183A-38C3-0A28-78A2237A7004}"/>
              </a:ext>
            </a:extLst>
          </p:cNvPr>
          <p:cNvSpPr/>
          <p:nvPr/>
        </p:nvSpPr>
        <p:spPr>
          <a:xfrm>
            <a:off x="2542699" y="128574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Tx</a:t>
            </a:r>
            <a:br>
              <a:rPr lang="en-US" sz="1600" dirty="0"/>
            </a:br>
            <a:r>
              <a:rPr lang="en-US" sz="1600" dirty="0"/>
              <a:t>processor</a:t>
            </a:r>
          </a:p>
          <a:p>
            <a:pPr algn="ctr"/>
            <a:r>
              <a:rPr lang="en-US" sz="1600" dirty="0"/>
              <a:t>(app)</a:t>
            </a:r>
            <a:endParaRPr lang="en-RU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B77FCE6-B0C1-24CC-AEBB-E69152AA05B3}"/>
              </a:ext>
            </a:extLst>
          </p:cNvPr>
          <p:cNvSpPr/>
          <p:nvPr/>
        </p:nvSpPr>
        <p:spPr>
          <a:xfrm>
            <a:off x="9511312" y="1229559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Balance</a:t>
            </a:r>
            <a:br>
              <a:rPr lang="en-US" sz="1600" dirty="0"/>
            </a:br>
            <a:r>
              <a:rPr lang="en-US" sz="1600" dirty="0"/>
              <a:t>viewer</a:t>
            </a:r>
            <a:endParaRPr lang="en-RU" sz="16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3583A419-D18A-855A-B243-B10A157DAF7E}"/>
              </a:ext>
            </a:extLst>
          </p:cNvPr>
          <p:cNvSpPr/>
          <p:nvPr/>
        </p:nvSpPr>
        <p:spPr>
          <a:xfrm>
            <a:off x="2571071" y="3075494"/>
            <a:ext cx="1399609" cy="1220724"/>
          </a:xfrm>
          <a:prstGeom prst="can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99609"/>
                      <a:gd name="connsiteY0" fmla="*/ 152591 h 1220724"/>
                      <a:gd name="connsiteX1" fmla="*/ 699805 w 1399609"/>
                      <a:gd name="connsiteY1" fmla="*/ 305182 h 1220724"/>
                      <a:gd name="connsiteX2" fmla="*/ 1399610 w 1399609"/>
                      <a:gd name="connsiteY2" fmla="*/ 152591 h 1220724"/>
                      <a:gd name="connsiteX3" fmla="*/ 1399609 w 1399609"/>
                      <a:gd name="connsiteY3" fmla="*/ 1068134 h 1220724"/>
                      <a:gd name="connsiteX4" fmla="*/ 699804 w 1399609"/>
                      <a:gd name="connsiteY4" fmla="*/ 1220725 h 1220724"/>
                      <a:gd name="connsiteX5" fmla="*/ -1 w 1399609"/>
                      <a:gd name="connsiteY5" fmla="*/ 1068134 h 1220724"/>
                      <a:gd name="connsiteX6" fmla="*/ 0 w 1399609"/>
                      <a:gd name="connsiteY6" fmla="*/ 152591 h 1220724"/>
                      <a:gd name="connsiteX0" fmla="*/ 0 w 1399609"/>
                      <a:gd name="connsiteY0" fmla="*/ 152591 h 1220724"/>
                      <a:gd name="connsiteX1" fmla="*/ 699805 w 1399609"/>
                      <a:gd name="connsiteY1" fmla="*/ 0 h 1220724"/>
                      <a:gd name="connsiteX2" fmla="*/ 1399610 w 1399609"/>
                      <a:gd name="connsiteY2" fmla="*/ 152591 h 1220724"/>
                      <a:gd name="connsiteX3" fmla="*/ 699805 w 1399609"/>
                      <a:gd name="connsiteY3" fmla="*/ 305182 h 1220724"/>
                      <a:gd name="connsiteX4" fmla="*/ 0 w 1399609"/>
                      <a:gd name="connsiteY4" fmla="*/ 152591 h 1220724"/>
                      <a:gd name="connsiteX0" fmla="*/ 1399609 w 1399609"/>
                      <a:gd name="connsiteY0" fmla="*/ 152591 h 1220724"/>
                      <a:gd name="connsiteX1" fmla="*/ 699804 w 1399609"/>
                      <a:gd name="connsiteY1" fmla="*/ 305182 h 1220724"/>
                      <a:gd name="connsiteX2" fmla="*/ -1 w 1399609"/>
                      <a:gd name="connsiteY2" fmla="*/ 152591 h 1220724"/>
                      <a:gd name="connsiteX3" fmla="*/ 699804 w 1399609"/>
                      <a:gd name="connsiteY3" fmla="*/ 0 h 1220724"/>
                      <a:gd name="connsiteX4" fmla="*/ 1399609 w 1399609"/>
                      <a:gd name="connsiteY4" fmla="*/ 152591 h 1220724"/>
                      <a:gd name="connsiteX5" fmla="*/ 1399609 w 1399609"/>
                      <a:gd name="connsiteY5" fmla="*/ 628673 h 1220724"/>
                      <a:gd name="connsiteX6" fmla="*/ 1399609 w 1399609"/>
                      <a:gd name="connsiteY6" fmla="*/ 1068134 h 1220724"/>
                      <a:gd name="connsiteX7" fmla="*/ 699804 w 1399609"/>
                      <a:gd name="connsiteY7" fmla="*/ 1220725 h 1220724"/>
                      <a:gd name="connsiteX8" fmla="*/ -1 w 1399609"/>
                      <a:gd name="connsiteY8" fmla="*/ 1068134 h 1220724"/>
                      <a:gd name="connsiteX9" fmla="*/ 0 w 1399609"/>
                      <a:gd name="connsiteY9" fmla="*/ 152591 h 1220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99609" h="1220724" stroke="0" extrusionOk="0">
                        <a:moveTo>
                          <a:pt x="0" y="152591"/>
                        </a:moveTo>
                        <a:cubicBezTo>
                          <a:pt x="-37815" y="213540"/>
                          <a:pt x="275775" y="319271"/>
                          <a:pt x="699805" y="305182"/>
                        </a:cubicBezTo>
                        <a:cubicBezTo>
                          <a:pt x="1097731" y="307589"/>
                          <a:pt x="1386665" y="237277"/>
                          <a:pt x="1399610" y="152591"/>
                        </a:cubicBezTo>
                        <a:cubicBezTo>
                          <a:pt x="1350083" y="506138"/>
                          <a:pt x="1398111" y="771231"/>
                          <a:pt x="1399609" y="1068134"/>
                        </a:cubicBezTo>
                        <a:cubicBezTo>
                          <a:pt x="1340379" y="1120002"/>
                          <a:pt x="1168466" y="1259987"/>
                          <a:pt x="699804" y="1220725"/>
                        </a:cubicBezTo>
                        <a:cubicBezTo>
                          <a:pt x="315934" y="1221036"/>
                          <a:pt x="7620" y="1136725"/>
                          <a:pt x="-1" y="1068134"/>
                        </a:cubicBezTo>
                        <a:cubicBezTo>
                          <a:pt x="-7770" y="761763"/>
                          <a:pt x="-24480" y="480820"/>
                          <a:pt x="0" y="152591"/>
                        </a:cubicBezTo>
                        <a:close/>
                      </a:path>
                      <a:path w="1399609" h="1220724" fill="lighten" stroke="0" extrusionOk="0">
                        <a:moveTo>
                          <a:pt x="0" y="152591"/>
                        </a:moveTo>
                        <a:cubicBezTo>
                          <a:pt x="-9243" y="-19829"/>
                          <a:pt x="267294" y="63953"/>
                          <a:pt x="699805" y="0"/>
                        </a:cubicBezTo>
                        <a:cubicBezTo>
                          <a:pt x="1106048" y="11057"/>
                          <a:pt x="1402632" y="69044"/>
                          <a:pt x="1399610" y="152591"/>
                        </a:cubicBezTo>
                        <a:cubicBezTo>
                          <a:pt x="1372665" y="232507"/>
                          <a:pt x="1132432" y="342912"/>
                          <a:pt x="699805" y="305182"/>
                        </a:cubicBezTo>
                        <a:cubicBezTo>
                          <a:pt x="314636" y="307151"/>
                          <a:pt x="1564" y="253058"/>
                          <a:pt x="0" y="152591"/>
                        </a:cubicBezTo>
                        <a:close/>
                      </a:path>
                      <a:path w="1399609" h="1220724" fill="none" extrusionOk="0">
                        <a:moveTo>
                          <a:pt x="1399609" y="152591"/>
                        </a:moveTo>
                        <a:cubicBezTo>
                          <a:pt x="1412134" y="165242"/>
                          <a:pt x="1011031" y="300922"/>
                          <a:pt x="699804" y="305182"/>
                        </a:cubicBezTo>
                        <a:cubicBezTo>
                          <a:pt x="319342" y="310373"/>
                          <a:pt x="-4917" y="251709"/>
                          <a:pt x="-1" y="152591"/>
                        </a:cubicBezTo>
                        <a:cubicBezTo>
                          <a:pt x="-11215" y="90829"/>
                          <a:pt x="265946" y="-62847"/>
                          <a:pt x="699804" y="0"/>
                        </a:cubicBezTo>
                        <a:cubicBezTo>
                          <a:pt x="1105306" y="5956"/>
                          <a:pt x="1399222" y="60278"/>
                          <a:pt x="1399609" y="152591"/>
                        </a:cubicBezTo>
                        <a:cubicBezTo>
                          <a:pt x="1403548" y="277672"/>
                          <a:pt x="1355366" y="449147"/>
                          <a:pt x="1399609" y="628673"/>
                        </a:cubicBezTo>
                        <a:cubicBezTo>
                          <a:pt x="1443852" y="808199"/>
                          <a:pt x="1390602" y="913348"/>
                          <a:pt x="1399609" y="1068134"/>
                        </a:cubicBezTo>
                        <a:cubicBezTo>
                          <a:pt x="1452091" y="1112987"/>
                          <a:pt x="1132201" y="1141027"/>
                          <a:pt x="699804" y="1220725"/>
                        </a:cubicBezTo>
                        <a:cubicBezTo>
                          <a:pt x="310846" y="1219780"/>
                          <a:pt x="17114" y="1135579"/>
                          <a:pt x="-1" y="1068134"/>
                        </a:cubicBezTo>
                        <a:cubicBezTo>
                          <a:pt x="-17128" y="772556"/>
                          <a:pt x="12287" y="491065"/>
                          <a:pt x="0" y="152591"/>
                        </a:cubicBezTo>
                      </a:path>
                      <a:path w="1399609" h="1220724" fill="none" stroke="0" extrusionOk="0">
                        <a:moveTo>
                          <a:pt x="1399609" y="152591"/>
                        </a:moveTo>
                        <a:cubicBezTo>
                          <a:pt x="1410480" y="253610"/>
                          <a:pt x="1131286" y="360291"/>
                          <a:pt x="699804" y="305182"/>
                        </a:cubicBezTo>
                        <a:cubicBezTo>
                          <a:pt x="320763" y="298659"/>
                          <a:pt x="1631" y="229189"/>
                          <a:pt x="-1" y="152591"/>
                        </a:cubicBezTo>
                        <a:cubicBezTo>
                          <a:pt x="-12266" y="70331"/>
                          <a:pt x="245756" y="-46613"/>
                          <a:pt x="699804" y="0"/>
                        </a:cubicBezTo>
                        <a:cubicBezTo>
                          <a:pt x="1063566" y="-1613"/>
                          <a:pt x="1396361" y="61697"/>
                          <a:pt x="1399609" y="152591"/>
                        </a:cubicBezTo>
                        <a:cubicBezTo>
                          <a:pt x="1407733" y="298312"/>
                          <a:pt x="1364739" y="467045"/>
                          <a:pt x="1399609" y="601207"/>
                        </a:cubicBezTo>
                        <a:cubicBezTo>
                          <a:pt x="1434479" y="735369"/>
                          <a:pt x="1389309" y="940748"/>
                          <a:pt x="1399609" y="1068134"/>
                        </a:cubicBezTo>
                        <a:cubicBezTo>
                          <a:pt x="1397871" y="1193715"/>
                          <a:pt x="1104269" y="1210064"/>
                          <a:pt x="699804" y="1220725"/>
                        </a:cubicBezTo>
                        <a:cubicBezTo>
                          <a:pt x="306545" y="1231467"/>
                          <a:pt x="-23609" y="1153667"/>
                          <a:pt x="-1" y="1068134"/>
                        </a:cubicBezTo>
                        <a:cubicBezTo>
                          <a:pt x="31173" y="824678"/>
                          <a:pt x="-30697" y="473960"/>
                          <a:pt x="0" y="15259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transactions</a:t>
            </a:r>
            <a:endParaRPr lang="en-RU" sz="1600" dirty="0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D4E8EF0A-7D84-44AF-41A8-817F999775A7}"/>
              </a:ext>
            </a:extLst>
          </p:cNvPr>
          <p:cNvSpPr/>
          <p:nvPr/>
        </p:nvSpPr>
        <p:spPr>
          <a:xfrm>
            <a:off x="9559478" y="3075494"/>
            <a:ext cx="1399608" cy="122072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balance</a:t>
            </a:r>
            <a:endParaRPr lang="en-RU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0AFFFB-35BA-838C-ED02-77C248607752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266586" y="2200146"/>
            <a:ext cx="4290" cy="87534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B9A0C7-A2BB-3F08-9C25-3D793809D861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10235199" y="2143959"/>
            <a:ext cx="24083" cy="931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F5754-D6B3-DAF1-21EF-FCF6EDCEE6CF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1611603" y="1742946"/>
            <a:ext cx="93109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E3C3B34-DBFC-2945-5E32-410030243B2B}"/>
              </a:ext>
            </a:extLst>
          </p:cNvPr>
          <p:cNvSpPr/>
          <p:nvPr/>
        </p:nvSpPr>
        <p:spPr>
          <a:xfrm>
            <a:off x="4823262" y="1974805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B9C8B7-FAFF-C64D-2B86-0D88F6F9A166}"/>
              </a:ext>
            </a:extLst>
          </p:cNvPr>
          <p:cNvCxnSpPr>
            <a:cxnSpLocks/>
            <a:stCxn id="50" idx="0"/>
            <a:endCxn id="12" idx="4"/>
          </p:cNvCxnSpPr>
          <p:nvPr/>
        </p:nvCxnSpPr>
        <p:spPr>
          <a:xfrm flipV="1">
            <a:off x="5403280" y="3244647"/>
            <a:ext cx="158178" cy="15637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36378B-FC53-D829-9689-040A4A784DDF}"/>
              </a:ext>
            </a:extLst>
          </p:cNvPr>
          <p:cNvCxnSpPr>
            <a:cxnSpLocks/>
            <a:stCxn id="12" idx="5"/>
            <a:endCxn id="25" idx="0"/>
          </p:cNvCxnSpPr>
          <p:nvPr/>
        </p:nvCxnSpPr>
        <p:spPr>
          <a:xfrm>
            <a:off x="6083441" y="3058683"/>
            <a:ext cx="792285" cy="59942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E89DAB-4BBA-6320-584D-C75C2AFB6CAA}"/>
              </a:ext>
            </a:extLst>
          </p:cNvPr>
          <p:cNvCxnSpPr>
            <a:cxnSpLocks/>
            <a:stCxn id="83" idx="6"/>
            <a:endCxn id="74" idx="1"/>
          </p:cNvCxnSpPr>
          <p:nvPr/>
        </p:nvCxnSpPr>
        <p:spPr>
          <a:xfrm flipV="1">
            <a:off x="8928191" y="4808363"/>
            <a:ext cx="878033" cy="4616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73892A-E7EB-BC81-F080-278DFFAE6CBE}"/>
              </a:ext>
            </a:extLst>
          </p:cNvPr>
          <p:cNvCxnSpPr>
            <a:cxnSpLocks/>
            <a:stCxn id="6" idx="3"/>
            <a:endCxn id="49" idx="0"/>
          </p:cNvCxnSpPr>
          <p:nvPr/>
        </p:nvCxnSpPr>
        <p:spPr>
          <a:xfrm>
            <a:off x="3270876" y="4296218"/>
            <a:ext cx="386434" cy="5157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83A771-F2D5-4207-1FE6-3A020572FAEB}"/>
              </a:ext>
            </a:extLst>
          </p:cNvPr>
          <p:cNvCxnSpPr>
            <a:cxnSpLocks/>
            <a:stCxn id="6" idx="3"/>
            <a:endCxn id="48" idx="0"/>
          </p:cNvCxnSpPr>
          <p:nvPr/>
        </p:nvCxnSpPr>
        <p:spPr>
          <a:xfrm flipH="1">
            <a:off x="2027598" y="4296218"/>
            <a:ext cx="1243278" cy="5121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redefined Process 24">
            <a:extLst>
              <a:ext uri="{FF2B5EF4-FFF2-40B4-BE49-F238E27FC236}">
                <a16:creationId xmlns:a16="http://schemas.microsoft.com/office/drawing/2014/main" id="{2BEE9860-EBED-784B-AA0C-FCF39A0700FE}"/>
              </a:ext>
            </a:extLst>
          </p:cNvPr>
          <p:cNvSpPr/>
          <p:nvPr/>
        </p:nvSpPr>
        <p:spPr>
          <a:xfrm>
            <a:off x="6201414" y="3658106"/>
            <a:ext cx="1348624" cy="669177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Kafka</a:t>
            </a:r>
            <a:endParaRPr lang="en-RU" sz="1600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69B0B27-8FCD-91FC-D523-35D6C2698DB0}"/>
              </a:ext>
            </a:extLst>
          </p:cNvPr>
          <p:cNvSpPr/>
          <p:nvPr/>
        </p:nvSpPr>
        <p:spPr>
          <a:xfrm>
            <a:off x="1841935" y="632679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809AADD-E17C-A915-1BEB-80FD3327B9D1}"/>
              </a:ext>
            </a:extLst>
          </p:cNvPr>
          <p:cNvSpPr/>
          <p:nvPr/>
        </p:nvSpPr>
        <p:spPr>
          <a:xfrm>
            <a:off x="330968" y="2284023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06ED2AA-0B16-1628-5181-07931C3970C4}"/>
              </a:ext>
            </a:extLst>
          </p:cNvPr>
          <p:cNvSpPr/>
          <p:nvPr/>
        </p:nvSpPr>
        <p:spPr>
          <a:xfrm>
            <a:off x="833316" y="4230726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36" name="Multidocument 35">
            <a:extLst>
              <a:ext uri="{FF2B5EF4-FFF2-40B4-BE49-F238E27FC236}">
                <a16:creationId xmlns:a16="http://schemas.microsoft.com/office/drawing/2014/main" id="{7B809F48-E875-D810-E823-3BDC77AF7D0F}"/>
              </a:ext>
            </a:extLst>
          </p:cNvPr>
          <p:cNvSpPr/>
          <p:nvPr/>
        </p:nvSpPr>
        <p:spPr>
          <a:xfrm>
            <a:off x="550899" y="136347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8F6D57-BA39-C2BB-4FBC-FD3D1BA85FE6}"/>
              </a:ext>
            </a:extLst>
          </p:cNvPr>
          <p:cNvSpPr txBox="1"/>
          <p:nvPr/>
        </p:nvSpPr>
        <p:spPr>
          <a:xfrm>
            <a:off x="496858" y="334162"/>
            <a:ext cx="1564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user-id</a:t>
            </a:r>
          </a:p>
          <a:p>
            <a:r>
              <a:rPr lang="en-US" dirty="0"/>
              <a:t>amount</a:t>
            </a:r>
          </a:p>
          <a:p>
            <a:r>
              <a:rPr lang="en-US" b="1" dirty="0">
                <a:solidFill>
                  <a:srgbClr val="FF0000"/>
                </a:solidFill>
              </a:rPr>
              <a:t>external </a:t>
            </a:r>
            <a:r>
              <a:rPr lang="en-US" b="1" dirty="0" err="1">
                <a:solidFill>
                  <a:srgbClr val="FF0000"/>
                </a:solidFill>
              </a:rPr>
              <a:t>txn</a:t>
            </a:r>
            <a:r>
              <a:rPr lang="en-US" b="1" dirty="0">
                <a:solidFill>
                  <a:srgbClr val="FF0000"/>
                </a:solidFill>
              </a:rPr>
              <a:t> 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40DD2B-7C30-65BC-FD84-BAD40EA73E79}"/>
              </a:ext>
            </a:extLst>
          </p:cNvPr>
          <p:cNvSpPr txBox="1"/>
          <p:nvPr/>
        </p:nvSpPr>
        <p:spPr>
          <a:xfrm>
            <a:off x="1330131" y="4808363"/>
            <a:ext cx="1394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Transactions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external_id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96D8A1-6ABA-A7E7-8EFF-8730DFEDB17A}"/>
              </a:ext>
            </a:extLst>
          </p:cNvPr>
          <p:cNvSpPr txBox="1"/>
          <p:nvPr/>
        </p:nvSpPr>
        <p:spPr>
          <a:xfrm>
            <a:off x="3047623" y="4811943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EF83D6-318B-C61E-A9C0-7BF37B482B26}"/>
              </a:ext>
            </a:extLst>
          </p:cNvPr>
          <p:cNvSpPr txBox="1"/>
          <p:nvPr/>
        </p:nvSpPr>
        <p:spPr>
          <a:xfrm>
            <a:off x="4570455" y="4808363"/>
            <a:ext cx="16656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Outbox</a:t>
            </a:r>
            <a:br>
              <a:rPr lang="en-US" dirty="0"/>
            </a:br>
            <a:r>
              <a:rPr lang="en-US" dirty="0"/>
              <a:t>id (event)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transaction_id</a:t>
            </a:r>
            <a:br>
              <a:rPr lang="en-US" b="1" dirty="0"/>
            </a:br>
            <a:r>
              <a:rPr lang="en-US" dirty="0"/>
              <a:t>payload (blob)</a:t>
            </a:r>
            <a:br>
              <a:rPr lang="en-US" dirty="0"/>
            </a:br>
            <a:r>
              <a:rPr lang="en-US" dirty="0"/>
              <a:t>processed [Y/N]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377ED84-8699-4D1E-B250-20A1876E65F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70876" y="4296218"/>
            <a:ext cx="1374116" cy="5193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B08925E-A6C2-2D82-17B0-327A0A379940}"/>
              </a:ext>
            </a:extLst>
          </p:cNvPr>
          <p:cNvSpPr txBox="1"/>
          <p:nvPr/>
        </p:nvSpPr>
        <p:spPr>
          <a:xfrm>
            <a:off x="9806224" y="4346698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b="1" i="1" u="sng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830568-64F8-8C45-FF26-238ADE56FAC1}"/>
              </a:ext>
            </a:extLst>
          </p:cNvPr>
          <p:cNvSpPr txBox="1"/>
          <p:nvPr/>
        </p:nvSpPr>
        <p:spPr>
          <a:xfrm>
            <a:off x="9806224" y="5542139"/>
            <a:ext cx="1558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Inbox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transaction_id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F1DFF7C-BDCD-1545-C24F-65AE1DC33C89}"/>
              </a:ext>
            </a:extLst>
          </p:cNvPr>
          <p:cNvSpPr/>
          <p:nvPr/>
        </p:nvSpPr>
        <p:spPr>
          <a:xfrm>
            <a:off x="7451800" y="4635107"/>
            <a:ext cx="1476391" cy="12698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Inbox</a:t>
            </a:r>
            <a:br>
              <a:rPr lang="en-US" sz="1600" dirty="0"/>
            </a:br>
            <a:r>
              <a:rPr lang="en-US" sz="1600" dirty="0"/>
              <a:t>processor</a:t>
            </a:r>
            <a:endParaRPr lang="en-RU" sz="16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6052AA6-E54C-3D75-7D5C-340D29A3205D}"/>
              </a:ext>
            </a:extLst>
          </p:cNvPr>
          <p:cNvCxnSpPr>
            <a:cxnSpLocks/>
            <a:stCxn id="83" idx="6"/>
            <a:endCxn id="75" idx="1"/>
          </p:cNvCxnSpPr>
          <p:nvPr/>
        </p:nvCxnSpPr>
        <p:spPr>
          <a:xfrm>
            <a:off x="8928191" y="5270028"/>
            <a:ext cx="878033" cy="5952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8E15D87-CBEE-25E9-7D6D-EE1F83C43A56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266935" y="4346698"/>
            <a:ext cx="401077" cy="4743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FDCA53-363F-9118-597E-31F4BFAAE8AB}"/>
              </a:ext>
            </a:extLst>
          </p:cNvPr>
          <p:cNvGrpSpPr/>
          <p:nvPr/>
        </p:nvGrpSpPr>
        <p:grpSpPr>
          <a:xfrm>
            <a:off x="1886906" y="1757515"/>
            <a:ext cx="351873" cy="377139"/>
            <a:chOff x="1038542" y="2899684"/>
            <a:chExt cx="351873" cy="377139"/>
          </a:xfrm>
        </p:grpSpPr>
        <p:sp>
          <p:nvSpPr>
            <p:cNvPr id="3" name="Circular Arrow 2">
              <a:extLst>
                <a:ext uri="{FF2B5EF4-FFF2-40B4-BE49-F238E27FC236}">
                  <a16:creationId xmlns:a16="http://schemas.microsoft.com/office/drawing/2014/main" id="{92EFB282-173A-1E5B-0D3E-36D3A1945300}"/>
                </a:ext>
              </a:extLst>
            </p:cNvPr>
            <p:cNvSpPr/>
            <p:nvPr/>
          </p:nvSpPr>
          <p:spPr>
            <a:xfrm>
              <a:off x="1038542" y="289968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Circular Arrow 10">
              <a:extLst>
                <a:ext uri="{FF2B5EF4-FFF2-40B4-BE49-F238E27FC236}">
                  <a16:creationId xmlns:a16="http://schemas.microsoft.com/office/drawing/2014/main" id="{4447601D-41DE-62DB-E01D-1ADDEF424840}"/>
                </a:ext>
              </a:extLst>
            </p:cNvPr>
            <p:cNvSpPr/>
            <p:nvPr/>
          </p:nvSpPr>
          <p:spPr>
            <a:xfrm rot="10800000">
              <a:off x="1041606" y="292801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93A491-05BC-C7E5-C8A6-73A77A2093DE}"/>
              </a:ext>
            </a:extLst>
          </p:cNvPr>
          <p:cNvGrpSpPr/>
          <p:nvPr/>
        </p:nvGrpSpPr>
        <p:grpSpPr>
          <a:xfrm>
            <a:off x="5051406" y="3837935"/>
            <a:ext cx="351873" cy="377139"/>
            <a:chOff x="1038542" y="2899684"/>
            <a:chExt cx="351873" cy="377139"/>
          </a:xfrm>
        </p:grpSpPr>
        <p:sp>
          <p:nvSpPr>
            <p:cNvPr id="19" name="Circular Arrow 18">
              <a:extLst>
                <a:ext uri="{FF2B5EF4-FFF2-40B4-BE49-F238E27FC236}">
                  <a16:creationId xmlns:a16="http://schemas.microsoft.com/office/drawing/2014/main" id="{AABC39C4-8C88-E7C8-A8A8-44878A33B899}"/>
                </a:ext>
              </a:extLst>
            </p:cNvPr>
            <p:cNvSpPr/>
            <p:nvPr/>
          </p:nvSpPr>
          <p:spPr>
            <a:xfrm>
              <a:off x="1038542" y="289968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22" name="Circular Arrow 21">
              <a:extLst>
                <a:ext uri="{FF2B5EF4-FFF2-40B4-BE49-F238E27FC236}">
                  <a16:creationId xmlns:a16="http://schemas.microsoft.com/office/drawing/2014/main" id="{30FE456C-5B9D-7311-833E-D8793C22FF62}"/>
                </a:ext>
              </a:extLst>
            </p:cNvPr>
            <p:cNvSpPr/>
            <p:nvPr/>
          </p:nvSpPr>
          <p:spPr>
            <a:xfrm rot="10800000">
              <a:off x="1041606" y="292801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8CCAAA-2A6D-A127-6D99-411C911C749F}"/>
              </a:ext>
            </a:extLst>
          </p:cNvPr>
          <p:cNvGrpSpPr/>
          <p:nvPr/>
        </p:nvGrpSpPr>
        <p:grpSpPr>
          <a:xfrm>
            <a:off x="7037849" y="4492082"/>
            <a:ext cx="351873" cy="377139"/>
            <a:chOff x="1038542" y="2899684"/>
            <a:chExt cx="351873" cy="377139"/>
          </a:xfrm>
        </p:grpSpPr>
        <p:sp>
          <p:nvSpPr>
            <p:cNvPr id="24" name="Circular Arrow 23">
              <a:extLst>
                <a:ext uri="{FF2B5EF4-FFF2-40B4-BE49-F238E27FC236}">
                  <a16:creationId xmlns:a16="http://schemas.microsoft.com/office/drawing/2014/main" id="{7B6FDC03-7CCA-670D-B1A2-7DF323CEF601}"/>
                </a:ext>
              </a:extLst>
            </p:cNvPr>
            <p:cNvSpPr/>
            <p:nvPr/>
          </p:nvSpPr>
          <p:spPr>
            <a:xfrm>
              <a:off x="1038542" y="289968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30" name="Circular Arrow 29">
              <a:extLst>
                <a:ext uri="{FF2B5EF4-FFF2-40B4-BE49-F238E27FC236}">
                  <a16:creationId xmlns:a16="http://schemas.microsoft.com/office/drawing/2014/main" id="{592D22DA-6A7F-59D9-0989-CAFD532D2F61}"/>
                </a:ext>
              </a:extLst>
            </p:cNvPr>
            <p:cNvSpPr/>
            <p:nvPr/>
          </p:nvSpPr>
          <p:spPr>
            <a:xfrm rot="10800000">
              <a:off x="1041606" y="292801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B6EA622-6005-0884-9E70-7770871ABF63}"/>
              </a:ext>
            </a:extLst>
          </p:cNvPr>
          <p:cNvSpPr/>
          <p:nvPr/>
        </p:nvSpPr>
        <p:spPr>
          <a:xfrm>
            <a:off x="6322076" y="2815361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50A2016-92C0-0625-CBCA-75FD7822D9D7}"/>
              </a:ext>
            </a:extLst>
          </p:cNvPr>
          <p:cNvSpPr/>
          <p:nvPr/>
        </p:nvSpPr>
        <p:spPr>
          <a:xfrm>
            <a:off x="9702185" y="622030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496004A-0D2D-D2A9-8D93-6BD378A02401}"/>
              </a:ext>
            </a:extLst>
          </p:cNvPr>
          <p:cNvSpPr/>
          <p:nvPr/>
        </p:nvSpPr>
        <p:spPr>
          <a:xfrm>
            <a:off x="9692023" y="5234893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9F470E-5F16-ECC9-86DC-A02F5D6D394C}"/>
              </a:ext>
            </a:extLst>
          </p:cNvPr>
          <p:cNvSpPr txBox="1"/>
          <p:nvPr/>
        </p:nvSpPr>
        <p:spPr>
          <a:xfrm>
            <a:off x="4963979" y="498122"/>
            <a:ext cx="424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Exactly once = At least once + Idempotence</a:t>
            </a:r>
          </a:p>
        </p:txBody>
      </p:sp>
    </p:spTree>
    <p:extLst>
      <p:ext uri="{BB962C8B-B14F-4D97-AF65-F5344CB8AC3E}">
        <p14:creationId xmlns:p14="http://schemas.microsoft.com/office/powerpoint/2010/main" val="1387116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CCDD-3061-6E2E-A1F0-4ACD5A86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4ACF29-66C0-2D26-10D1-FF7917399CE6}"/>
              </a:ext>
            </a:extLst>
          </p:cNvPr>
          <p:cNvSpPr/>
          <p:nvPr/>
        </p:nvSpPr>
        <p:spPr>
          <a:xfrm>
            <a:off x="2542699" y="128574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Tx</a:t>
            </a:r>
            <a:br>
              <a:rPr lang="en-US" sz="1600" dirty="0"/>
            </a:br>
            <a:r>
              <a:rPr lang="en-US" sz="1600" dirty="0"/>
              <a:t>processor</a:t>
            </a:r>
          </a:p>
          <a:p>
            <a:pPr algn="ctr"/>
            <a:r>
              <a:rPr lang="en-US" sz="1600" dirty="0"/>
              <a:t>(app)</a:t>
            </a:r>
            <a:endParaRPr lang="en-RU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B8D6AF-37B5-7FAE-4486-74011921D5B3}"/>
              </a:ext>
            </a:extLst>
          </p:cNvPr>
          <p:cNvSpPr/>
          <p:nvPr/>
        </p:nvSpPr>
        <p:spPr>
          <a:xfrm>
            <a:off x="9511312" y="1229559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Balance</a:t>
            </a:r>
            <a:br>
              <a:rPr lang="en-US" sz="1600" dirty="0"/>
            </a:br>
            <a:r>
              <a:rPr lang="en-US" sz="1600" dirty="0"/>
              <a:t>viewer</a:t>
            </a:r>
            <a:endParaRPr lang="en-RU" sz="16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C9851117-212E-C77C-68CD-361C88E3A99C}"/>
              </a:ext>
            </a:extLst>
          </p:cNvPr>
          <p:cNvSpPr/>
          <p:nvPr/>
        </p:nvSpPr>
        <p:spPr>
          <a:xfrm>
            <a:off x="2571071" y="3075494"/>
            <a:ext cx="1399609" cy="1220724"/>
          </a:xfrm>
          <a:prstGeom prst="can">
            <a:avLst/>
          </a:prstGeom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99609"/>
                      <a:gd name="connsiteY0" fmla="*/ 152591 h 1220724"/>
                      <a:gd name="connsiteX1" fmla="*/ 699805 w 1399609"/>
                      <a:gd name="connsiteY1" fmla="*/ 305182 h 1220724"/>
                      <a:gd name="connsiteX2" fmla="*/ 1399610 w 1399609"/>
                      <a:gd name="connsiteY2" fmla="*/ 152591 h 1220724"/>
                      <a:gd name="connsiteX3" fmla="*/ 1399609 w 1399609"/>
                      <a:gd name="connsiteY3" fmla="*/ 1068134 h 1220724"/>
                      <a:gd name="connsiteX4" fmla="*/ 699804 w 1399609"/>
                      <a:gd name="connsiteY4" fmla="*/ 1220725 h 1220724"/>
                      <a:gd name="connsiteX5" fmla="*/ -1 w 1399609"/>
                      <a:gd name="connsiteY5" fmla="*/ 1068134 h 1220724"/>
                      <a:gd name="connsiteX6" fmla="*/ 0 w 1399609"/>
                      <a:gd name="connsiteY6" fmla="*/ 152591 h 1220724"/>
                      <a:gd name="connsiteX0" fmla="*/ 0 w 1399609"/>
                      <a:gd name="connsiteY0" fmla="*/ 152591 h 1220724"/>
                      <a:gd name="connsiteX1" fmla="*/ 699805 w 1399609"/>
                      <a:gd name="connsiteY1" fmla="*/ 0 h 1220724"/>
                      <a:gd name="connsiteX2" fmla="*/ 1399610 w 1399609"/>
                      <a:gd name="connsiteY2" fmla="*/ 152591 h 1220724"/>
                      <a:gd name="connsiteX3" fmla="*/ 699805 w 1399609"/>
                      <a:gd name="connsiteY3" fmla="*/ 305182 h 1220724"/>
                      <a:gd name="connsiteX4" fmla="*/ 0 w 1399609"/>
                      <a:gd name="connsiteY4" fmla="*/ 152591 h 1220724"/>
                      <a:gd name="connsiteX0" fmla="*/ 1399609 w 1399609"/>
                      <a:gd name="connsiteY0" fmla="*/ 152591 h 1220724"/>
                      <a:gd name="connsiteX1" fmla="*/ 699804 w 1399609"/>
                      <a:gd name="connsiteY1" fmla="*/ 305182 h 1220724"/>
                      <a:gd name="connsiteX2" fmla="*/ -1 w 1399609"/>
                      <a:gd name="connsiteY2" fmla="*/ 152591 h 1220724"/>
                      <a:gd name="connsiteX3" fmla="*/ 699804 w 1399609"/>
                      <a:gd name="connsiteY3" fmla="*/ 0 h 1220724"/>
                      <a:gd name="connsiteX4" fmla="*/ 1399609 w 1399609"/>
                      <a:gd name="connsiteY4" fmla="*/ 152591 h 1220724"/>
                      <a:gd name="connsiteX5" fmla="*/ 1399609 w 1399609"/>
                      <a:gd name="connsiteY5" fmla="*/ 628673 h 1220724"/>
                      <a:gd name="connsiteX6" fmla="*/ 1399609 w 1399609"/>
                      <a:gd name="connsiteY6" fmla="*/ 1068134 h 1220724"/>
                      <a:gd name="connsiteX7" fmla="*/ 699804 w 1399609"/>
                      <a:gd name="connsiteY7" fmla="*/ 1220725 h 1220724"/>
                      <a:gd name="connsiteX8" fmla="*/ -1 w 1399609"/>
                      <a:gd name="connsiteY8" fmla="*/ 1068134 h 1220724"/>
                      <a:gd name="connsiteX9" fmla="*/ 0 w 1399609"/>
                      <a:gd name="connsiteY9" fmla="*/ 152591 h 1220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399609" h="1220724" stroke="0" extrusionOk="0">
                        <a:moveTo>
                          <a:pt x="0" y="152591"/>
                        </a:moveTo>
                        <a:cubicBezTo>
                          <a:pt x="-37815" y="213540"/>
                          <a:pt x="275775" y="319271"/>
                          <a:pt x="699805" y="305182"/>
                        </a:cubicBezTo>
                        <a:cubicBezTo>
                          <a:pt x="1097731" y="307589"/>
                          <a:pt x="1386665" y="237277"/>
                          <a:pt x="1399610" y="152591"/>
                        </a:cubicBezTo>
                        <a:cubicBezTo>
                          <a:pt x="1350083" y="506138"/>
                          <a:pt x="1398111" y="771231"/>
                          <a:pt x="1399609" y="1068134"/>
                        </a:cubicBezTo>
                        <a:cubicBezTo>
                          <a:pt x="1340379" y="1120002"/>
                          <a:pt x="1168466" y="1259987"/>
                          <a:pt x="699804" y="1220725"/>
                        </a:cubicBezTo>
                        <a:cubicBezTo>
                          <a:pt x="315934" y="1221036"/>
                          <a:pt x="7620" y="1136725"/>
                          <a:pt x="-1" y="1068134"/>
                        </a:cubicBezTo>
                        <a:cubicBezTo>
                          <a:pt x="-7770" y="761763"/>
                          <a:pt x="-24480" y="480820"/>
                          <a:pt x="0" y="152591"/>
                        </a:cubicBezTo>
                        <a:close/>
                      </a:path>
                      <a:path w="1399609" h="1220724" fill="lighten" stroke="0" extrusionOk="0">
                        <a:moveTo>
                          <a:pt x="0" y="152591"/>
                        </a:moveTo>
                        <a:cubicBezTo>
                          <a:pt x="-9243" y="-19829"/>
                          <a:pt x="267294" y="63953"/>
                          <a:pt x="699805" y="0"/>
                        </a:cubicBezTo>
                        <a:cubicBezTo>
                          <a:pt x="1106048" y="11057"/>
                          <a:pt x="1402632" y="69044"/>
                          <a:pt x="1399610" y="152591"/>
                        </a:cubicBezTo>
                        <a:cubicBezTo>
                          <a:pt x="1372665" y="232507"/>
                          <a:pt x="1132432" y="342912"/>
                          <a:pt x="699805" y="305182"/>
                        </a:cubicBezTo>
                        <a:cubicBezTo>
                          <a:pt x="314636" y="307151"/>
                          <a:pt x="1564" y="253058"/>
                          <a:pt x="0" y="152591"/>
                        </a:cubicBezTo>
                        <a:close/>
                      </a:path>
                      <a:path w="1399609" h="1220724" fill="none" extrusionOk="0">
                        <a:moveTo>
                          <a:pt x="1399609" y="152591"/>
                        </a:moveTo>
                        <a:cubicBezTo>
                          <a:pt x="1412134" y="165242"/>
                          <a:pt x="1011031" y="300922"/>
                          <a:pt x="699804" y="305182"/>
                        </a:cubicBezTo>
                        <a:cubicBezTo>
                          <a:pt x="319342" y="310373"/>
                          <a:pt x="-4917" y="251709"/>
                          <a:pt x="-1" y="152591"/>
                        </a:cubicBezTo>
                        <a:cubicBezTo>
                          <a:pt x="-11215" y="90829"/>
                          <a:pt x="265946" y="-62847"/>
                          <a:pt x="699804" y="0"/>
                        </a:cubicBezTo>
                        <a:cubicBezTo>
                          <a:pt x="1105306" y="5956"/>
                          <a:pt x="1399222" y="60278"/>
                          <a:pt x="1399609" y="152591"/>
                        </a:cubicBezTo>
                        <a:cubicBezTo>
                          <a:pt x="1403548" y="277672"/>
                          <a:pt x="1355366" y="449147"/>
                          <a:pt x="1399609" y="628673"/>
                        </a:cubicBezTo>
                        <a:cubicBezTo>
                          <a:pt x="1443852" y="808199"/>
                          <a:pt x="1390602" y="913348"/>
                          <a:pt x="1399609" y="1068134"/>
                        </a:cubicBezTo>
                        <a:cubicBezTo>
                          <a:pt x="1452091" y="1112987"/>
                          <a:pt x="1132201" y="1141027"/>
                          <a:pt x="699804" y="1220725"/>
                        </a:cubicBezTo>
                        <a:cubicBezTo>
                          <a:pt x="310846" y="1219780"/>
                          <a:pt x="17114" y="1135579"/>
                          <a:pt x="-1" y="1068134"/>
                        </a:cubicBezTo>
                        <a:cubicBezTo>
                          <a:pt x="-17128" y="772556"/>
                          <a:pt x="12287" y="491065"/>
                          <a:pt x="0" y="152591"/>
                        </a:cubicBezTo>
                      </a:path>
                      <a:path w="1399609" h="1220724" fill="none" stroke="0" extrusionOk="0">
                        <a:moveTo>
                          <a:pt x="1399609" y="152591"/>
                        </a:moveTo>
                        <a:cubicBezTo>
                          <a:pt x="1410480" y="253610"/>
                          <a:pt x="1131286" y="360291"/>
                          <a:pt x="699804" y="305182"/>
                        </a:cubicBezTo>
                        <a:cubicBezTo>
                          <a:pt x="320763" y="298659"/>
                          <a:pt x="1631" y="229189"/>
                          <a:pt x="-1" y="152591"/>
                        </a:cubicBezTo>
                        <a:cubicBezTo>
                          <a:pt x="-12266" y="70331"/>
                          <a:pt x="245756" y="-46613"/>
                          <a:pt x="699804" y="0"/>
                        </a:cubicBezTo>
                        <a:cubicBezTo>
                          <a:pt x="1063566" y="-1613"/>
                          <a:pt x="1396361" y="61697"/>
                          <a:pt x="1399609" y="152591"/>
                        </a:cubicBezTo>
                        <a:cubicBezTo>
                          <a:pt x="1407733" y="298312"/>
                          <a:pt x="1364739" y="467045"/>
                          <a:pt x="1399609" y="601207"/>
                        </a:cubicBezTo>
                        <a:cubicBezTo>
                          <a:pt x="1434479" y="735369"/>
                          <a:pt x="1389309" y="940748"/>
                          <a:pt x="1399609" y="1068134"/>
                        </a:cubicBezTo>
                        <a:cubicBezTo>
                          <a:pt x="1397871" y="1193715"/>
                          <a:pt x="1104269" y="1210064"/>
                          <a:pt x="699804" y="1220725"/>
                        </a:cubicBezTo>
                        <a:cubicBezTo>
                          <a:pt x="306545" y="1231467"/>
                          <a:pt x="-23609" y="1153667"/>
                          <a:pt x="-1" y="1068134"/>
                        </a:cubicBezTo>
                        <a:cubicBezTo>
                          <a:pt x="31173" y="824678"/>
                          <a:pt x="-30697" y="473960"/>
                          <a:pt x="0" y="15259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transactions</a:t>
            </a:r>
            <a:endParaRPr lang="en-RU" sz="1600" dirty="0"/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E85407F4-3BE5-BE4B-A924-E573D914A6B3}"/>
              </a:ext>
            </a:extLst>
          </p:cNvPr>
          <p:cNvSpPr/>
          <p:nvPr/>
        </p:nvSpPr>
        <p:spPr>
          <a:xfrm>
            <a:off x="9559478" y="3075494"/>
            <a:ext cx="1399608" cy="122072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/>
              <a:t>DB</a:t>
            </a:r>
            <a:br>
              <a:rPr lang="en-US" sz="1600" dirty="0"/>
            </a:br>
            <a:r>
              <a:rPr lang="en-US" sz="1600" dirty="0"/>
              <a:t>balance</a:t>
            </a:r>
            <a:endParaRPr lang="en-RU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DEB0CA-9F39-DD4D-1F50-E950F2380B7E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>
            <a:off x="3266586" y="2200146"/>
            <a:ext cx="4290" cy="87534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22E95B-5932-AD29-173C-BE84059C9D88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>
            <a:off x="10235199" y="2143959"/>
            <a:ext cx="24083" cy="93153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37BAE6-7944-B64A-4FD8-D1E5EA35E07F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>
            <a:off x="1611603" y="1742946"/>
            <a:ext cx="93109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9466CF-1F5A-10FC-C7A4-B6026CEEA732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8928191" y="4808363"/>
            <a:ext cx="878033" cy="4616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DC0569-992B-4F0F-035F-B2D15C0DFC72}"/>
              </a:ext>
            </a:extLst>
          </p:cNvPr>
          <p:cNvCxnSpPr>
            <a:cxnSpLocks/>
            <a:stCxn id="6" idx="3"/>
            <a:endCxn id="49" idx="0"/>
          </p:cNvCxnSpPr>
          <p:nvPr/>
        </p:nvCxnSpPr>
        <p:spPr>
          <a:xfrm>
            <a:off x="3270876" y="4296218"/>
            <a:ext cx="386434" cy="5157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41FD05-A80C-9ABE-5DE9-3493713C14DC}"/>
              </a:ext>
            </a:extLst>
          </p:cNvPr>
          <p:cNvCxnSpPr>
            <a:cxnSpLocks/>
            <a:stCxn id="6" idx="3"/>
            <a:endCxn id="48" idx="0"/>
          </p:cNvCxnSpPr>
          <p:nvPr/>
        </p:nvCxnSpPr>
        <p:spPr>
          <a:xfrm flipH="1">
            <a:off x="2027598" y="4296218"/>
            <a:ext cx="1243278" cy="51214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774841-BC04-5405-E930-1BE0474BF714}"/>
              </a:ext>
            </a:extLst>
          </p:cNvPr>
          <p:cNvSpPr/>
          <p:nvPr/>
        </p:nvSpPr>
        <p:spPr>
          <a:xfrm>
            <a:off x="1841935" y="632679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4691B3E-955E-43D8-70C5-92E99AB09C09}"/>
              </a:ext>
            </a:extLst>
          </p:cNvPr>
          <p:cNvSpPr/>
          <p:nvPr/>
        </p:nvSpPr>
        <p:spPr>
          <a:xfrm>
            <a:off x="330968" y="2284023"/>
            <a:ext cx="1382482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At least once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D7FE31C-83D8-60BF-4252-E1A50FF47255}"/>
              </a:ext>
            </a:extLst>
          </p:cNvPr>
          <p:cNvSpPr/>
          <p:nvPr/>
        </p:nvSpPr>
        <p:spPr>
          <a:xfrm>
            <a:off x="833316" y="4230726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36" name="Multidocument 35">
            <a:extLst>
              <a:ext uri="{FF2B5EF4-FFF2-40B4-BE49-F238E27FC236}">
                <a16:creationId xmlns:a16="http://schemas.microsoft.com/office/drawing/2014/main" id="{663516FB-534E-18B3-7FA4-C5A7B4BB1602}"/>
              </a:ext>
            </a:extLst>
          </p:cNvPr>
          <p:cNvSpPr/>
          <p:nvPr/>
        </p:nvSpPr>
        <p:spPr>
          <a:xfrm>
            <a:off x="550899" y="1363470"/>
            <a:ext cx="1060704" cy="758952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tx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418336-54CB-397C-545F-620941C7934D}"/>
              </a:ext>
            </a:extLst>
          </p:cNvPr>
          <p:cNvSpPr txBox="1"/>
          <p:nvPr/>
        </p:nvSpPr>
        <p:spPr>
          <a:xfrm>
            <a:off x="496858" y="334162"/>
            <a:ext cx="1564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user-id</a:t>
            </a:r>
          </a:p>
          <a:p>
            <a:r>
              <a:rPr lang="en-US" dirty="0"/>
              <a:t>amount</a:t>
            </a:r>
          </a:p>
          <a:p>
            <a:r>
              <a:rPr lang="en-US" b="1" dirty="0">
                <a:solidFill>
                  <a:srgbClr val="FF0000"/>
                </a:solidFill>
              </a:rPr>
              <a:t>external </a:t>
            </a:r>
            <a:r>
              <a:rPr lang="en-US" b="1" dirty="0" err="1">
                <a:solidFill>
                  <a:srgbClr val="FF0000"/>
                </a:solidFill>
              </a:rPr>
              <a:t>txn</a:t>
            </a:r>
            <a:r>
              <a:rPr lang="en-US" b="1" dirty="0">
                <a:solidFill>
                  <a:srgbClr val="FF0000"/>
                </a:solidFill>
              </a:rPr>
              <a:t> 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BE3A6-A787-9A13-F216-F520EAB5A283}"/>
              </a:ext>
            </a:extLst>
          </p:cNvPr>
          <p:cNvSpPr txBox="1"/>
          <p:nvPr/>
        </p:nvSpPr>
        <p:spPr>
          <a:xfrm>
            <a:off x="1330131" y="4808363"/>
            <a:ext cx="13949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Transactions</a:t>
            </a:r>
          </a:p>
          <a:p>
            <a:r>
              <a:rPr lang="en-US" dirty="0"/>
              <a:t>id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external_id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5E86D5-E700-A27D-3906-077D40A399E5}"/>
              </a:ext>
            </a:extLst>
          </p:cNvPr>
          <p:cNvSpPr txBox="1"/>
          <p:nvPr/>
        </p:nvSpPr>
        <p:spPr>
          <a:xfrm>
            <a:off x="3047623" y="4811943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D991BB-FBED-00B2-D1A0-C409FE366A1E}"/>
              </a:ext>
            </a:extLst>
          </p:cNvPr>
          <p:cNvSpPr txBox="1"/>
          <p:nvPr/>
        </p:nvSpPr>
        <p:spPr>
          <a:xfrm>
            <a:off x="4570455" y="4808363"/>
            <a:ext cx="16656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Outbox</a:t>
            </a:r>
            <a:br>
              <a:rPr lang="en-US" dirty="0"/>
            </a:br>
            <a:r>
              <a:rPr lang="en-US" dirty="0"/>
              <a:t>id (event)</a:t>
            </a:r>
            <a:br>
              <a:rPr lang="en-US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transaction_id</a:t>
            </a:r>
            <a:br>
              <a:rPr lang="en-US" b="1" dirty="0"/>
            </a:br>
            <a:r>
              <a:rPr lang="en-US" dirty="0"/>
              <a:t>payload (blob)</a:t>
            </a:r>
            <a:br>
              <a:rPr lang="en-US" dirty="0"/>
            </a:br>
            <a:r>
              <a:rPr lang="en-US" dirty="0"/>
              <a:t>processed [Y/N]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FFC214-0E37-648F-DB9D-1C89DF947BE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270876" y="4296218"/>
            <a:ext cx="1374116" cy="5193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8C031EE-8930-FE2F-FF10-7807E3168164}"/>
              </a:ext>
            </a:extLst>
          </p:cNvPr>
          <p:cNvSpPr txBox="1"/>
          <p:nvPr/>
        </p:nvSpPr>
        <p:spPr>
          <a:xfrm>
            <a:off x="9806224" y="4346698"/>
            <a:ext cx="1219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Balance</a:t>
            </a:r>
            <a:br>
              <a:rPr lang="en-US" b="1" i="1" u="sng" dirty="0"/>
            </a:br>
            <a:r>
              <a:rPr lang="en-US" dirty="0" err="1"/>
              <a:t>account_id</a:t>
            </a:r>
            <a:br>
              <a:rPr lang="en-US" dirty="0"/>
            </a:br>
            <a:r>
              <a:rPr lang="en-US" dirty="0"/>
              <a:t>balance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222A5B-525A-BFC4-EBF9-193BC780829A}"/>
              </a:ext>
            </a:extLst>
          </p:cNvPr>
          <p:cNvSpPr txBox="1"/>
          <p:nvPr/>
        </p:nvSpPr>
        <p:spPr>
          <a:xfrm>
            <a:off x="9806224" y="5542139"/>
            <a:ext cx="1558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Inbox</a:t>
            </a:r>
            <a:br>
              <a:rPr lang="en-US" dirty="0"/>
            </a:br>
            <a:r>
              <a:rPr lang="en-US" b="1" dirty="0" err="1">
                <a:solidFill>
                  <a:srgbClr val="FF0000"/>
                </a:solidFill>
              </a:rPr>
              <a:t>transaction_id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0308588-302E-7B79-A12C-C3E56797D7CF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8928191" y="5270028"/>
            <a:ext cx="878033" cy="5952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790D9D-EE48-D8CA-D8B9-2C3FCD882A48}"/>
              </a:ext>
            </a:extLst>
          </p:cNvPr>
          <p:cNvGrpSpPr/>
          <p:nvPr/>
        </p:nvGrpSpPr>
        <p:grpSpPr>
          <a:xfrm>
            <a:off x="1886906" y="1757515"/>
            <a:ext cx="351873" cy="377139"/>
            <a:chOff x="1038542" y="2899684"/>
            <a:chExt cx="351873" cy="377139"/>
          </a:xfrm>
        </p:grpSpPr>
        <p:sp>
          <p:nvSpPr>
            <p:cNvPr id="3" name="Circular Arrow 2">
              <a:extLst>
                <a:ext uri="{FF2B5EF4-FFF2-40B4-BE49-F238E27FC236}">
                  <a16:creationId xmlns:a16="http://schemas.microsoft.com/office/drawing/2014/main" id="{C4817041-C4B0-F16A-1834-EECFC1BAA945}"/>
                </a:ext>
              </a:extLst>
            </p:cNvPr>
            <p:cNvSpPr/>
            <p:nvPr/>
          </p:nvSpPr>
          <p:spPr>
            <a:xfrm>
              <a:off x="1038542" y="289968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Circular Arrow 10">
              <a:extLst>
                <a:ext uri="{FF2B5EF4-FFF2-40B4-BE49-F238E27FC236}">
                  <a16:creationId xmlns:a16="http://schemas.microsoft.com/office/drawing/2014/main" id="{5FE70588-0CD8-C8B4-FC20-E252431470FD}"/>
                </a:ext>
              </a:extLst>
            </p:cNvPr>
            <p:cNvSpPr/>
            <p:nvPr/>
          </p:nvSpPr>
          <p:spPr>
            <a:xfrm rot="10800000">
              <a:off x="1041606" y="2928014"/>
              <a:ext cx="348809" cy="348809"/>
            </a:xfrm>
            <a:prstGeom prst="circularArrow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31CAAB2-9324-4B8D-102D-89EB776F6DA7}"/>
              </a:ext>
            </a:extLst>
          </p:cNvPr>
          <p:cNvSpPr/>
          <p:nvPr/>
        </p:nvSpPr>
        <p:spPr>
          <a:xfrm>
            <a:off x="9702185" y="6220308"/>
            <a:ext cx="1766260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Unique constraint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4259541-48C7-3753-E9ED-6A949236E5B7}"/>
              </a:ext>
            </a:extLst>
          </p:cNvPr>
          <p:cNvSpPr/>
          <p:nvPr/>
        </p:nvSpPr>
        <p:spPr>
          <a:xfrm>
            <a:off x="9692023" y="5234893"/>
            <a:ext cx="1447774" cy="34238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Idempotency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28983D-1F96-098C-5839-DBDEDC9FA283}"/>
              </a:ext>
            </a:extLst>
          </p:cNvPr>
          <p:cNvSpPr txBox="1"/>
          <p:nvPr/>
        </p:nvSpPr>
        <p:spPr>
          <a:xfrm>
            <a:off x="4963979" y="498122"/>
            <a:ext cx="424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Exactly once = At least once + Idempotence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F1511F8-832E-DEF3-D7AB-290DBBA4F9D6}"/>
              </a:ext>
            </a:extLst>
          </p:cNvPr>
          <p:cNvSpPr/>
          <p:nvPr/>
        </p:nvSpPr>
        <p:spPr>
          <a:xfrm>
            <a:off x="6029150" y="2771456"/>
            <a:ext cx="144777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Kafka Connect</a:t>
            </a:r>
            <a:endParaRPr lang="en-RU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27671F7-C1D0-B357-99E1-440A91863C75}"/>
              </a:ext>
            </a:extLst>
          </p:cNvPr>
          <p:cNvCxnSpPr>
            <a:cxnSpLocks/>
            <a:stCxn id="43" idx="1"/>
            <a:endCxn id="6" idx="4"/>
          </p:cNvCxnSpPr>
          <p:nvPr/>
        </p:nvCxnSpPr>
        <p:spPr>
          <a:xfrm flipH="1">
            <a:off x="3970680" y="3228656"/>
            <a:ext cx="2058470" cy="4572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DE30804-A0FD-8510-0FD7-E9DC53FA0E2E}"/>
              </a:ext>
            </a:extLst>
          </p:cNvPr>
          <p:cNvCxnSpPr>
            <a:cxnSpLocks/>
            <a:stCxn id="43" idx="3"/>
            <a:endCxn id="7" idx="2"/>
          </p:cNvCxnSpPr>
          <p:nvPr/>
        </p:nvCxnSpPr>
        <p:spPr>
          <a:xfrm>
            <a:off x="7476924" y="3228656"/>
            <a:ext cx="2082554" cy="4572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50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BAFC"/>
      </a:accent1>
      <a:accent2>
        <a:srgbClr val="F98D7E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{9903D9F4-31B3-3445-8A3D-47E44533CDFF}tf16401378</Template>
  <TotalTime>36045</TotalTime>
  <Words>1367</Words>
  <Application>Microsoft Macintosh PowerPoint</Application>
  <PresentationFormat>Widescreen</PresentationFormat>
  <Paragraphs>434</Paragraphs>
  <Slides>36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PowerPoint Presentation</vt:lpstr>
      <vt:lpstr>Distributed databases, same state</vt:lpstr>
      <vt:lpstr>Distributed databases, same state</vt:lpstr>
      <vt:lpstr>Transactional outbox</vt:lpstr>
      <vt:lpstr>Transactional outbox</vt:lpstr>
      <vt:lpstr>Transactional outbox</vt:lpstr>
      <vt:lpstr>Transactional outbox</vt:lpstr>
      <vt:lpstr>Transactional outbox</vt:lpstr>
      <vt:lpstr>Transactional outbox</vt:lpstr>
      <vt:lpstr>Transactional outbox</vt:lpstr>
      <vt:lpstr>Transactional inbox</vt:lpstr>
      <vt:lpstr>Transactional inbox</vt:lpstr>
      <vt:lpstr>Transactional inbox</vt:lpstr>
      <vt:lpstr>Transactional inbox</vt:lpstr>
      <vt:lpstr>CDC: Change Data Capture</vt:lpstr>
      <vt:lpstr>CDC: Change Data Capture</vt:lpstr>
      <vt:lpstr>CDC: Change Data Capture</vt:lpstr>
      <vt:lpstr>CDC: Change Data Capture</vt:lpstr>
      <vt:lpstr>Capture changes, no intrusion</vt:lpstr>
      <vt:lpstr>Capture changes, no intrusion</vt:lpstr>
      <vt:lpstr>Capture changes, no intrusion</vt:lpstr>
      <vt:lpstr>Capture changes, no intrusion</vt:lpstr>
      <vt:lpstr>CDC from WAL</vt:lpstr>
      <vt:lpstr>CDC Approaches</vt:lpstr>
      <vt:lpstr>PowerPoint Presentation</vt:lpstr>
      <vt:lpstr>Further reading</vt:lpstr>
      <vt:lpstr>Further reading</vt:lpstr>
      <vt:lpstr>Homework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Mons Anderson</dc:creator>
  <cp:lastModifiedBy>Volodymyr Perepelytsya</cp:lastModifiedBy>
  <cp:revision>136</cp:revision>
  <dcterms:created xsi:type="dcterms:W3CDTF">2024-07-06T19:28:54Z</dcterms:created>
  <dcterms:modified xsi:type="dcterms:W3CDTF">2025-11-21T09:04:54Z</dcterms:modified>
</cp:coreProperties>
</file>
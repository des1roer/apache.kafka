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79" r:id="rId5"/>
    <p:sldId id="257" r:id="rId6"/>
    <p:sldId id="258" r:id="rId7"/>
    <p:sldId id="259" r:id="rId8"/>
    <p:sldId id="260" r:id="rId9"/>
    <p:sldId id="261" r:id="rId10"/>
    <p:sldId id="374" r:id="rId11"/>
    <p:sldId id="375" r:id="rId12"/>
    <p:sldId id="380" r:id="rId13"/>
    <p:sldId id="381" r:id="rId14"/>
    <p:sldId id="383" r:id="rId15"/>
    <p:sldId id="296" r:id="rId16"/>
    <p:sldId id="298" r:id="rId17"/>
    <p:sldId id="29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EBF2-0CC9-4CAC-88A1-FB5D0F00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16048-3121-4065-8F90-171BC5C2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DE5F-4B17-4889-87CA-736C1E03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F2477-59D3-412F-A39B-D33B6B6B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0E3BE-2577-490C-9B17-4B570C2F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95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F155-8F9C-49A7-8892-056888E8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84E6-0F56-4A68-B17B-EF3418AD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F0CD-63C1-4C0A-B841-F8960BB0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B7FB-15F0-45DE-8AFA-6226F6DF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FC764-3DB0-4461-B936-7EDD8195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06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D45B-3B82-4292-B4EF-2EE2AC49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D1552-2559-4B4C-A682-D0B55A94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DB9AA-0F83-4ABE-980E-B2137712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6340-77D7-446D-8CEE-CCDCD9CD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94A29-E5BC-41FB-AF34-F762A211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26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2A4C-8E36-4BCC-AFFA-995530E2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196B-D4F6-475E-BC51-F92437B0A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ED0D3-4839-4F06-A96E-F843725E2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7463A-8606-42C4-AFEA-6913E8D7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2D106-F771-4A9E-B4BA-2ED1D985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24023-BBEB-418C-A219-92412420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06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9C9-9AB3-4BE7-8E79-E4C37B9B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96664-6A70-42D0-9296-8F2211AE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1C532-64EE-4955-A5C2-2A12E514B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D072E-9838-4AAB-B04A-BA5DE38B4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DD6F5-0CD0-406A-9C40-060345CC4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869F2-0F0A-4108-8691-B2B0F52D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ECA9F-5095-4140-9770-7F1CB418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F84B3-E2BD-4C58-ADE7-498687F4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6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0D7F-8BAF-4A7B-B5A6-8EED88A6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ACE3E-8E57-4AE7-B402-FC5A8CD8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CFD41-64BF-48BE-A2C7-1166B16D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C67A7-28B1-446F-9C85-B8E50A9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33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4629F-B6AC-4E35-9FF6-8E14C55C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27D9B-BDAB-4DAB-AE45-E6E5D20D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B795-9A38-45C6-A61E-9A627A5A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39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90E9-A5D1-4083-871E-FC876C90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BC79-BC58-4E01-9114-554E096A3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7A7B7-C401-496F-B616-647E2BF8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943F7-43F5-4711-B905-ED66B98C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6195F-7759-428F-BDC4-15360766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6CB8D-E362-4995-AF51-2C4AA10D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22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F0D9-F847-4B12-B459-23F85B70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FA913-B4BA-45F5-9D80-AD16DCD77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FFFF-54DF-4C23-B55C-8EE71DEBA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6945A-B3E5-49C5-89B2-7B3AB4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8DE0-00FC-4105-A67D-C3309F80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F110-CDE3-4E1E-A6E6-416FABBD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8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72FD-5103-4625-854A-A1D3EE53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EA92F-652D-47D4-AC6F-CC66F476D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4AF7A-A377-45FA-81EB-921A5809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E810B-88A6-4610-A9FB-710E379F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3245-07C4-49A7-9D70-9C682C97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77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E5CFA-F97E-4111-A41C-F72E98D5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BC4FF-57DD-4161-9EF8-B964EDA9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669F3-2451-49DA-8C64-5E11181B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988D-4A43-44BC-8FCD-3D3D75D1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83EE-39DE-4D1B-8EE7-DDE655CA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7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5BE0C-5856-4A3A-8652-187BD643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BD9FF-BD22-4FC4-B966-50A53FB0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79398-18F7-48D4-AA94-7146705EE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6A8B9-896F-4B4D-856B-2140E4B483EC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C49C2-56DE-46DB-8722-75AD1D732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DAB5-4E6F-4B90-8D3D-59B791489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2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187703-B19E-47BC-8C1A-F46747548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5D512B-E08A-410B-BAEE-96C029D1FFA6}"/>
              </a:ext>
            </a:extLst>
          </p:cNvPr>
          <p:cNvSpPr txBox="1"/>
          <p:nvPr/>
        </p:nvSpPr>
        <p:spPr>
          <a:xfrm>
            <a:off x="1166070" y="2338475"/>
            <a:ext cx="91737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400" b="1" i="0" u="none" strike="noStrike" baseline="0" dirty="0">
                <a:solidFill>
                  <a:srgbClr val="FFFFFF"/>
                </a:solidFill>
                <a:latin typeface="Roboto-Bold"/>
              </a:rPr>
              <a:t>Spring Cloud Data Flow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0525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A20AF9-71A6-46E9-A727-5ADFB7247E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72E1F6-D152-46B9-A71A-A40EB0DEBDAA}"/>
              </a:ext>
            </a:extLst>
          </p:cNvPr>
          <p:cNvSpPr/>
          <p:nvPr/>
        </p:nvSpPr>
        <p:spPr>
          <a:xfrm>
            <a:off x="550735" y="274701"/>
            <a:ext cx="7926705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Проверить,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идет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запись!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C907D-AF3B-472E-9BF6-44C2CDC171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43960" y="2030476"/>
            <a:ext cx="3972560" cy="396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187703-B19E-47BC-8C1A-F46747548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5D512B-E08A-410B-BAEE-96C029D1FFA6}"/>
              </a:ext>
            </a:extLst>
          </p:cNvPr>
          <p:cNvSpPr txBox="1"/>
          <p:nvPr/>
        </p:nvSpPr>
        <p:spPr>
          <a:xfrm>
            <a:off x="1166070" y="2338475"/>
            <a:ext cx="91737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i="0" u="none" strike="noStrike" baseline="0" dirty="0">
                <a:solidFill>
                  <a:srgbClr val="FFFFFF"/>
                </a:solidFill>
                <a:latin typeface="Roboto-Bold"/>
              </a:rPr>
              <a:t>Меня хорошо видно &amp;&amp; слышно?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Ставьте </a:t>
            </a:r>
            <a:r>
              <a:rPr lang="ru-RU" sz="2400" b="0" i="0" u="none" strike="noStrike" baseline="0" dirty="0">
                <a:solidFill>
                  <a:srgbClr val="FFFFFF"/>
                </a:solidFill>
                <a:latin typeface="Roboto-Regular"/>
              </a:rPr>
              <a:t>+</a:t>
            </a:r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, если все хорошо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Напишите в чат, если есть проблемы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990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BF852-A7D3-452B-87C3-17ADAC8FE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2704842" y="2822745"/>
            <a:ext cx="61584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u="none" strike="noStrike" baseline="0" dirty="0">
                <a:solidFill>
                  <a:srgbClr val="FFFFFF"/>
                </a:solidFill>
                <a:latin typeface="Roboto-Bold"/>
              </a:rPr>
              <a:t>Обработка потоков данных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287135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3015234" y="3066026"/>
            <a:ext cx="61584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u="none" strike="noStrike" baseline="0" dirty="0">
                <a:solidFill>
                  <a:srgbClr val="FFFFFF"/>
                </a:solidFill>
                <a:latin typeface="Roboto-Bold"/>
              </a:rPr>
              <a:t>Библиотека коллекций</a:t>
            </a:r>
            <a:endParaRPr lang="de-DE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" y="-122174"/>
            <a:ext cx="1219136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69421C-41BB-4B92-A72F-014F068EE84E}"/>
              </a:ext>
            </a:extLst>
          </p:cNvPr>
          <p:cNvSpPr/>
          <p:nvPr/>
        </p:nvSpPr>
        <p:spPr>
          <a:xfrm>
            <a:off x="334772" y="283845"/>
            <a:ext cx="444500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Преподаватель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D0C83-645D-4722-826B-5916645C03F6}"/>
              </a:ext>
            </a:extLst>
          </p:cNvPr>
          <p:cNvSpPr/>
          <p:nvPr/>
        </p:nvSpPr>
        <p:spPr>
          <a:xfrm>
            <a:off x="2557272" y="1819398"/>
            <a:ext cx="211963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Шилин Валентин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79E631-DA05-459C-AC36-3E1F2A1B52F6}"/>
              </a:ext>
            </a:extLst>
          </p:cNvPr>
          <p:cNvSpPr/>
          <p:nvPr/>
        </p:nvSpPr>
        <p:spPr>
          <a:xfrm>
            <a:off x="2557272" y="2230939"/>
            <a:ext cx="8152765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Старший программист/аналитик данных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Deutsche Telekom IT GmbH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28F0C-15C2-497C-92C9-E285AB28F758}"/>
              </a:ext>
            </a:extLst>
          </p:cNvPr>
          <p:cNvSpPr/>
          <p:nvPr/>
        </p:nvSpPr>
        <p:spPr>
          <a:xfrm>
            <a:off x="2557272" y="2674527"/>
            <a:ext cx="759079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Выпускник СПбГУ П</a:t>
            </a:r>
            <a:r>
              <a:rPr lang="de-DE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M</a:t>
            </a: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-ПУ по специальности "Прикладная математика и физика".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D5C9A-D7A2-4420-AE66-187617052FAD}"/>
              </a:ext>
            </a:extLst>
          </p:cNvPr>
          <p:cNvSpPr/>
          <p:nvPr/>
        </p:nvSpPr>
        <p:spPr>
          <a:xfrm>
            <a:off x="2557272" y="3465641"/>
            <a:ext cx="8686165" cy="6997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Профессиональный опыт: 15 лет программирования на С++, 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</a:t>
            </a:r>
            <a:r>
              <a:rPr lang="en-US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#, JavaScript, Python, Scala, Java.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875A2-EEC2-40CF-A8E4-A2EDD1535C5B}"/>
              </a:ext>
            </a:extLst>
          </p:cNvPr>
          <p:cNvSpPr/>
          <p:nvPr/>
        </p:nvSpPr>
        <p:spPr>
          <a:xfrm>
            <a:off x="2557272" y="4253916"/>
            <a:ext cx="7933690" cy="6623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Эксперт в обработке больших данных с помощью 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Scala/Spark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и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Hadoop Cloudera.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FF6E424A-3025-BFE4-3316-3F0BD4637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6584" y="2189426"/>
            <a:ext cx="2258269" cy="169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3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A1F29D9-5AE9-40D1-8DC8-567A5FE7A804}"/>
              </a:ext>
            </a:extLst>
          </p:cNvPr>
          <p:cNvSpPr/>
          <p:nvPr/>
        </p:nvSpPr>
        <p:spPr>
          <a:xfrm>
            <a:off x="334645" y="292989"/>
            <a:ext cx="530479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Правила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2FC40D-EA51-43C6-9119-179F7DE7BD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9272" y="1859153"/>
            <a:ext cx="800735" cy="7988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15B4DD-161C-44F4-B6E3-A532F2D639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9272" y="2944560"/>
            <a:ext cx="798830" cy="7988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EB6F6C-CA1B-43F8-8D6B-41A40EC2FF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29272" y="4075304"/>
            <a:ext cx="798830" cy="7988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423773-B7A5-4CE8-8D8E-C2AC277E7E3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29272" y="5206048"/>
            <a:ext cx="798830" cy="7988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B08AD2-41CB-487D-8936-FF4F878AD1DB}"/>
              </a:ext>
            </a:extLst>
          </p:cNvPr>
          <p:cNvSpPr/>
          <p:nvPr/>
        </p:nvSpPr>
        <p:spPr>
          <a:xfrm>
            <a:off x="2425192" y="2105406"/>
            <a:ext cx="33731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Активно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участвуем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A9F7FC-FD45-4F2C-8C0C-A6BE4A4AEAE0}"/>
              </a:ext>
            </a:extLst>
          </p:cNvPr>
          <p:cNvSpPr/>
          <p:nvPr/>
        </p:nvSpPr>
        <p:spPr>
          <a:xfrm>
            <a:off x="2425192" y="3110865"/>
            <a:ext cx="593661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голосом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287D1B-2637-4CC0-8A01-697430E3877B}"/>
              </a:ext>
            </a:extLst>
          </p:cNvPr>
          <p:cNvSpPr/>
          <p:nvPr/>
        </p:nvSpPr>
        <p:spPr>
          <a:xfrm>
            <a:off x="2425192" y="4241738"/>
            <a:ext cx="97612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Off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topic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обсуждаем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Slack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#канал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группы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general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9FA747-7FEF-4B8C-B180-9A7D5D990AB7}"/>
              </a:ext>
            </a:extLst>
          </p:cNvPr>
          <p:cNvSpPr/>
          <p:nvPr/>
        </p:nvSpPr>
        <p:spPr>
          <a:xfrm>
            <a:off x="2425192" y="5372611"/>
            <a:ext cx="789940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вижу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чате,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могу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ответить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не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сразу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3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8407502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5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Event Driven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11186-674F-A24F-8C33-AB1467234EBE}"/>
              </a:ext>
            </a:extLst>
          </p:cNvPr>
          <p:cNvSpPr txBox="1"/>
          <p:nvPr/>
        </p:nvSpPr>
        <p:spPr>
          <a:xfrm>
            <a:off x="325437" y="1546379"/>
            <a:ext cx="112479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Event-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Metropolis"/>
              </a:rPr>
              <a:t>driven</a:t>
            </a:r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Metropolis"/>
              </a:rPr>
              <a:t>microservices</a:t>
            </a:r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 - </a:t>
            </a:r>
            <a:r>
              <a:rPr lang="ru-RU" i="0" dirty="0">
                <a:solidFill>
                  <a:srgbClr val="000000"/>
                </a:solidFill>
                <a:effectLst/>
                <a:latin typeface="Metropolis"/>
              </a:rPr>
              <a:t>одним из распространенных примеров является архитектура, управляемая событиями. Spring упрощает производство, обработку и потребление событий, предоставляя несколько полезных абстракций.</a:t>
            </a:r>
            <a:endParaRPr lang="en-US" i="0" dirty="0">
              <a:solidFill>
                <a:srgbClr val="000000"/>
              </a:solidFill>
              <a:effectLst/>
              <a:latin typeface="Metropolis"/>
            </a:endParaRPr>
          </a:p>
          <a:p>
            <a:pPr algn="l"/>
            <a:endParaRPr lang="en-US" dirty="0">
              <a:solidFill>
                <a:srgbClr val="000000"/>
              </a:solidFill>
              <a:latin typeface="Metropolis"/>
            </a:endParaRPr>
          </a:p>
          <a:p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Streaming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Metropolis"/>
              </a:rPr>
              <a:t>data</a:t>
            </a:r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 - </a:t>
            </a:r>
            <a:r>
              <a:rPr lang="ru-RU" i="0" dirty="0">
                <a:solidFill>
                  <a:srgbClr val="000000"/>
                </a:solidFill>
                <a:effectLst/>
                <a:latin typeface="Metropolis"/>
              </a:rPr>
              <a:t>потоковые данные представляют собой постоянный поток событий.</a:t>
            </a:r>
            <a:endParaRPr lang="en-US" i="0" dirty="0">
              <a:solidFill>
                <a:srgbClr val="000000"/>
              </a:solidFill>
              <a:effectLst/>
              <a:latin typeface="Metropolis"/>
            </a:endParaRPr>
          </a:p>
          <a:p>
            <a:endParaRPr lang="en-US" dirty="0">
              <a:solidFill>
                <a:srgbClr val="000000"/>
              </a:solidFill>
              <a:latin typeface="Metropolis"/>
            </a:endParaRPr>
          </a:p>
          <a:p>
            <a:r>
              <a:rPr lang="de-DE" b="1" i="0" dirty="0">
                <a:solidFill>
                  <a:srgbClr val="000000"/>
                </a:solidFill>
                <a:effectLst/>
                <a:latin typeface="Metropolis"/>
              </a:rPr>
              <a:t>Integration - </a:t>
            </a:r>
            <a:r>
              <a:rPr lang="ru-RU" i="0" dirty="0">
                <a:solidFill>
                  <a:srgbClr val="000000"/>
                </a:solidFill>
                <a:effectLst/>
                <a:latin typeface="Metropolis"/>
              </a:rPr>
              <a:t>Основой любой управляемой событиями системы является обработка сообщений. Подключение к платформам сообщений, маршрутизация сообщений, преобразование сообщений, обработка сообщений. С помощью Spring вы можете быстро решить эти проблемы интеграции.</a:t>
            </a:r>
            <a:endParaRPr lang="de-DE" i="0" dirty="0">
              <a:solidFill>
                <a:srgbClr val="000000"/>
              </a:solidFill>
              <a:effectLst/>
              <a:latin typeface="Metropolis"/>
            </a:endParaRPr>
          </a:p>
          <a:p>
            <a:endParaRPr lang="de-DE" i="0" dirty="0">
              <a:solidFill>
                <a:srgbClr val="000000"/>
              </a:solidFill>
              <a:effectLst/>
              <a:latin typeface="Metropolis"/>
            </a:endParaRPr>
          </a:p>
          <a:p>
            <a:pPr algn="l"/>
            <a:endParaRPr lang="de-DE" i="0" dirty="0">
              <a:solidFill>
                <a:srgbClr val="000000"/>
              </a:solidFill>
              <a:effectLst/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156662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8407502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Spring </a:t>
            </a:r>
            <a:r>
              <a:rPr lang="de-DE" sz="45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</a:t>
            </a:r>
            <a:r>
              <a:rPr lang="de-DE" sz="45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Apache Kafka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484BB-5868-CDB0-75CD-D015D48A3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37" y="1371600"/>
            <a:ext cx="5830114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1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8407502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Spring </a:t>
            </a:r>
            <a:r>
              <a:rPr lang="de-DE" sz="45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</a:t>
            </a:r>
            <a:r>
              <a:rPr lang="de-DE" sz="45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Apache Kafka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D38C5-AB0A-D035-FD08-656059045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84" y="1614234"/>
            <a:ext cx="721143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8407502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Component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05E4B-3FC4-34A3-B174-6C5550909032}"/>
              </a:ext>
            </a:extLst>
          </p:cNvPr>
          <p:cNvSpPr txBox="1"/>
          <p:nvPr/>
        </p:nvSpPr>
        <p:spPr>
          <a:xfrm>
            <a:off x="258925" y="1509996"/>
            <a:ext cx="11367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@Component — это аннотация, которая позволяет Spring автоматически обнаруживать наши пользовательские </a:t>
            </a:r>
            <a:r>
              <a:rPr lang="ru-RU" dirty="0" err="1"/>
              <a:t>bean-компоненты.Другими</a:t>
            </a:r>
            <a:r>
              <a:rPr lang="ru-RU" dirty="0"/>
              <a:t> словами, без необходимости писать какой-либо явный код Spring </a:t>
            </a:r>
            <a:r>
              <a:rPr lang="ru-RU" dirty="0" err="1"/>
              <a:t>будет:Сканируйте</a:t>
            </a:r>
            <a:r>
              <a:rPr lang="ru-RU" dirty="0"/>
              <a:t> наше приложение на наличие классов, аннотированных с помощью @ComponentСоздайте их экземпляры и внедрите в них любые указанные </a:t>
            </a:r>
            <a:r>
              <a:rPr lang="ru-RU" dirty="0" err="1"/>
              <a:t>зависимости.Вставьте</a:t>
            </a:r>
            <a:r>
              <a:rPr lang="ru-RU" dirty="0"/>
              <a:t> их туда, где это необходимо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823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8407502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Component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05E4B-3FC4-34A3-B174-6C5550909032}"/>
              </a:ext>
            </a:extLst>
          </p:cNvPr>
          <p:cNvSpPr txBox="1"/>
          <p:nvPr/>
        </p:nvSpPr>
        <p:spPr>
          <a:xfrm>
            <a:off x="258925" y="1509996"/>
            <a:ext cx="11367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@Component — это аннотация, которая позволяет Spring автоматически обнаруживать наши пользовательские </a:t>
            </a:r>
            <a:r>
              <a:rPr lang="ru-RU" dirty="0" err="1"/>
              <a:t>bean-компоненты.Другими</a:t>
            </a:r>
            <a:r>
              <a:rPr lang="ru-RU" dirty="0"/>
              <a:t> словами, без необходимости писать какой-либо явный код Spring </a:t>
            </a:r>
            <a:r>
              <a:rPr lang="ru-RU" dirty="0" err="1"/>
              <a:t>будет:Сканируйте</a:t>
            </a:r>
            <a:r>
              <a:rPr lang="ru-RU" dirty="0"/>
              <a:t> наше приложение на наличие классов, аннотированных с помощью @ComponentСоздайте их экземпляры и внедрите в них любые указанные </a:t>
            </a:r>
            <a:r>
              <a:rPr lang="ru-RU" dirty="0" err="1"/>
              <a:t>зависимости.Вставьте</a:t>
            </a:r>
            <a:r>
              <a:rPr lang="ru-RU" dirty="0"/>
              <a:t> их туда, где это необходимо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571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6B7960-CDC6-4813-884B-081BD3F8ABEB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u="none" strike="noStrike" baseline="0" dirty="0">
                <a:solidFill>
                  <a:srgbClr val="FFFFFF"/>
                </a:solidFill>
                <a:latin typeface="Roboto-Bold"/>
              </a:rPr>
              <a:t>TEST</a:t>
            </a:r>
            <a:endParaRPr lang="de-DE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DA439-0B49-4509-9B3F-EDD46F5CD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0E857-0CE3-4E4E-9C80-EEC13EA825F6}"/>
              </a:ext>
            </a:extLst>
          </p:cNvPr>
          <p:cNvSpPr txBox="1"/>
          <p:nvPr/>
        </p:nvSpPr>
        <p:spPr>
          <a:xfrm>
            <a:off x="180975" y="320159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300" b="1" i="0" u="none" strike="noStrike" baseline="0" dirty="0">
                <a:solidFill>
                  <a:srgbClr val="FFFFFF"/>
                </a:solidFill>
                <a:latin typeface="+mj-lt"/>
              </a:rPr>
              <a:t>Рефлексия</a:t>
            </a:r>
            <a:endParaRPr lang="de-DE" sz="33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DDA28-82B4-4057-9E80-A83138893E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43574" y="2514600"/>
            <a:ext cx="914400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F42D26-0563-4C83-88FB-8174C2C5F103}"/>
              </a:ext>
            </a:extLst>
          </p:cNvPr>
          <p:cNvSpPr/>
          <p:nvPr/>
        </p:nvSpPr>
        <p:spPr>
          <a:xfrm>
            <a:off x="1807099" y="3879451"/>
            <a:ext cx="650875" cy="13512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8000" dirty="0">
                <a:solidFill>
                  <a:srgbClr val="40CDD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?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54735-3E0C-4D26-AFE4-B376EE3B90F2}"/>
              </a:ext>
            </a:extLst>
          </p:cNvPr>
          <p:cNvSpPr/>
          <p:nvPr/>
        </p:nvSpPr>
        <p:spPr>
          <a:xfrm>
            <a:off x="2623185" y="2800985"/>
            <a:ext cx="643128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нового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узнали?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Напиши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4060B1-D52B-4F44-8DE0-9A4E26E04772}"/>
              </a:ext>
            </a:extLst>
          </p:cNvPr>
          <p:cNvSpPr/>
          <p:nvPr/>
        </p:nvSpPr>
        <p:spPr>
          <a:xfrm>
            <a:off x="2623185" y="4317601"/>
            <a:ext cx="613664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Достигли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вы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цели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4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2862263" y="2110472"/>
            <a:ext cx="616267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Заполните, пожалуйста,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опрос о занятии по ссылке в чате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985471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1085851" y="2388364"/>
            <a:ext cx="10506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Спасибо за внимание!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Приходите на следующие вебинары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82106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0BC2E649F2C44482282C59DDDA9454" ma:contentTypeVersion="2" ma:contentTypeDescription="Ein neues Dokument erstellen." ma:contentTypeScope="" ma:versionID="c70ddfe4c3bc23b62021c1070b587bf9">
  <xsd:schema xmlns:xsd="http://www.w3.org/2001/XMLSchema" xmlns:xs="http://www.w3.org/2001/XMLSchema" xmlns:p="http://schemas.microsoft.com/office/2006/metadata/properties" xmlns:ns3="0cb1349b-4159-4f35-a4f5-859a8aff3356" targetNamespace="http://schemas.microsoft.com/office/2006/metadata/properties" ma:root="true" ma:fieldsID="32bfd9579da61a84111083067ffc1aff" ns3:_="">
    <xsd:import namespace="0cb1349b-4159-4f35-a4f5-859a8aff33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1349b-4159-4f35-a4f5-859a8aff3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77DC07-AB80-44E7-8F99-2857C86B4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F815F8-B163-4C9D-A583-6FF696F94C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1349b-4159-4f35-a4f5-859a8aff33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F27544-B1F8-4D62-AF60-FCECDE9FE73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cb1349b-4159-4f35-a4f5-859a8aff335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Metropolis</vt:lpstr>
      <vt:lpstr>Roboto-Bold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Shilin, Valentin</dc:creator>
  <cp:lastModifiedBy>Valentin Shilin</cp:lastModifiedBy>
  <cp:revision>261</cp:revision>
  <dcterms:created xsi:type="dcterms:W3CDTF">2022-07-14T07:54:11Z</dcterms:created>
  <dcterms:modified xsi:type="dcterms:W3CDTF">2023-06-20T14:33:59Z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0x0101005B0BC2E649F2C44482282C59DDDA9454</vt:lpwstr>
  </property>
</Properties>
</file>